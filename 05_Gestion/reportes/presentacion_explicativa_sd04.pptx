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presentación explica la versión actual del SD-04. No es una selección final de proveedor, productos o topología física. El informe explicativo y el LaTeX actual contienen el detalle completo.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Caso describe plataformas conectadas mediante catorce interfaces y estados inconsistentes. SD-04 organiza responsables y recorridos para que precio, existencia, entrega y crédito sean verificables sin mezclar datos.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ERP/DTE sigue emitiendo documentos tributarios; WMS conserva ejecución física y marketplace su plataforma. Ecommerce y fidelización se integran inicialmente; su destino se decide con pruebas. Núcleo Retail, crédito y POS se reemplazan por olas conciliadas. El motor de precios no existe hoy.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entrada se controla por gateway. Los servicios de Retail y Emisor conservan autoridad distinta. Adaptadores conectan plataformas vigentes; broker distribuye hechos confirmados y no confirma reservas ni crédito. La tienda mantiene diario local cuando cae la 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RT-02.03 exige vistas lógica, de procesos, de despliegue, de datos y de seguridad. SD-04 mantiene los mismos códigos para que una responsabilidad no cambie entre diagramas.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ocho responsabilidades vienen de RT-02.01. No son ocho servidores ni pasos obligatorios por los que pase cada transacción. Los actores de sistemas entran por contratos o adaptadores, sin acceso directo a bases de datos nuevas.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Nueve responsabilidades son Retail, tres Emisor y una gobierna los cruces. Ventas, existencias y crédito requieren autoridad y recuperación propias. Comisiones y gobierno marketplace pueden comenzar como módulos extraíbles. ERP sigue calculando remuneraciones y emitiendo DTE; WMS sigue ejecutando el almacén.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catálogo completo está trazado en el informe de especificación de diagramas. AH-17 usa API por decisión UAW; AS-11 es remuneraciones dentro del ERP y AS-14 solo dispara tareas. Actor no significa servidor.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R:M-01 publica precio vigente; R:M-03 confirma reserva. R:V-02 registra venta y coordina pago. ERP/DTE es el único emisor tributario. El hecho confirmado se distribuye después. El plazo de disponibilidad publicada es 30 segundos según el diseño del documento.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Caso menciona ocho horas de tienda, pero el requisito transversal exige veinticuatro. El POS mantiene oferta y existencias locales, escribe una venta pendiente en diario durable y sincroniza con clave idempotente al reconectar. Ventas confirma y publica después. DTE y cobro sin red requieren modalidad fiscal y operativa aprobada. No se originan tarjetas ni se amplían cupos sin conexión.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gateway gobierna solicitudes API, el broker difunde hechos ya confirmados y el diario conserva operaciones antes de que exista red. Kafka, Event Hubs y Service Bus se compararán por relectura, semántica de entrega, errores y recuperación. Ninguno sustituye respuesta síncrona para reservas o autorización de crédito.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comercio conserva identidad y preferencias; el Emisor conserva cupo, saldo, mora y evidencia crediticia. X-01 versiona finalidad, fundamento, campos y responsables. La política se aplica en ambos extremos. Una compra con tarjeta usa referencia, importe, medio y decisión mínima, sujeta a aprobación. Marketing no recibe mora ni pagos.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Retail y Emisor cuentan con lagos, permisos y tableros separados. Una vista cruzada está deshabilitada salvo ficha y aprobación. Los modelos de conteo predictivo y clasificación de merma usan datos autorizados de Retail y proponen acciones; una persona revisa y R:M-03 registra el ajuste. Validar calidad y beneficio antes de desplegar.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SIT-01 agrupa 22 tiendas. CD-01 y CD-02 son centros de distribución; la operación WMS en el principal no acredita que su servidor esté allí. DC-01 es el centro de datos de 140 m² y DC-02 la sala de respaldo en la misma comuna. CLD-01 es nube primaria candidata en Santiago y CLD-02 región de recuperación candidata en São Paulo. La filial es una entidad, no un lugar físico.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es referencia por la alianza planteada en SD-01 y un conjunto candidato de servicios. La certificación de socio aún debe acreditarse. Google Cloud se compara, entre otros motivos, por Kafka administrado en Santiago. En Azure Chile Central no está acreditado Kafka administrado: operarlo en AKS implica carga de operación. Event Hubs usa protocolo Kafka pero no es Apache Kafka. Se verifican productos por región, residencia, recuperación, conectividad y soporte.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25 LTS y Spring Boot 4 son base candidata para API transaccionales; React/TypeScript para nuevas vistas; AKS para cargas propias; API Management para gateway; PostgreSQL y Redis reconstruible; Data Lake Storage y Power BI por ámbito; Entra y Key Vault sujetos a federación; OpenTelemetry, Azure Monitor y Terraform para operación. Todos tienen verificaciones de región, competencias, escala o compatibilidad.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ADR-01: olas y conciliación. ADR-02: datos separados y denegaciones. ADR-03: solicitudes síncronas para bloqueos, eventos para hechos. ADR-04: POS local probado 24 horas. ADR-05: microservicios selectivos según carga y autoridad. ADR-06: comparar broker y verificar gateway. Las decisiones aún no probadas no deben presentarse como definitivas.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Falta inventariar catorce interfaces, alojamiento de plataformas, WAN/enlaces, equipos y periféricos, informe de brechas DC 2024, volumen, retención, política comercial y fiscal de contingencia, cruces jurídicos, residencia financiera y pruebas regionales. Cada arista física final tendrá origen, destino, contrato, red, protección, volumen, latencia, responsable y comportamiento ante falla.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cinco vistas exigidas, los 31 actores y los ocho emplazamientos están declarados. Quedan definidos los flujos de venta, corte, retorno y frontera. El producto del broker, el proveedor de nube y las rutas reales no están cerrados. La arquitectura física necesita inventario, pruebas y aprobación jurídica.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A41"/>
          </a:solidFill>
          <a:ln w="12700">
            <a:solidFill>
              <a:srgbClr val="162A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21792"/>
            <a:ext cx="9966960" cy="402336"/>
          </a:xfrm>
          <a:prstGeom prst="rect">
            <a:avLst/>
          </a:prstGeom>
          <a:noFill/>
        </p:spPr>
        <p:txBody>
          <a:bodyPr wrap="square" lIns="27432" rIns="27432" tIns="9144" bIns="9144" anchor="ctr">
            <a:spAutoFit/>
          </a:bodyPr>
          <a:lstStyle/>
          <a:p>
            <a:pPr algn="l">
              <a:spcAft>
                <a:spcPts val="500"/>
              </a:spcAft>
              <a:defRPr sz="1700" b="1">
                <a:solidFill>
                  <a:srgbClr val="A9D9DD"/>
                </a:solidFill>
                <a:latin typeface="DejaVu Sans"/>
              </a:defRPr>
            </a:pPr>
            <a:r>
              <a:t>ONLY SIMPLE SOLUTIONS  ·  LICITACIÓN TFEP-01/2026</a:t>
            </a:r>
          </a:p>
        </p:txBody>
      </p:sp>
      <p:sp>
        <p:nvSpPr>
          <p:cNvPr id="5" name="TextBox 4"/>
          <p:cNvSpPr txBox="1"/>
          <p:nvPr/>
        </p:nvSpPr>
        <p:spPr>
          <a:xfrm>
            <a:off x="731520" y="1444752"/>
            <a:ext cx="10515600" cy="1463040"/>
          </a:xfrm>
          <a:prstGeom prst="rect">
            <a:avLst/>
          </a:prstGeom>
          <a:noFill/>
        </p:spPr>
        <p:txBody>
          <a:bodyPr wrap="square" lIns="27432" rIns="27432" tIns="9144" bIns="9144" anchor="ctr">
            <a:spAutoFit/>
          </a:bodyPr>
          <a:lstStyle/>
          <a:p>
            <a:pPr algn="l">
              <a:spcAft>
                <a:spcPts val="500"/>
              </a:spcAft>
              <a:defRPr sz="3500" b="1">
                <a:solidFill>
                  <a:srgbClr val="FFFFFF"/>
                </a:solidFill>
                <a:latin typeface="DejaVu Sans"/>
              </a:defRPr>
            </a:pPr>
            <a:r>
              <a:t>Subdocumento 4</a:t>
            </a:r>
          </a:p>
          <a:p>
            <a:pPr algn="l">
              <a:spcAft>
                <a:spcPts val="500"/>
              </a:spcAft>
              <a:defRPr sz="3500" b="1">
                <a:solidFill>
                  <a:srgbClr val="FFFFFF"/>
                </a:solidFill>
                <a:latin typeface="DejaVu Sans"/>
              </a:defRPr>
            </a:pPr>
            <a:r>
              <a:t>Arquitectura lógica y física</a:t>
            </a:r>
          </a:p>
        </p:txBody>
      </p:sp>
      <p:sp>
        <p:nvSpPr>
          <p:cNvPr id="6" name="TextBox 5"/>
          <p:cNvSpPr txBox="1"/>
          <p:nvPr/>
        </p:nvSpPr>
        <p:spPr>
          <a:xfrm>
            <a:off x="749808" y="3456432"/>
            <a:ext cx="9875520" cy="694944"/>
          </a:xfrm>
          <a:prstGeom prst="rect">
            <a:avLst/>
          </a:prstGeom>
          <a:noFill/>
        </p:spPr>
        <p:txBody>
          <a:bodyPr wrap="square" lIns="27432" rIns="27432" tIns="9144" bIns="9144" anchor="ctr">
            <a:spAutoFit/>
          </a:bodyPr>
          <a:lstStyle/>
          <a:p>
            <a:pPr algn="l">
              <a:spcAft>
                <a:spcPts val="500"/>
              </a:spcAft>
              <a:defRPr sz="2300" b="0">
                <a:solidFill>
                  <a:srgbClr val="FFFFFF"/>
                </a:solidFill>
                <a:latin typeface="DejaVu Sans"/>
              </a:defRPr>
            </a:pPr>
            <a:r>
              <a:t>Qué está diseñado, por qué se eligió y qué falta verificar</a:t>
            </a:r>
          </a:p>
        </p:txBody>
      </p:sp>
      <p:sp>
        <p:nvSpPr>
          <p:cNvPr id="7" name="Rounded Rectangle 6"/>
          <p:cNvSpPr/>
          <p:nvPr/>
        </p:nvSpPr>
        <p:spPr>
          <a:xfrm>
            <a:off x="758952" y="4617720"/>
            <a:ext cx="3273552" cy="393192"/>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4617720"/>
            <a:ext cx="3090672" cy="393192"/>
          </a:xfrm>
          <a:prstGeom prst="rect">
            <a:avLst/>
          </a:prstGeom>
          <a:noFill/>
        </p:spPr>
        <p:txBody>
          <a:bodyPr wrap="square" lIns="27432" rIns="27432" tIns="9144" bIns="9144" anchor="ctr">
            <a:spAutoFit/>
          </a:bodyPr>
          <a:lstStyle/>
          <a:p>
            <a:pPr algn="ctr">
              <a:spcAft>
                <a:spcPts val="500"/>
              </a:spcAft>
              <a:defRPr sz="1300" b="1">
                <a:solidFill>
                  <a:srgbClr val="127F78"/>
                </a:solidFill>
                <a:latin typeface="DejaVu Sans"/>
              </a:defRPr>
            </a:pPr>
            <a:r>
              <a:t>Diseño lógico definido</a:t>
            </a:r>
          </a:p>
        </p:txBody>
      </p:sp>
      <p:sp>
        <p:nvSpPr>
          <p:cNvPr id="9" name="Rounded Rectangle 8"/>
          <p:cNvSpPr/>
          <p:nvPr/>
        </p:nvSpPr>
        <p:spPr>
          <a:xfrm>
            <a:off x="4178808" y="4617720"/>
            <a:ext cx="3776472" cy="393192"/>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0248" y="4617720"/>
            <a:ext cx="3593591" cy="393192"/>
          </a:xfrm>
          <a:prstGeom prst="rect">
            <a:avLst/>
          </a:prstGeom>
          <a:noFill/>
        </p:spPr>
        <p:txBody>
          <a:bodyPr wrap="square" lIns="27432" rIns="27432" tIns="9144" bIns="9144" anchor="ctr">
            <a:spAutoFit/>
          </a:bodyPr>
          <a:lstStyle/>
          <a:p>
            <a:pPr algn="ctr">
              <a:spcAft>
                <a:spcPts val="500"/>
              </a:spcAft>
              <a:defRPr sz="1300" b="1">
                <a:solidFill>
                  <a:srgbClr val="B0781B"/>
                </a:solidFill>
                <a:latin typeface="DejaVu Sans"/>
              </a:defRPr>
            </a:pPr>
            <a:r>
              <a:t>Diseño físico preliminar</a:t>
            </a:r>
          </a:p>
        </p:txBody>
      </p:sp>
      <p:sp>
        <p:nvSpPr>
          <p:cNvPr id="11" name="TextBox 10"/>
          <p:cNvSpPr txBox="1"/>
          <p:nvPr/>
        </p:nvSpPr>
        <p:spPr>
          <a:xfrm>
            <a:off x="768096" y="6117336"/>
            <a:ext cx="10698480" cy="310896"/>
          </a:xfrm>
          <a:prstGeom prst="rect">
            <a:avLst/>
          </a:prstGeom>
          <a:noFill/>
        </p:spPr>
        <p:txBody>
          <a:bodyPr wrap="square" lIns="27432" rIns="27432" tIns="9144" bIns="9144" anchor="ctr">
            <a:spAutoFit/>
          </a:bodyPr>
          <a:lstStyle/>
          <a:p>
            <a:pPr algn="l">
              <a:spcAft>
                <a:spcPts val="500"/>
              </a:spcAft>
              <a:defRPr sz="1500" b="0">
                <a:solidFill>
                  <a:srgbClr val="BDCBD9"/>
                </a:solidFill>
                <a:latin typeface="DejaVu Sans"/>
              </a:defRPr>
            </a:pPr>
            <a:r>
              <a:t>Revisión de trabajo · 8 de octubre 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El problema: cuatro promesas que deben coincidir</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Ancoa es una tienda y una filial emisora de crédito</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Caso 09; SD-04 §4</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02</a:t>
            </a:r>
          </a:p>
        </p:txBody>
      </p:sp>
      <p:sp>
        <p:nvSpPr>
          <p:cNvPr id="9" name="Rounded Rectangle 8"/>
          <p:cNvSpPr/>
          <p:nvPr/>
        </p:nvSpPr>
        <p:spPr>
          <a:xfrm>
            <a:off x="594360" y="1847088"/>
            <a:ext cx="2331720" cy="2148840"/>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 y="2011680"/>
            <a:ext cx="685800" cy="438912"/>
          </a:xfrm>
          <a:prstGeom prst="rect">
            <a:avLst/>
          </a:prstGeom>
          <a:noFill/>
        </p:spPr>
        <p:txBody>
          <a:bodyPr wrap="square" lIns="27432" rIns="27432" tIns="9144" bIns="9144" anchor="ctr">
            <a:spAutoFit/>
          </a:bodyPr>
          <a:lstStyle/>
          <a:p>
            <a:pPr algn="l">
              <a:spcAft>
                <a:spcPts val="500"/>
              </a:spcAft>
              <a:defRPr sz="2200" b="1">
                <a:solidFill>
                  <a:srgbClr val="127F78"/>
                </a:solidFill>
                <a:latin typeface="DejaVu Sans"/>
              </a:defRPr>
            </a:pPr>
            <a:r>
              <a:t>01</a:t>
            </a:r>
          </a:p>
        </p:txBody>
      </p:sp>
      <p:sp>
        <p:nvSpPr>
          <p:cNvPr id="11" name="TextBox 10"/>
          <p:cNvSpPr txBox="1"/>
          <p:nvPr/>
        </p:nvSpPr>
        <p:spPr>
          <a:xfrm>
            <a:off x="804672" y="2606040"/>
            <a:ext cx="1938528" cy="1069848"/>
          </a:xfrm>
          <a:prstGeom prst="rect">
            <a:avLst/>
          </a:prstGeom>
          <a:noFill/>
        </p:spPr>
        <p:txBody>
          <a:bodyPr wrap="square" lIns="27432" rIns="27432" tIns="9144" bIns="9144" anchor="ctr">
            <a:spAutoFit/>
          </a:bodyPr>
          <a:lstStyle/>
          <a:p>
            <a:pPr algn="l">
              <a:spcAft>
                <a:spcPts val="500"/>
              </a:spcAft>
              <a:defRPr sz="2100" b="1">
                <a:solidFill>
                  <a:srgbClr val="162A41"/>
                </a:solidFill>
                <a:latin typeface="DejaVu Sans"/>
              </a:defRPr>
            </a:pPr>
            <a:r>
              <a:t>El producto</a:t>
            </a:r>
          </a:p>
          <a:p>
            <a:pPr algn="l">
              <a:spcAft>
                <a:spcPts val="500"/>
              </a:spcAft>
              <a:defRPr sz="2100" b="1">
                <a:solidFill>
                  <a:srgbClr val="162A41"/>
                </a:solidFill>
                <a:latin typeface="DejaVu Sans"/>
              </a:defRPr>
            </a:pPr>
            <a:r>
              <a:t>existe</a:t>
            </a:r>
          </a:p>
        </p:txBody>
      </p:sp>
      <p:sp>
        <p:nvSpPr>
          <p:cNvPr id="12" name="Rounded Rectangle 11"/>
          <p:cNvSpPr/>
          <p:nvPr/>
        </p:nvSpPr>
        <p:spPr>
          <a:xfrm>
            <a:off x="3474720" y="1847088"/>
            <a:ext cx="2331720" cy="2148840"/>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4176" y="2011680"/>
            <a:ext cx="685800" cy="438912"/>
          </a:xfrm>
          <a:prstGeom prst="rect">
            <a:avLst/>
          </a:prstGeom>
          <a:noFill/>
        </p:spPr>
        <p:txBody>
          <a:bodyPr wrap="square" lIns="27432" rIns="27432" tIns="9144" bIns="9144" anchor="ctr">
            <a:spAutoFit/>
          </a:bodyPr>
          <a:lstStyle/>
          <a:p>
            <a:pPr algn="l">
              <a:spcAft>
                <a:spcPts val="500"/>
              </a:spcAft>
              <a:defRPr sz="2200" b="1">
                <a:solidFill>
                  <a:srgbClr val="1C6896"/>
                </a:solidFill>
                <a:latin typeface="DejaVu Sans"/>
              </a:defRPr>
            </a:pPr>
            <a:r>
              <a:t>02</a:t>
            </a:r>
          </a:p>
        </p:txBody>
      </p:sp>
      <p:sp>
        <p:nvSpPr>
          <p:cNvPr id="14" name="TextBox 13"/>
          <p:cNvSpPr txBox="1"/>
          <p:nvPr/>
        </p:nvSpPr>
        <p:spPr>
          <a:xfrm>
            <a:off x="3685032" y="2606040"/>
            <a:ext cx="1938528" cy="1069848"/>
          </a:xfrm>
          <a:prstGeom prst="rect">
            <a:avLst/>
          </a:prstGeom>
          <a:noFill/>
        </p:spPr>
        <p:txBody>
          <a:bodyPr wrap="square" lIns="27432" rIns="27432" tIns="9144" bIns="9144" anchor="ctr">
            <a:spAutoFit/>
          </a:bodyPr>
          <a:lstStyle/>
          <a:p>
            <a:pPr algn="l">
              <a:spcAft>
                <a:spcPts val="500"/>
              </a:spcAft>
              <a:defRPr sz="2100" b="1">
                <a:solidFill>
                  <a:srgbClr val="162A41"/>
                </a:solidFill>
                <a:latin typeface="DejaVu Sans"/>
              </a:defRPr>
            </a:pPr>
            <a:r>
              <a:t>El precio</a:t>
            </a:r>
          </a:p>
          <a:p>
            <a:pPr algn="l">
              <a:spcAft>
                <a:spcPts val="500"/>
              </a:spcAft>
              <a:defRPr sz="2100" b="1">
                <a:solidFill>
                  <a:srgbClr val="162A41"/>
                </a:solidFill>
                <a:latin typeface="DejaVu Sans"/>
              </a:defRPr>
            </a:pPr>
            <a:r>
              <a:t>es el exhibido</a:t>
            </a:r>
          </a:p>
        </p:txBody>
      </p:sp>
      <p:sp>
        <p:nvSpPr>
          <p:cNvPr id="15" name="Rounded Rectangle 14"/>
          <p:cNvSpPr/>
          <p:nvPr/>
        </p:nvSpPr>
        <p:spPr>
          <a:xfrm>
            <a:off x="6355080" y="1847088"/>
            <a:ext cx="2331720" cy="2148840"/>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74536" y="2011680"/>
            <a:ext cx="685800" cy="438912"/>
          </a:xfrm>
          <a:prstGeom prst="rect">
            <a:avLst/>
          </a:prstGeom>
          <a:noFill/>
        </p:spPr>
        <p:txBody>
          <a:bodyPr wrap="square" lIns="27432" rIns="27432" tIns="9144" bIns="9144" anchor="ctr">
            <a:spAutoFit/>
          </a:bodyPr>
          <a:lstStyle/>
          <a:p>
            <a:pPr algn="l">
              <a:spcAft>
                <a:spcPts val="500"/>
              </a:spcAft>
              <a:defRPr sz="2200" b="1">
                <a:solidFill>
                  <a:srgbClr val="B0781B"/>
                </a:solidFill>
                <a:latin typeface="DejaVu Sans"/>
              </a:defRPr>
            </a:pPr>
            <a:r>
              <a:t>03</a:t>
            </a:r>
          </a:p>
        </p:txBody>
      </p:sp>
      <p:sp>
        <p:nvSpPr>
          <p:cNvPr id="17" name="TextBox 16"/>
          <p:cNvSpPr txBox="1"/>
          <p:nvPr/>
        </p:nvSpPr>
        <p:spPr>
          <a:xfrm>
            <a:off x="6565392" y="2606040"/>
            <a:ext cx="1938528" cy="1069848"/>
          </a:xfrm>
          <a:prstGeom prst="rect">
            <a:avLst/>
          </a:prstGeom>
          <a:noFill/>
        </p:spPr>
        <p:txBody>
          <a:bodyPr wrap="square" lIns="27432" rIns="27432" tIns="9144" bIns="9144" anchor="ctr">
            <a:spAutoFit/>
          </a:bodyPr>
          <a:lstStyle/>
          <a:p>
            <a:pPr algn="l">
              <a:spcAft>
                <a:spcPts val="500"/>
              </a:spcAft>
              <a:defRPr sz="2100" b="1">
                <a:solidFill>
                  <a:srgbClr val="162A41"/>
                </a:solidFill>
                <a:latin typeface="DejaVu Sans"/>
              </a:defRPr>
            </a:pPr>
            <a:r>
              <a:t>La entrega</a:t>
            </a:r>
          </a:p>
          <a:p>
            <a:pPr algn="l">
              <a:spcAft>
                <a:spcPts val="500"/>
              </a:spcAft>
              <a:defRPr sz="2100" b="1">
                <a:solidFill>
                  <a:srgbClr val="162A41"/>
                </a:solidFill>
                <a:latin typeface="DejaVu Sans"/>
              </a:defRPr>
            </a:pPr>
            <a:r>
              <a:t>llega a tiempo</a:t>
            </a:r>
          </a:p>
        </p:txBody>
      </p:sp>
      <p:sp>
        <p:nvSpPr>
          <p:cNvPr id="18" name="Rounded Rectangle 17"/>
          <p:cNvSpPr/>
          <p:nvPr/>
        </p:nvSpPr>
        <p:spPr>
          <a:xfrm>
            <a:off x="9235440" y="1847088"/>
            <a:ext cx="2331720" cy="2148840"/>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54896" y="2011680"/>
            <a:ext cx="685800" cy="438912"/>
          </a:xfrm>
          <a:prstGeom prst="rect">
            <a:avLst/>
          </a:prstGeom>
          <a:noFill/>
        </p:spPr>
        <p:txBody>
          <a:bodyPr wrap="square" lIns="27432" rIns="27432" tIns="9144" bIns="9144" anchor="ctr">
            <a:spAutoFit/>
          </a:bodyPr>
          <a:lstStyle/>
          <a:p>
            <a:pPr algn="l">
              <a:spcAft>
                <a:spcPts val="500"/>
              </a:spcAft>
              <a:defRPr sz="2200" b="1">
                <a:solidFill>
                  <a:srgbClr val="6D4D8F"/>
                </a:solidFill>
                <a:latin typeface="DejaVu Sans"/>
              </a:defRPr>
            </a:pPr>
            <a:r>
              <a:t>04</a:t>
            </a:r>
          </a:p>
        </p:txBody>
      </p:sp>
      <p:sp>
        <p:nvSpPr>
          <p:cNvPr id="20" name="TextBox 19"/>
          <p:cNvSpPr txBox="1"/>
          <p:nvPr/>
        </p:nvSpPr>
        <p:spPr>
          <a:xfrm>
            <a:off x="9445752" y="2606040"/>
            <a:ext cx="1938528" cy="1069848"/>
          </a:xfrm>
          <a:prstGeom prst="rect">
            <a:avLst/>
          </a:prstGeom>
          <a:noFill/>
        </p:spPr>
        <p:txBody>
          <a:bodyPr wrap="square" lIns="27432" rIns="27432" tIns="9144" bIns="9144" anchor="ctr">
            <a:spAutoFit/>
          </a:bodyPr>
          <a:lstStyle/>
          <a:p>
            <a:pPr algn="l">
              <a:spcAft>
                <a:spcPts val="500"/>
              </a:spcAft>
              <a:defRPr sz="2100" b="1">
                <a:solidFill>
                  <a:srgbClr val="162A41"/>
                </a:solidFill>
                <a:latin typeface="DejaVu Sans"/>
              </a:defRPr>
            </a:pPr>
            <a:r>
              <a:t>El crédito</a:t>
            </a:r>
          </a:p>
          <a:p>
            <a:pPr algn="l">
              <a:spcAft>
                <a:spcPts val="500"/>
              </a:spcAft>
              <a:defRPr sz="2100" b="1">
                <a:solidFill>
                  <a:srgbClr val="162A41"/>
                </a:solidFill>
                <a:latin typeface="DejaVu Sans"/>
              </a:defRPr>
            </a:pPr>
            <a:r>
              <a:t>es el informado</a:t>
            </a:r>
          </a:p>
        </p:txBody>
      </p:sp>
      <p:sp>
        <p:nvSpPr>
          <p:cNvPr id="21" name="Rounded Rectangle 20"/>
          <p:cNvSpPr/>
          <p:nvPr/>
        </p:nvSpPr>
        <p:spPr>
          <a:xfrm>
            <a:off x="612648" y="4352544"/>
            <a:ext cx="5394960" cy="1243584"/>
          </a:xfrm>
          <a:prstGeom prst="roundRect">
            <a:avLst/>
          </a:prstGeom>
          <a:solidFill>
            <a:srgbClr val="FAEBEA"/>
          </a:solidFill>
          <a:ln w="12700">
            <a:solidFill>
              <a:srgbClr val="FA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 y="4352544"/>
            <a:ext cx="68580" cy="1243584"/>
          </a:xfrm>
          <a:prstGeom prst="rect">
            <a:avLst/>
          </a:prstGeom>
          <a:solidFill>
            <a:srgbClr val="AE4643"/>
          </a:solidFill>
          <a:ln w="12700">
            <a:solidFill>
              <a:srgbClr val="AE4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4471416"/>
            <a:ext cx="4956048" cy="438912"/>
          </a:xfrm>
          <a:prstGeom prst="rect">
            <a:avLst/>
          </a:prstGeom>
          <a:noFill/>
        </p:spPr>
        <p:txBody>
          <a:bodyPr wrap="square" lIns="27432" rIns="27432" tIns="9144" bIns="9144" anchor="ctr">
            <a:spAutoFit/>
          </a:bodyPr>
          <a:lstStyle/>
          <a:p>
            <a:pPr algn="l">
              <a:spcAft>
                <a:spcPts val="500"/>
              </a:spcAft>
              <a:defRPr sz="1900" b="1">
                <a:solidFill>
                  <a:srgbClr val="AE4643"/>
                </a:solidFill>
                <a:latin typeface="DejaVu Sans"/>
              </a:defRPr>
            </a:pPr>
            <a:r>
              <a:t>Situación actual</a:t>
            </a:r>
          </a:p>
        </p:txBody>
      </p:sp>
      <p:sp>
        <p:nvSpPr>
          <p:cNvPr id="24" name="TextBox 23"/>
          <p:cNvSpPr txBox="1"/>
          <p:nvPr/>
        </p:nvSpPr>
        <p:spPr>
          <a:xfrm>
            <a:off x="841248" y="4983479"/>
            <a:ext cx="4956048" cy="521208"/>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22 tiendas · 14 interfaces · dos negocios</a:t>
            </a:r>
          </a:p>
        </p:txBody>
      </p:sp>
      <p:sp>
        <p:nvSpPr>
          <p:cNvPr id="25" name="Rounded Rectangle 24"/>
          <p:cNvSpPr/>
          <p:nvPr/>
        </p:nvSpPr>
        <p:spPr>
          <a:xfrm>
            <a:off x="6190488" y="4352544"/>
            <a:ext cx="5394960" cy="1243584"/>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0488" y="4352544"/>
            <a:ext cx="68580" cy="1243584"/>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088" y="4471416"/>
            <a:ext cx="4956048" cy="438912"/>
          </a:xfrm>
          <a:prstGeom prst="rect">
            <a:avLst/>
          </a:prstGeom>
          <a:noFill/>
        </p:spPr>
        <p:txBody>
          <a:bodyPr wrap="square" lIns="27432" rIns="27432" tIns="9144" bIns="9144" anchor="ctr">
            <a:spAutoFit/>
          </a:bodyPr>
          <a:lstStyle/>
          <a:p>
            <a:pPr algn="l">
              <a:spcAft>
                <a:spcPts val="500"/>
              </a:spcAft>
              <a:defRPr sz="1900" b="1">
                <a:solidFill>
                  <a:srgbClr val="1C6896"/>
                </a:solidFill>
                <a:latin typeface="DejaVu Sans"/>
              </a:defRPr>
            </a:pPr>
            <a:r>
              <a:t>Papel del SD-04</a:t>
            </a:r>
          </a:p>
        </p:txBody>
      </p:sp>
      <p:sp>
        <p:nvSpPr>
          <p:cNvPr id="28" name="TextBox 27"/>
          <p:cNvSpPr txBox="1"/>
          <p:nvPr/>
        </p:nvSpPr>
        <p:spPr>
          <a:xfrm>
            <a:off x="6419088" y="4983479"/>
            <a:ext cx="4956048" cy="521208"/>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Asignar responsable, flujo, dato y ubicación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Qué cambia y qué permanece</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La arquitectura respeta el alcance ya establecido en SD-03</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tabla 4.4; SD-03 §3.2</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03</a:t>
            </a:r>
          </a:p>
        </p:txBody>
      </p:sp>
      <p:sp>
        <p:nvSpPr>
          <p:cNvPr id="9" name="Rounded Rectangle 8"/>
          <p:cNvSpPr/>
          <p:nvPr/>
        </p:nvSpPr>
        <p:spPr>
          <a:xfrm>
            <a:off x="576072" y="1417320"/>
            <a:ext cx="3547872" cy="3017520"/>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6072" y="1417320"/>
            <a:ext cx="68580" cy="301752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536192"/>
            <a:ext cx="3108960" cy="438912"/>
          </a:xfrm>
          <a:prstGeom prst="rect">
            <a:avLst/>
          </a:prstGeom>
          <a:noFill/>
        </p:spPr>
        <p:txBody>
          <a:bodyPr wrap="square" lIns="27432" rIns="27432" tIns="9144" bIns="9144" anchor="ctr">
            <a:spAutoFit/>
          </a:bodyPr>
          <a:lstStyle/>
          <a:p>
            <a:pPr algn="l">
              <a:spcAft>
                <a:spcPts val="500"/>
              </a:spcAft>
              <a:defRPr sz="2000" b="1">
                <a:solidFill>
                  <a:srgbClr val="127F78"/>
                </a:solidFill>
                <a:latin typeface="DejaVu Sans"/>
              </a:defRPr>
            </a:pPr>
            <a:r>
              <a:t>CONSERVAR E INTEGRAR</a:t>
            </a:r>
          </a:p>
        </p:txBody>
      </p:sp>
      <p:sp>
        <p:nvSpPr>
          <p:cNvPr id="12" name="TextBox 11"/>
          <p:cNvSpPr txBox="1"/>
          <p:nvPr/>
        </p:nvSpPr>
        <p:spPr>
          <a:xfrm>
            <a:off x="804672" y="2048256"/>
            <a:ext cx="3108960" cy="2295144"/>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ERP / DTE</a:t>
            </a:r>
          </a:p>
          <a:p>
            <a:pPr algn="l">
              <a:spcAft>
                <a:spcPts val="500"/>
              </a:spcAft>
              <a:defRPr sz="1800" b="0">
                <a:solidFill>
                  <a:srgbClr val="233343"/>
                </a:solidFill>
                <a:latin typeface="DejaVu Sans"/>
              </a:defRPr>
            </a:pPr>
            <a:r>
              <a:t>WMS principal</a:t>
            </a:r>
          </a:p>
          <a:p>
            <a:pPr algn="l">
              <a:spcAft>
                <a:spcPts val="500"/>
              </a:spcAft>
              <a:defRPr sz="1800" b="0">
                <a:solidFill>
                  <a:srgbClr val="233343"/>
                </a:solidFill>
                <a:latin typeface="DejaVu Sans"/>
              </a:defRPr>
            </a:pPr>
            <a:r>
              <a:t>Marketplace 2022</a:t>
            </a:r>
          </a:p>
        </p:txBody>
      </p:sp>
      <p:sp>
        <p:nvSpPr>
          <p:cNvPr id="13" name="Rounded Rectangle 12"/>
          <p:cNvSpPr/>
          <p:nvPr/>
        </p:nvSpPr>
        <p:spPr>
          <a:xfrm>
            <a:off x="4315968" y="1417320"/>
            <a:ext cx="3547872" cy="3017520"/>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417320"/>
            <a:ext cx="68580" cy="3017520"/>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1536192"/>
            <a:ext cx="3108960" cy="438912"/>
          </a:xfrm>
          <a:prstGeom prst="rect">
            <a:avLst/>
          </a:prstGeom>
          <a:noFill/>
        </p:spPr>
        <p:txBody>
          <a:bodyPr wrap="square" lIns="27432" rIns="27432" tIns="9144" bIns="9144" anchor="ctr">
            <a:spAutoFit/>
          </a:bodyPr>
          <a:lstStyle/>
          <a:p>
            <a:pPr algn="l">
              <a:spcAft>
                <a:spcPts val="500"/>
              </a:spcAft>
              <a:defRPr sz="2000" b="1">
                <a:solidFill>
                  <a:srgbClr val="1C6896"/>
                </a:solidFill>
                <a:latin typeface="DejaVu Sans"/>
              </a:defRPr>
            </a:pPr>
            <a:r>
              <a:t>INTEGRAR Y EVALUAR</a:t>
            </a:r>
          </a:p>
        </p:txBody>
      </p:sp>
      <p:sp>
        <p:nvSpPr>
          <p:cNvPr id="16" name="TextBox 15"/>
          <p:cNvSpPr txBox="1"/>
          <p:nvPr/>
        </p:nvSpPr>
        <p:spPr>
          <a:xfrm>
            <a:off x="4544568" y="2048256"/>
            <a:ext cx="3108960" cy="2295144"/>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Comercio electrónico</a:t>
            </a:r>
          </a:p>
          <a:p>
            <a:pPr algn="l">
              <a:spcAft>
                <a:spcPts val="500"/>
              </a:spcAft>
              <a:defRPr sz="1800" b="0">
                <a:solidFill>
                  <a:srgbClr val="233343"/>
                </a:solidFill>
                <a:latin typeface="DejaVu Sans"/>
              </a:defRPr>
            </a:pPr>
            <a:r>
              <a:t>Fidelización</a:t>
            </a:r>
          </a:p>
          <a:p>
            <a:pPr algn="l">
              <a:spcAft>
                <a:spcPts val="500"/>
              </a:spcAft>
              <a:defRPr sz="1800" b="0">
                <a:solidFill>
                  <a:srgbClr val="233343"/>
                </a:solidFill>
                <a:latin typeface="DejaVu Sans"/>
              </a:defRPr>
            </a:pPr>
            <a:r>
              <a:t>Decisión tras pruebas</a:t>
            </a:r>
          </a:p>
        </p:txBody>
      </p:sp>
      <p:sp>
        <p:nvSpPr>
          <p:cNvPr id="17" name="Rounded Rectangle 16"/>
          <p:cNvSpPr/>
          <p:nvPr/>
        </p:nvSpPr>
        <p:spPr>
          <a:xfrm>
            <a:off x="8055864" y="1417320"/>
            <a:ext cx="3547872" cy="3017520"/>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5864" y="1417320"/>
            <a:ext cx="68580" cy="3017520"/>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4464" y="1536192"/>
            <a:ext cx="3108960" cy="438912"/>
          </a:xfrm>
          <a:prstGeom prst="rect">
            <a:avLst/>
          </a:prstGeom>
          <a:noFill/>
        </p:spPr>
        <p:txBody>
          <a:bodyPr wrap="square" lIns="27432" rIns="27432" tIns="9144" bIns="9144" anchor="ctr">
            <a:spAutoFit/>
          </a:bodyPr>
          <a:lstStyle/>
          <a:p>
            <a:pPr algn="l">
              <a:spcAft>
                <a:spcPts val="500"/>
              </a:spcAft>
              <a:defRPr sz="2000" b="1">
                <a:solidFill>
                  <a:srgbClr val="6D4D8F"/>
                </a:solidFill>
                <a:latin typeface="DejaVu Sans"/>
              </a:defRPr>
            </a:pPr>
            <a:r>
              <a:t>REEMPLAZAR POR OLAS</a:t>
            </a:r>
          </a:p>
        </p:txBody>
      </p:sp>
      <p:sp>
        <p:nvSpPr>
          <p:cNvPr id="20" name="TextBox 19"/>
          <p:cNvSpPr txBox="1"/>
          <p:nvPr/>
        </p:nvSpPr>
        <p:spPr>
          <a:xfrm>
            <a:off x="8284464" y="2048256"/>
            <a:ext cx="3108960" cy="2295144"/>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Núcleo Retail 2009</a:t>
            </a:r>
          </a:p>
          <a:p>
            <a:pPr algn="l">
              <a:spcAft>
                <a:spcPts val="500"/>
              </a:spcAft>
              <a:defRPr sz="1800" b="0">
                <a:solidFill>
                  <a:srgbClr val="233343"/>
                </a:solidFill>
                <a:latin typeface="DejaVu Sans"/>
              </a:defRPr>
            </a:pPr>
            <a:r>
              <a:t>Crédito 2011</a:t>
            </a:r>
          </a:p>
          <a:p>
            <a:pPr algn="l">
              <a:spcAft>
                <a:spcPts val="500"/>
              </a:spcAft>
              <a:defRPr sz="1800" b="0">
                <a:solidFill>
                  <a:srgbClr val="233343"/>
                </a:solidFill>
                <a:latin typeface="DejaVu Sans"/>
              </a:defRPr>
            </a:pPr>
            <a:r>
              <a:t>POS de tienda 2014</a:t>
            </a:r>
          </a:p>
        </p:txBody>
      </p:sp>
      <p:sp>
        <p:nvSpPr>
          <p:cNvPr id="21" name="Rounded Rectangle 20"/>
          <p:cNvSpPr/>
          <p:nvPr/>
        </p:nvSpPr>
        <p:spPr>
          <a:xfrm>
            <a:off x="594360" y="4736592"/>
            <a:ext cx="11000232" cy="850392"/>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4864608"/>
            <a:ext cx="10607040" cy="539496"/>
          </a:xfrm>
          <a:prstGeom prst="rect">
            <a:avLst/>
          </a:prstGeom>
          <a:noFill/>
        </p:spPr>
        <p:txBody>
          <a:bodyPr wrap="square" lIns="27432" rIns="27432" tIns="9144" bIns="9144" anchor="ctr">
            <a:spAutoFit/>
          </a:bodyPr>
          <a:lstStyle/>
          <a:p>
            <a:pPr algn="l">
              <a:spcAft>
                <a:spcPts val="500"/>
              </a:spcAft>
              <a:defRPr sz="1800" b="0">
                <a:solidFill>
                  <a:srgbClr val="233343"/>
                </a:solidFill>
                <a:latin typeface="DejaVu Sans"/>
              </a:defRPr>
            </a:pPr>
            <a:r>
              <a:t>Nueva capacidad: motor de precios. El Caso lo menciona, pero no existe como plataforma vigente.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Del actor al dato: el recorrido lógico</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Las flechas muestran funciones, no enlaces físicos ya acreditados</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figuras 4.1–4.2</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04</a:t>
            </a:r>
          </a:p>
        </p:txBody>
      </p:sp>
      <p:sp>
        <p:nvSpPr>
          <p:cNvPr id="9" name="Rounded Rectangle 8"/>
          <p:cNvSpPr/>
          <p:nvPr/>
        </p:nvSpPr>
        <p:spPr>
          <a:xfrm>
            <a:off x="576072" y="1874519"/>
            <a:ext cx="1764792" cy="1792224"/>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6072" y="1874519"/>
            <a:ext cx="68580" cy="1792224"/>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93391"/>
            <a:ext cx="1325880" cy="438912"/>
          </a:xfrm>
          <a:prstGeom prst="rect">
            <a:avLst/>
          </a:prstGeom>
          <a:noFill/>
        </p:spPr>
        <p:txBody>
          <a:bodyPr wrap="square" lIns="27432" rIns="27432" tIns="9144" bIns="9144" anchor="ctr">
            <a:spAutoFit/>
          </a:bodyPr>
          <a:lstStyle/>
          <a:p>
            <a:pPr algn="l">
              <a:spcAft>
                <a:spcPts val="500"/>
              </a:spcAft>
              <a:defRPr sz="1600" b="1">
                <a:solidFill>
                  <a:srgbClr val="1C6896"/>
                </a:solidFill>
                <a:latin typeface="DejaVu Sans"/>
              </a:defRPr>
            </a:pPr>
            <a:r>
              <a:t>ACTORES</a:t>
            </a:r>
          </a:p>
        </p:txBody>
      </p:sp>
      <p:sp>
        <p:nvSpPr>
          <p:cNvPr id="12" name="TextBox 11"/>
          <p:cNvSpPr txBox="1"/>
          <p:nvPr/>
        </p:nvSpPr>
        <p:spPr>
          <a:xfrm>
            <a:off x="804672" y="2505456"/>
            <a:ext cx="1325880" cy="1069848"/>
          </a:xfrm>
          <a:prstGeom prst="rect">
            <a:avLst/>
          </a:prstGeom>
          <a:noFill/>
        </p:spPr>
        <p:txBody>
          <a:bodyPr wrap="square" lIns="27432" rIns="27432" tIns="9144" bIns="9144" anchor="t">
            <a:spAutoFit/>
          </a:bodyPr>
          <a:lstStyle/>
          <a:p>
            <a:pPr algn="l">
              <a:spcAft>
                <a:spcPts val="500"/>
              </a:spcAft>
              <a:defRPr sz="1400" b="0">
                <a:solidFill>
                  <a:srgbClr val="233343"/>
                </a:solidFill>
                <a:latin typeface="DejaVu Sans"/>
              </a:defRPr>
            </a:pPr>
            <a:r>
              <a:t>Cliente · cajero</a:t>
            </a:r>
          </a:p>
          <a:p>
            <a:pPr algn="l">
              <a:spcAft>
                <a:spcPts val="500"/>
              </a:spcAft>
              <a:defRPr sz="1400" b="0">
                <a:solidFill>
                  <a:srgbClr val="233343"/>
                </a:solidFill>
                <a:latin typeface="DejaVu Sans"/>
              </a:defRPr>
            </a:pPr>
            <a:r>
              <a:t>analista · sistemas</a:t>
            </a:r>
          </a:p>
        </p:txBody>
      </p:sp>
      <p:sp>
        <p:nvSpPr>
          <p:cNvPr id="13" name="Rounded Rectangle 12"/>
          <p:cNvSpPr/>
          <p:nvPr/>
        </p:nvSpPr>
        <p:spPr>
          <a:xfrm>
            <a:off x="2907792" y="1874519"/>
            <a:ext cx="1764792" cy="1792224"/>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07792" y="1874519"/>
            <a:ext cx="68580" cy="1792224"/>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36392" y="1993391"/>
            <a:ext cx="1325880" cy="438912"/>
          </a:xfrm>
          <a:prstGeom prst="rect">
            <a:avLst/>
          </a:prstGeom>
          <a:noFill/>
        </p:spPr>
        <p:txBody>
          <a:bodyPr wrap="square" lIns="27432" rIns="27432" tIns="9144" bIns="9144" anchor="ctr">
            <a:spAutoFit/>
          </a:bodyPr>
          <a:lstStyle/>
          <a:p>
            <a:pPr algn="l">
              <a:spcAft>
                <a:spcPts val="500"/>
              </a:spcAft>
              <a:defRPr sz="1600" b="1">
                <a:solidFill>
                  <a:srgbClr val="127F78"/>
                </a:solidFill>
                <a:latin typeface="DejaVu Sans"/>
              </a:defRPr>
            </a:pPr>
            <a:r>
              <a:t>CANALES</a:t>
            </a:r>
          </a:p>
        </p:txBody>
      </p:sp>
      <p:sp>
        <p:nvSpPr>
          <p:cNvPr id="16" name="TextBox 15"/>
          <p:cNvSpPr txBox="1"/>
          <p:nvPr/>
        </p:nvSpPr>
        <p:spPr>
          <a:xfrm>
            <a:off x="3136392" y="2505456"/>
            <a:ext cx="1325880" cy="1069848"/>
          </a:xfrm>
          <a:prstGeom prst="rect">
            <a:avLst/>
          </a:prstGeom>
          <a:noFill/>
        </p:spPr>
        <p:txBody>
          <a:bodyPr wrap="square" lIns="27432" rIns="27432" tIns="9144" bIns="9144" anchor="t">
            <a:spAutoFit/>
          </a:bodyPr>
          <a:lstStyle/>
          <a:p>
            <a:pPr algn="l">
              <a:spcAft>
                <a:spcPts val="500"/>
              </a:spcAft>
              <a:defRPr sz="1400" b="0">
                <a:solidFill>
                  <a:srgbClr val="233343"/>
                </a:solidFill>
                <a:latin typeface="DejaVu Sans"/>
              </a:defRPr>
            </a:pPr>
            <a:r>
              <a:t>POS · web</a:t>
            </a:r>
          </a:p>
          <a:p>
            <a:pPr algn="l">
              <a:spcAft>
                <a:spcPts val="500"/>
              </a:spcAft>
              <a:defRPr sz="1400" b="0">
                <a:solidFill>
                  <a:srgbClr val="233343"/>
                </a:solidFill>
                <a:latin typeface="DejaVu Sans"/>
              </a:defRPr>
            </a:pPr>
            <a:r>
              <a:t>consolas · API</a:t>
            </a:r>
          </a:p>
        </p:txBody>
      </p:sp>
      <p:sp>
        <p:nvSpPr>
          <p:cNvPr id="17" name="Rounded Rectangle 16"/>
          <p:cNvSpPr/>
          <p:nvPr/>
        </p:nvSpPr>
        <p:spPr>
          <a:xfrm>
            <a:off x="5239512" y="1874519"/>
            <a:ext cx="1764792" cy="1792224"/>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39512" y="1874519"/>
            <a:ext cx="68580" cy="1792224"/>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68112" y="1993391"/>
            <a:ext cx="1325880" cy="438912"/>
          </a:xfrm>
          <a:prstGeom prst="rect">
            <a:avLst/>
          </a:prstGeom>
          <a:noFill/>
        </p:spPr>
        <p:txBody>
          <a:bodyPr wrap="square" lIns="27432" rIns="27432" tIns="9144" bIns="9144" anchor="ctr">
            <a:spAutoFit/>
          </a:bodyPr>
          <a:lstStyle/>
          <a:p>
            <a:pPr algn="l">
              <a:spcAft>
                <a:spcPts val="500"/>
              </a:spcAft>
              <a:defRPr sz="1600" b="1">
                <a:solidFill>
                  <a:srgbClr val="1C6896"/>
                </a:solidFill>
                <a:latin typeface="DejaVu Sans"/>
              </a:defRPr>
            </a:pPr>
            <a:r>
              <a:t>GATEWAY</a:t>
            </a:r>
          </a:p>
        </p:txBody>
      </p:sp>
      <p:sp>
        <p:nvSpPr>
          <p:cNvPr id="20" name="TextBox 19"/>
          <p:cNvSpPr txBox="1"/>
          <p:nvPr/>
        </p:nvSpPr>
        <p:spPr>
          <a:xfrm>
            <a:off x="5468112" y="2505456"/>
            <a:ext cx="1325880" cy="1069848"/>
          </a:xfrm>
          <a:prstGeom prst="rect">
            <a:avLst/>
          </a:prstGeom>
          <a:noFill/>
        </p:spPr>
        <p:txBody>
          <a:bodyPr wrap="square" lIns="27432" rIns="27432" tIns="9144" bIns="9144" anchor="t">
            <a:spAutoFit/>
          </a:bodyPr>
          <a:lstStyle/>
          <a:p>
            <a:pPr algn="l">
              <a:spcAft>
                <a:spcPts val="500"/>
              </a:spcAft>
              <a:defRPr sz="1400" b="0">
                <a:solidFill>
                  <a:srgbClr val="233343"/>
                </a:solidFill>
                <a:latin typeface="DejaVu Sans"/>
              </a:defRPr>
            </a:pPr>
            <a:r>
              <a:t>Identidad · cuotas</a:t>
            </a:r>
          </a:p>
          <a:p>
            <a:pPr algn="l">
              <a:spcAft>
                <a:spcPts val="500"/>
              </a:spcAft>
              <a:defRPr sz="1400" b="0">
                <a:solidFill>
                  <a:srgbClr val="233343"/>
                </a:solidFill>
                <a:latin typeface="DejaVu Sans"/>
              </a:defRPr>
            </a:pPr>
            <a:r>
              <a:t>contratos · trazas</a:t>
            </a:r>
          </a:p>
        </p:txBody>
      </p:sp>
      <p:sp>
        <p:nvSpPr>
          <p:cNvPr id="21" name="Rounded Rectangle 20"/>
          <p:cNvSpPr/>
          <p:nvPr/>
        </p:nvSpPr>
        <p:spPr>
          <a:xfrm>
            <a:off x="7571231" y="1874519"/>
            <a:ext cx="1764792" cy="1792224"/>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71231" y="1874519"/>
            <a:ext cx="68580" cy="1792224"/>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99831" y="1993391"/>
            <a:ext cx="1325880" cy="438912"/>
          </a:xfrm>
          <a:prstGeom prst="rect">
            <a:avLst/>
          </a:prstGeom>
          <a:noFill/>
        </p:spPr>
        <p:txBody>
          <a:bodyPr wrap="square" lIns="27432" rIns="27432" tIns="9144" bIns="9144" anchor="ctr">
            <a:spAutoFit/>
          </a:bodyPr>
          <a:lstStyle/>
          <a:p>
            <a:pPr algn="l">
              <a:spcAft>
                <a:spcPts val="500"/>
              </a:spcAft>
              <a:defRPr sz="1600" b="1">
                <a:solidFill>
                  <a:srgbClr val="6D4D8F"/>
                </a:solidFill>
                <a:latin typeface="DejaVu Sans"/>
              </a:defRPr>
            </a:pPr>
            <a:r>
              <a:t>SERVICIOS</a:t>
            </a:r>
          </a:p>
        </p:txBody>
      </p:sp>
      <p:sp>
        <p:nvSpPr>
          <p:cNvPr id="24" name="TextBox 23"/>
          <p:cNvSpPr txBox="1"/>
          <p:nvPr/>
        </p:nvSpPr>
        <p:spPr>
          <a:xfrm>
            <a:off x="7799831" y="2505456"/>
            <a:ext cx="1325880" cy="1069848"/>
          </a:xfrm>
          <a:prstGeom prst="rect">
            <a:avLst/>
          </a:prstGeom>
          <a:noFill/>
        </p:spPr>
        <p:txBody>
          <a:bodyPr wrap="square" lIns="27432" rIns="27432" tIns="9144" bIns="9144" anchor="t">
            <a:spAutoFit/>
          </a:bodyPr>
          <a:lstStyle/>
          <a:p>
            <a:pPr algn="l">
              <a:spcAft>
                <a:spcPts val="500"/>
              </a:spcAft>
              <a:defRPr sz="1400" b="0">
                <a:solidFill>
                  <a:srgbClr val="233343"/>
                </a:solidFill>
                <a:latin typeface="DejaVu Sans"/>
              </a:defRPr>
            </a:pPr>
            <a:r>
              <a:t>Retail · Emisor</a:t>
            </a:r>
          </a:p>
          <a:p>
            <a:pPr algn="l">
              <a:spcAft>
                <a:spcPts val="500"/>
              </a:spcAft>
              <a:defRPr sz="1400" b="0">
                <a:solidFill>
                  <a:srgbClr val="233343"/>
                </a:solidFill>
                <a:latin typeface="DejaVu Sans"/>
              </a:defRPr>
            </a:pPr>
            <a:r>
              <a:t>Frontera X-01</a:t>
            </a:r>
          </a:p>
        </p:txBody>
      </p:sp>
      <p:sp>
        <p:nvSpPr>
          <p:cNvPr id="25" name="Rounded Rectangle 24"/>
          <p:cNvSpPr/>
          <p:nvPr/>
        </p:nvSpPr>
        <p:spPr>
          <a:xfrm>
            <a:off x="9902952" y="1874519"/>
            <a:ext cx="1764792" cy="179222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902952" y="1874519"/>
            <a:ext cx="68580" cy="1792224"/>
          </a:xfrm>
          <a:prstGeom prst="rect">
            <a:avLst/>
          </a:prstGeom>
          <a:solidFill>
            <a:srgbClr val="B0781B"/>
          </a:solidFill>
          <a:ln w="12700">
            <a:solidFill>
              <a:srgbClr val="B07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31552" y="1993391"/>
            <a:ext cx="1325880" cy="438912"/>
          </a:xfrm>
          <a:prstGeom prst="rect">
            <a:avLst/>
          </a:prstGeom>
          <a:noFill/>
        </p:spPr>
        <p:txBody>
          <a:bodyPr wrap="square" lIns="27432" rIns="27432" tIns="9144" bIns="9144" anchor="ctr">
            <a:spAutoFit/>
          </a:bodyPr>
          <a:lstStyle/>
          <a:p>
            <a:pPr algn="l">
              <a:spcAft>
                <a:spcPts val="500"/>
              </a:spcAft>
              <a:defRPr sz="1600" b="1">
                <a:solidFill>
                  <a:srgbClr val="B0781B"/>
                </a:solidFill>
                <a:latin typeface="DejaVu Sans"/>
              </a:defRPr>
            </a:pPr>
            <a:r>
              <a:t>DATOS</a:t>
            </a:r>
          </a:p>
        </p:txBody>
      </p:sp>
      <p:sp>
        <p:nvSpPr>
          <p:cNvPr id="28" name="TextBox 27"/>
          <p:cNvSpPr txBox="1"/>
          <p:nvPr/>
        </p:nvSpPr>
        <p:spPr>
          <a:xfrm>
            <a:off x="10131552" y="2505456"/>
            <a:ext cx="1325880" cy="1069848"/>
          </a:xfrm>
          <a:prstGeom prst="rect">
            <a:avLst/>
          </a:prstGeom>
          <a:noFill/>
        </p:spPr>
        <p:txBody>
          <a:bodyPr wrap="square" lIns="27432" rIns="27432" tIns="9144" bIns="9144" anchor="t">
            <a:spAutoFit/>
          </a:bodyPr>
          <a:lstStyle/>
          <a:p>
            <a:pPr algn="l">
              <a:spcAft>
                <a:spcPts val="500"/>
              </a:spcAft>
              <a:defRPr sz="1400" b="0">
                <a:solidFill>
                  <a:srgbClr val="233343"/>
                </a:solidFill>
                <a:latin typeface="DejaVu Sans"/>
              </a:defRPr>
            </a:pPr>
            <a:r>
              <a:t>Autoridades</a:t>
            </a:r>
          </a:p>
          <a:p>
            <a:pPr algn="l">
              <a:spcAft>
                <a:spcPts val="500"/>
              </a:spcAft>
              <a:defRPr sz="1400" b="0">
                <a:solidFill>
                  <a:srgbClr val="233343"/>
                </a:solidFill>
                <a:latin typeface="DejaVu Sans"/>
              </a:defRPr>
            </a:pPr>
            <a:r>
              <a:t>separadas</a:t>
            </a:r>
          </a:p>
        </p:txBody>
      </p:sp>
      <p:cxnSp>
        <p:nvCxnSpPr>
          <p:cNvPr id="29" name="Connector 28"/>
          <p:cNvCxnSpPr/>
          <p:nvPr/>
        </p:nvCxnSpPr>
        <p:spPr>
          <a:xfrm>
            <a:off x="2423160" y="2770632"/>
            <a:ext cx="411480" cy="0"/>
          </a:xfrm>
          <a:prstGeom prst="line">
            <a:avLst/>
          </a:prstGeom>
          <a:ln w="25400">
            <a:solidFill>
              <a:srgbClr val="1C689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54880" y="2770632"/>
            <a:ext cx="411480" cy="0"/>
          </a:xfrm>
          <a:prstGeom prst="line">
            <a:avLst/>
          </a:prstGeom>
          <a:ln w="25400">
            <a:solidFill>
              <a:srgbClr val="1C689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086600" y="2770632"/>
            <a:ext cx="411479" cy="0"/>
          </a:xfrm>
          <a:prstGeom prst="line">
            <a:avLst/>
          </a:prstGeom>
          <a:ln w="25400">
            <a:solidFill>
              <a:srgbClr val="1C689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20" y="2770632"/>
            <a:ext cx="411480" cy="0"/>
          </a:xfrm>
          <a:prstGeom prst="line">
            <a:avLst/>
          </a:prstGeom>
          <a:ln w="25400">
            <a:solidFill>
              <a:srgbClr val="1C6896"/>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956816" y="4352544"/>
            <a:ext cx="3840480" cy="1106424"/>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956816" y="4352544"/>
            <a:ext cx="68580" cy="1106424"/>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185416" y="4471416"/>
            <a:ext cx="3401568" cy="438912"/>
          </a:xfrm>
          <a:prstGeom prst="rect">
            <a:avLst/>
          </a:prstGeom>
          <a:noFill/>
        </p:spPr>
        <p:txBody>
          <a:bodyPr wrap="square" lIns="27432" rIns="27432" tIns="9144" bIns="9144" anchor="ctr">
            <a:spAutoFit/>
          </a:bodyPr>
          <a:lstStyle/>
          <a:p>
            <a:pPr algn="l">
              <a:spcAft>
                <a:spcPts val="500"/>
              </a:spcAft>
              <a:defRPr sz="1800" b="1">
                <a:solidFill>
                  <a:srgbClr val="127F78"/>
                </a:solidFill>
                <a:latin typeface="DejaVu Sans"/>
              </a:defRPr>
            </a:pPr>
            <a:r>
              <a:t>TIENDA LOCAL</a:t>
            </a:r>
          </a:p>
        </p:txBody>
      </p:sp>
      <p:sp>
        <p:nvSpPr>
          <p:cNvPr id="36" name="TextBox 35"/>
          <p:cNvSpPr txBox="1"/>
          <p:nvPr/>
        </p:nvSpPr>
        <p:spPr>
          <a:xfrm>
            <a:off x="2185416" y="4983479"/>
            <a:ext cx="3401568" cy="384047"/>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Diario y sincronizador para cortes</a:t>
            </a:r>
          </a:p>
        </p:txBody>
      </p:sp>
      <p:sp>
        <p:nvSpPr>
          <p:cNvPr id="37" name="Rounded Rectangle 36"/>
          <p:cNvSpPr/>
          <p:nvPr/>
        </p:nvSpPr>
        <p:spPr>
          <a:xfrm>
            <a:off x="6419088" y="4352544"/>
            <a:ext cx="3840480" cy="1106424"/>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19088" y="4352544"/>
            <a:ext cx="68580" cy="1106424"/>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47688" y="4471416"/>
            <a:ext cx="3401568" cy="438912"/>
          </a:xfrm>
          <a:prstGeom prst="rect">
            <a:avLst/>
          </a:prstGeom>
          <a:noFill/>
        </p:spPr>
        <p:txBody>
          <a:bodyPr wrap="square" lIns="27432" rIns="27432" tIns="9144" bIns="9144" anchor="ctr">
            <a:spAutoFit/>
          </a:bodyPr>
          <a:lstStyle/>
          <a:p>
            <a:pPr algn="l">
              <a:spcAft>
                <a:spcPts val="500"/>
              </a:spcAft>
              <a:defRPr sz="1800" b="1">
                <a:solidFill>
                  <a:srgbClr val="1C6896"/>
                </a:solidFill>
                <a:latin typeface="DejaVu Sans"/>
              </a:defRPr>
            </a:pPr>
            <a:r>
              <a:t>INTEGRACIÓN</a:t>
            </a:r>
          </a:p>
        </p:txBody>
      </p:sp>
      <p:sp>
        <p:nvSpPr>
          <p:cNvPr id="40" name="TextBox 39"/>
          <p:cNvSpPr txBox="1"/>
          <p:nvPr/>
        </p:nvSpPr>
        <p:spPr>
          <a:xfrm>
            <a:off x="6647688" y="4983479"/>
            <a:ext cx="3401568" cy="384047"/>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Adaptadores + broker candidato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Cinco vistas explican el mismo sistema</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Exigencia de RT-02.03; cada vista responde una pregunta diferente</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Bases Transversales RT-02.03; SD-04 §4.1</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05</a:t>
            </a:r>
          </a:p>
        </p:txBody>
      </p:sp>
      <p:sp>
        <p:nvSpPr>
          <p:cNvPr id="9" name="Rounded Rectangle 8"/>
          <p:cNvSpPr/>
          <p:nvPr/>
        </p:nvSpPr>
        <p:spPr>
          <a:xfrm>
            <a:off x="594360" y="1517904"/>
            <a:ext cx="3529584" cy="1609344"/>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517904"/>
            <a:ext cx="68580" cy="1609344"/>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36776"/>
            <a:ext cx="3090672" cy="438912"/>
          </a:xfrm>
          <a:prstGeom prst="rect">
            <a:avLst/>
          </a:prstGeom>
          <a:noFill/>
        </p:spPr>
        <p:txBody>
          <a:bodyPr wrap="square" lIns="27432" rIns="27432" tIns="9144" bIns="9144" anchor="ctr">
            <a:spAutoFit/>
          </a:bodyPr>
          <a:lstStyle/>
          <a:p>
            <a:pPr algn="l">
              <a:spcAft>
                <a:spcPts val="500"/>
              </a:spcAft>
              <a:defRPr sz="2000" b="1">
                <a:solidFill>
                  <a:srgbClr val="1C6896"/>
                </a:solidFill>
                <a:latin typeface="DejaVu Sans"/>
              </a:defRPr>
            </a:pPr>
            <a:r>
              <a:t>LÓGICA</a:t>
            </a:r>
          </a:p>
        </p:txBody>
      </p:sp>
      <p:sp>
        <p:nvSpPr>
          <p:cNvPr id="12" name="TextBox 11"/>
          <p:cNvSpPr txBox="1"/>
          <p:nvPr/>
        </p:nvSpPr>
        <p:spPr>
          <a:xfrm>
            <a:off x="822960" y="2148839"/>
            <a:ext cx="3090672" cy="886968"/>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¿Quién hace qué?</a:t>
            </a:r>
          </a:p>
        </p:txBody>
      </p:sp>
      <p:sp>
        <p:nvSpPr>
          <p:cNvPr id="13" name="Rounded Rectangle 12"/>
          <p:cNvSpPr/>
          <p:nvPr/>
        </p:nvSpPr>
        <p:spPr>
          <a:xfrm>
            <a:off x="4334256" y="1517904"/>
            <a:ext cx="3529584" cy="1609344"/>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34256" y="1517904"/>
            <a:ext cx="68580" cy="1609344"/>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1636776"/>
            <a:ext cx="3090672" cy="438912"/>
          </a:xfrm>
          <a:prstGeom prst="rect">
            <a:avLst/>
          </a:prstGeom>
          <a:noFill/>
        </p:spPr>
        <p:txBody>
          <a:bodyPr wrap="square" lIns="27432" rIns="27432" tIns="9144" bIns="9144" anchor="ctr">
            <a:spAutoFit/>
          </a:bodyPr>
          <a:lstStyle/>
          <a:p>
            <a:pPr algn="l">
              <a:spcAft>
                <a:spcPts val="500"/>
              </a:spcAft>
              <a:defRPr sz="2000" b="1">
                <a:solidFill>
                  <a:srgbClr val="127F78"/>
                </a:solidFill>
                <a:latin typeface="DejaVu Sans"/>
              </a:defRPr>
            </a:pPr>
            <a:r>
              <a:t>PROCESOS</a:t>
            </a:r>
          </a:p>
        </p:txBody>
      </p:sp>
      <p:sp>
        <p:nvSpPr>
          <p:cNvPr id="16" name="TextBox 15"/>
          <p:cNvSpPr txBox="1"/>
          <p:nvPr/>
        </p:nvSpPr>
        <p:spPr>
          <a:xfrm>
            <a:off x="4562856" y="2148839"/>
            <a:ext cx="3090672" cy="886968"/>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¿En qué orden ocurre?</a:t>
            </a:r>
          </a:p>
        </p:txBody>
      </p:sp>
      <p:sp>
        <p:nvSpPr>
          <p:cNvPr id="17" name="Rounded Rectangle 16"/>
          <p:cNvSpPr/>
          <p:nvPr/>
        </p:nvSpPr>
        <p:spPr>
          <a:xfrm>
            <a:off x="8074152" y="1517904"/>
            <a:ext cx="3529584" cy="160934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1517904"/>
            <a:ext cx="68580" cy="1609344"/>
          </a:xfrm>
          <a:prstGeom prst="rect">
            <a:avLst/>
          </a:prstGeom>
          <a:solidFill>
            <a:srgbClr val="B0781B"/>
          </a:solidFill>
          <a:ln w="12700">
            <a:solidFill>
              <a:srgbClr val="B07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1636776"/>
            <a:ext cx="3090672" cy="438912"/>
          </a:xfrm>
          <a:prstGeom prst="rect">
            <a:avLst/>
          </a:prstGeom>
          <a:noFill/>
        </p:spPr>
        <p:txBody>
          <a:bodyPr wrap="square" lIns="27432" rIns="27432" tIns="9144" bIns="9144" anchor="ctr">
            <a:spAutoFit/>
          </a:bodyPr>
          <a:lstStyle/>
          <a:p>
            <a:pPr algn="l">
              <a:spcAft>
                <a:spcPts val="500"/>
              </a:spcAft>
              <a:defRPr sz="2000" b="1">
                <a:solidFill>
                  <a:srgbClr val="B0781B"/>
                </a:solidFill>
                <a:latin typeface="DejaVu Sans"/>
              </a:defRPr>
            </a:pPr>
            <a:r>
              <a:t>DESPLIEGUE</a:t>
            </a:r>
          </a:p>
        </p:txBody>
      </p:sp>
      <p:sp>
        <p:nvSpPr>
          <p:cNvPr id="20" name="TextBox 19"/>
          <p:cNvSpPr txBox="1"/>
          <p:nvPr/>
        </p:nvSpPr>
        <p:spPr>
          <a:xfrm>
            <a:off x="8302752" y="2148839"/>
            <a:ext cx="3090672" cy="886968"/>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¿Dónde se ejecuta?</a:t>
            </a:r>
          </a:p>
        </p:txBody>
      </p:sp>
      <p:sp>
        <p:nvSpPr>
          <p:cNvPr id="21" name="Rounded Rectangle 20"/>
          <p:cNvSpPr/>
          <p:nvPr/>
        </p:nvSpPr>
        <p:spPr>
          <a:xfrm>
            <a:off x="2459736" y="3712463"/>
            <a:ext cx="3529584" cy="1609344"/>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59736" y="3712463"/>
            <a:ext cx="68580" cy="1609344"/>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88336" y="3831335"/>
            <a:ext cx="3090672" cy="438912"/>
          </a:xfrm>
          <a:prstGeom prst="rect">
            <a:avLst/>
          </a:prstGeom>
          <a:noFill/>
        </p:spPr>
        <p:txBody>
          <a:bodyPr wrap="square" lIns="27432" rIns="27432" tIns="9144" bIns="9144" anchor="ctr">
            <a:spAutoFit/>
          </a:bodyPr>
          <a:lstStyle/>
          <a:p>
            <a:pPr algn="l">
              <a:spcAft>
                <a:spcPts val="500"/>
              </a:spcAft>
              <a:defRPr sz="2000" b="1">
                <a:solidFill>
                  <a:srgbClr val="6D4D8F"/>
                </a:solidFill>
                <a:latin typeface="DejaVu Sans"/>
              </a:defRPr>
            </a:pPr>
            <a:r>
              <a:t>DATOS</a:t>
            </a:r>
          </a:p>
        </p:txBody>
      </p:sp>
      <p:sp>
        <p:nvSpPr>
          <p:cNvPr id="24" name="TextBox 23"/>
          <p:cNvSpPr txBox="1"/>
          <p:nvPr/>
        </p:nvSpPr>
        <p:spPr>
          <a:xfrm>
            <a:off x="2688336" y="4343400"/>
            <a:ext cx="3090672" cy="886968"/>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¿Quién escribe y lee?</a:t>
            </a:r>
          </a:p>
        </p:txBody>
      </p:sp>
      <p:sp>
        <p:nvSpPr>
          <p:cNvPr id="25" name="Rounded Rectangle 24"/>
          <p:cNvSpPr/>
          <p:nvPr/>
        </p:nvSpPr>
        <p:spPr>
          <a:xfrm>
            <a:off x="6199632" y="3712463"/>
            <a:ext cx="3529584" cy="1609344"/>
          </a:xfrm>
          <a:prstGeom prst="roundRect">
            <a:avLst/>
          </a:prstGeom>
          <a:solidFill>
            <a:srgbClr val="FAEBEA"/>
          </a:solidFill>
          <a:ln w="12700">
            <a:solidFill>
              <a:srgbClr val="FA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9632" y="3712463"/>
            <a:ext cx="68580" cy="1609344"/>
          </a:xfrm>
          <a:prstGeom prst="rect">
            <a:avLst/>
          </a:prstGeom>
          <a:solidFill>
            <a:srgbClr val="AE4643"/>
          </a:solidFill>
          <a:ln w="12700">
            <a:solidFill>
              <a:srgbClr val="AE4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8232" y="3831335"/>
            <a:ext cx="3090672" cy="438912"/>
          </a:xfrm>
          <a:prstGeom prst="rect">
            <a:avLst/>
          </a:prstGeom>
          <a:noFill/>
        </p:spPr>
        <p:txBody>
          <a:bodyPr wrap="square" lIns="27432" rIns="27432" tIns="9144" bIns="9144" anchor="ctr">
            <a:spAutoFit/>
          </a:bodyPr>
          <a:lstStyle/>
          <a:p>
            <a:pPr algn="l">
              <a:spcAft>
                <a:spcPts val="500"/>
              </a:spcAft>
              <a:defRPr sz="2000" b="1">
                <a:solidFill>
                  <a:srgbClr val="AE4643"/>
                </a:solidFill>
                <a:latin typeface="DejaVu Sans"/>
              </a:defRPr>
            </a:pPr>
            <a:r>
              <a:t>SEGURIDAD</a:t>
            </a:r>
          </a:p>
        </p:txBody>
      </p:sp>
      <p:sp>
        <p:nvSpPr>
          <p:cNvPr id="28" name="TextBox 27"/>
          <p:cNvSpPr txBox="1"/>
          <p:nvPr/>
        </p:nvSpPr>
        <p:spPr>
          <a:xfrm>
            <a:off x="6428232" y="4343400"/>
            <a:ext cx="3090672" cy="886968"/>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¿Quién puede acceder?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Ocho capas, con responsabilidades distintas</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Seguridad y observabilidad acompañan a todas las demás</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Bases Transversales RT-02.01; SD-04 figura 4.2</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06</a:t>
            </a:r>
          </a:p>
        </p:txBody>
      </p:sp>
      <p:sp>
        <p:nvSpPr>
          <p:cNvPr id="9" name="Rounded Rectangle 8"/>
          <p:cNvSpPr/>
          <p:nvPr/>
        </p:nvSpPr>
        <p:spPr>
          <a:xfrm>
            <a:off x="630936" y="1408176"/>
            <a:ext cx="3584448" cy="1353312"/>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581912"/>
            <a:ext cx="420624" cy="393192"/>
          </a:xfrm>
          <a:prstGeom prst="rect">
            <a:avLst/>
          </a:prstGeom>
          <a:noFill/>
        </p:spPr>
        <p:txBody>
          <a:bodyPr wrap="square" lIns="27432" rIns="27432" tIns="9144" bIns="9144" anchor="ctr">
            <a:spAutoFit/>
          </a:bodyPr>
          <a:lstStyle/>
          <a:p>
            <a:pPr algn="l">
              <a:spcAft>
                <a:spcPts val="500"/>
              </a:spcAft>
              <a:defRPr sz="2000" b="1">
                <a:solidFill>
                  <a:srgbClr val="1C6896"/>
                </a:solidFill>
                <a:latin typeface="DejaVu Sans"/>
              </a:defRPr>
            </a:pPr>
            <a:r>
              <a:t>1</a:t>
            </a:r>
          </a:p>
        </p:txBody>
      </p:sp>
      <p:sp>
        <p:nvSpPr>
          <p:cNvPr id="11" name="TextBox 10"/>
          <p:cNvSpPr txBox="1"/>
          <p:nvPr/>
        </p:nvSpPr>
        <p:spPr>
          <a:xfrm>
            <a:off x="1289304" y="1536192"/>
            <a:ext cx="2697480"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Presentación</a:t>
            </a:r>
          </a:p>
        </p:txBody>
      </p:sp>
      <p:sp>
        <p:nvSpPr>
          <p:cNvPr id="12" name="TextBox 11"/>
          <p:cNvSpPr txBox="1"/>
          <p:nvPr/>
        </p:nvSpPr>
        <p:spPr>
          <a:xfrm>
            <a:off x="1289304" y="2066543"/>
            <a:ext cx="2743200" cy="384048"/>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Pantallas y POS</a:t>
            </a:r>
          </a:p>
        </p:txBody>
      </p:sp>
      <p:sp>
        <p:nvSpPr>
          <p:cNvPr id="13" name="Rounded Rectangle 12"/>
          <p:cNvSpPr/>
          <p:nvPr/>
        </p:nvSpPr>
        <p:spPr>
          <a:xfrm>
            <a:off x="4471416" y="1408176"/>
            <a:ext cx="3584448" cy="1353312"/>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6864" y="1581912"/>
            <a:ext cx="420624" cy="393192"/>
          </a:xfrm>
          <a:prstGeom prst="rect">
            <a:avLst/>
          </a:prstGeom>
          <a:noFill/>
        </p:spPr>
        <p:txBody>
          <a:bodyPr wrap="square" lIns="27432" rIns="27432" tIns="9144" bIns="9144" anchor="ctr">
            <a:spAutoFit/>
          </a:bodyPr>
          <a:lstStyle/>
          <a:p>
            <a:pPr algn="l">
              <a:spcAft>
                <a:spcPts val="500"/>
              </a:spcAft>
              <a:defRPr sz="2000" b="1">
                <a:solidFill>
                  <a:srgbClr val="1C6896"/>
                </a:solidFill>
                <a:latin typeface="DejaVu Sans"/>
              </a:defRPr>
            </a:pPr>
            <a:r>
              <a:t>2</a:t>
            </a:r>
          </a:p>
        </p:txBody>
      </p:sp>
      <p:sp>
        <p:nvSpPr>
          <p:cNvPr id="15" name="TextBox 14"/>
          <p:cNvSpPr txBox="1"/>
          <p:nvPr/>
        </p:nvSpPr>
        <p:spPr>
          <a:xfrm>
            <a:off x="5129784" y="1536192"/>
            <a:ext cx="2697480"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Borde</a:t>
            </a:r>
          </a:p>
        </p:txBody>
      </p:sp>
      <p:sp>
        <p:nvSpPr>
          <p:cNvPr id="16" name="TextBox 15"/>
          <p:cNvSpPr txBox="1"/>
          <p:nvPr/>
        </p:nvSpPr>
        <p:spPr>
          <a:xfrm>
            <a:off x="5129784" y="2066543"/>
            <a:ext cx="2743200" cy="384048"/>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Exposición protegida</a:t>
            </a:r>
          </a:p>
        </p:txBody>
      </p:sp>
      <p:sp>
        <p:nvSpPr>
          <p:cNvPr id="17" name="Rounded Rectangle 16"/>
          <p:cNvSpPr/>
          <p:nvPr/>
        </p:nvSpPr>
        <p:spPr>
          <a:xfrm>
            <a:off x="8311896" y="1408176"/>
            <a:ext cx="3584448" cy="1353312"/>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7344" y="1581912"/>
            <a:ext cx="420624" cy="393192"/>
          </a:xfrm>
          <a:prstGeom prst="rect">
            <a:avLst/>
          </a:prstGeom>
          <a:noFill/>
        </p:spPr>
        <p:txBody>
          <a:bodyPr wrap="square" lIns="27432" rIns="27432" tIns="9144" bIns="9144" anchor="ctr">
            <a:spAutoFit/>
          </a:bodyPr>
          <a:lstStyle/>
          <a:p>
            <a:pPr algn="l">
              <a:spcAft>
                <a:spcPts val="500"/>
              </a:spcAft>
              <a:defRPr sz="2000" b="1">
                <a:solidFill>
                  <a:srgbClr val="1C6896"/>
                </a:solidFill>
                <a:latin typeface="DejaVu Sans"/>
              </a:defRPr>
            </a:pPr>
            <a:r>
              <a:t>3</a:t>
            </a:r>
          </a:p>
        </p:txBody>
      </p:sp>
      <p:sp>
        <p:nvSpPr>
          <p:cNvPr id="19" name="TextBox 18"/>
          <p:cNvSpPr txBox="1"/>
          <p:nvPr/>
        </p:nvSpPr>
        <p:spPr>
          <a:xfrm>
            <a:off x="8970264" y="1536192"/>
            <a:ext cx="2697480"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Gateway</a:t>
            </a:r>
          </a:p>
        </p:txBody>
      </p:sp>
      <p:sp>
        <p:nvSpPr>
          <p:cNvPr id="20" name="TextBox 19"/>
          <p:cNvSpPr txBox="1"/>
          <p:nvPr/>
        </p:nvSpPr>
        <p:spPr>
          <a:xfrm>
            <a:off x="8970264" y="2066543"/>
            <a:ext cx="2743200" cy="384048"/>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API autorizadas</a:t>
            </a:r>
          </a:p>
        </p:txBody>
      </p:sp>
      <p:sp>
        <p:nvSpPr>
          <p:cNvPr id="21" name="Rounded Rectangle 20"/>
          <p:cNvSpPr/>
          <p:nvPr/>
        </p:nvSpPr>
        <p:spPr>
          <a:xfrm>
            <a:off x="630936" y="3026664"/>
            <a:ext cx="3584448" cy="1353312"/>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3200400"/>
            <a:ext cx="420624" cy="393192"/>
          </a:xfrm>
          <a:prstGeom prst="rect">
            <a:avLst/>
          </a:prstGeom>
          <a:noFill/>
        </p:spPr>
        <p:txBody>
          <a:bodyPr wrap="square" lIns="27432" rIns="27432" tIns="9144" bIns="9144" anchor="ctr">
            <a:spAutoFit/>
          </a:bodyPr>
          <a:lstStyle/>
          <a:p>
            <a:pPr algn="l">
              <a:spcAft>
                <a:spcPts val="500"/>
              </a:spcAft>
              <a:defRPr sz="2000" b="1">
                <a:solidFill>
                  <a:srgbClr val="1C6896"/>
                </a:solidFill>
                <a:latin typeface="DejaVu Sans"/>
              </a:defRPr>
            </a:pPr>
            <a:r>
              <a:t>4</a:t>
            </a:r>
          </a:p>
        </p:txBody>
      </p:sp>
      <p:sp>
        <p:nvSpPr>
          <p:cNvPr id="23" name="TextBox 22"/>
          <p:cNvSpPr txBox="1"/>
          <p:nvPr/>
        </p:nvSpPr>
        <p:spPr>
          <a:xfrm>
            <a:off x="1289304" y="3154680"/>
            <a:ext cx="2697480"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Servicios</a:t>
            </a:r>
          </a:p>
        </p:txBody>
      </p:sp>
      <p:sp>
        <p:nvSpPr>
          <p:cNvPr id="24" name="TextBox 23"/>
          <p:cNvSpPr txBox="1"/>
          <p:nvPr/>
        </p:nvSpPr>
        <p:spPr>
          <a:xfrm>
            <a:off x="1289304" y="3685032"/>
            <a:ext cx="2743200" cy="384048"/>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Reglas Retail / Emisor</a:t>
            </a:r>
          </a:p>
        </p:txBody>
      </p:sp>
      <p:sp>
        <p:nvSpPr>
          <p:cNvPr id="25" name="Rounded Rectangle 24"/>
          <p:cNvSpPr/>
          <p:nvPr/>
        </p:nvSpPr>
        <p:spPr>
          <a:xfrm>
            <a:off x="4471416" y="3026664"/>
            <a:ext cx="3584448" cy="1353312"/>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6864" y="3200400"/>
            <a:ext cx="420624" cy="393192"/>
          </a:xfrm>
          <a:prstGeom prst="rect">
            <a:avLst/>
          </a:prstGeom>
          <a:noFill/>
        </p:spPr>
        <p:txBody>
          <a:bodyPr wrap="square" lIns="27432" rIns="27432" tIns="9144" bIns="9144" anchor="ctr">
            <a:spAutoFit/>
          </a:bodyPr>
          <a:lstStyle/>
          <a:p>
            <a:pPr algn="l">
              <a:spcAft>
                <a:spcPts val="500"/>
              </a:spcAft>
              <a:defRPr sz="2000" b="1">
                <a:solidFill>
                  <a:srgbClr val="1C6896"/>
                </a:solidFill>
                <a:latin typeface="DejaVu Sans"/>
              </a:defRPr>
            </a:pPr>
            <a:r>
              <a:t>5</a:t>
            </a:r>
          </a:p>
        </p:txBody>
      </p:sp>
      <p:sp>
        <p:nvSpPr>
          <p:cNvPr id="27" name="TextBox 26"/>
          <p:cNvSpPr txBox="1"/>
          <p:nvPr/>
        </p:nvSpPr>
        <p:spPr>
          <a:xfrm>
            <a:off x="5129784" y="3154680"/>
            <a:ext cx="2697480"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Integración</a:t>
            </a:r>
          </a:p>
        </p:txBody>
      </p:sp>
      <p:sp>
        <p:nvSpPr>
          <p:cNvPr id="28" name="TextBox 27"/>
          <p:cNvSpPr txBox="1"/>
          <p:nvPr/>
        </p:nvSpPr>
        <p:spPr>
          <a:xfrm>
            <a:off x="5129784" y="3685032"/>
            <a:ext cx="2743200" cy="384048"/>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Contratos y eventos</a:t>
            </a:r>
          </a:p>
        </p:txBody>
      </p:sp>
      <p:sp>
        <p:nvSpPr>
          <p:cNvPr id="29" name="Rounded Rectangle 28"/>
          <p:cNvSpPr/>
          <p:nvPr/>
        </p:nvSpPr>
        <p:spPr>
          <a:xfrm>
            <a:off x="8311896" y="3026664"/>
            <a:ext cx="3584448" cy="1353312"/>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67344" y="3200400"/>
            <a:ext cx="420624" cy="393192"/>
          </a:xfrm>
          <a:prstGeom prst="rect">
            <a:avLst/>
          </a:prstGeom>
          <a:noFill/>
        </p:spPr>
        <p:txBody>
          <a:bodyPr wrap="square" lIns="27432" rIns="27432" tIns="9144" bIns="9144" anchor="ctr">
            <a:spAutoFit/>
          </a:bodyPr>
          <a:lstStyle/>
          <a:p>
            <a:pPr algn="l">
              <a:spcAft>
                <a:spcPts val="500"/>
              </a:spcAft>
              <a:defRPr sz="2000" b="1">
                <a:solidFill>
                  <a:srgbClr val="1C6896"/>
                </a:solidFill>
                <a:latin typeface="DejaVu Sans"/>
              </a:defRPr>
            </a:pPr>
            <a:r>
              <a:t>6</a:t>
            </a:r>
          </a:p>
        </p:txBody>
      </p:sp>
      <p:sp>
        <p:nvSpPr>
          <p:cNvPr id="31" name="TextBox 30"/>
          <p:cNvSpPr txBox="1"/>
          <p:nvPr/>
        </p:nvSpPr>
        <p:spPr>
          <a:xfrm>
            <a:off x="8970264" y="3154680"/>
            <a:ext cx="2697480"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Datos</a:t>
            </a:r>
          </a:p>
        </p:txBody>
      </p:sp>
      <p:sp>
        <p:nvSpPr>
          <p:cNvPr id="32" name="TextBox 31"/>
          <p:cNvSpPr txBox="1"/>
          <p:nvPr/>
        </p:nvSpPr>
        <p:spPr>
          <a:xfrm>
            <a:off x="8970264" y="3685032"/>
            <a:ext cx="2743200" cy="384048"/>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Registros por autoridad</a:t>
            </a:r>
          </a:p>
        </p:txBody>
      </p:sp>
      <p:sp>
        <p:nvSpPr>
          <p:cNvPr id="33" name="Rounded Rectangle 32"/>
          <p:cNvSpPr/>
          <p:nvPr/>
        </p:nvSpPr>
        <p:spPr>
          <a:xfrm>
            <a:off x="1371600" y="5020056"/>
            <a:ext cx="4151376" cy="393192"/>
          </a:xfrm>
          <a:prstGeom prst="roundRect">
            <a:avLst/>
          </a:prstGeom>
          <a:solidFill>
            <a:srgbClr val="FAEBEA"/>
          </a:solidFill>
          <a:ln w="12700">
            <a:solidFill>
              <a:srgbClr val="FA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63040" y="5020056"/>
            <a:ext cx="3968496" cy="393192"/>
          </a:xfrm>
          <a:prstGeom prst="rect">
            <a:avLst/>
          </a:prstGeom>
          <a:noFill/>
        </p:spPr>
        <p:txBody>
          <a:bodyPr wrap="square" lIns="27432" rIns="27432" tIns="9144" bIns="9144" anchor="ctr">
            <a:spAutoFit/>
          </a:bodyPr>
          <a:lstStyle/>
          <a:p>
            <a:pPr algn="ctr">
              <a:spcAft>
                <a:spcPts val="500"/>
              </a:spcAft>
              <a:defRPr sz="1300" b="1">
                <a:solidFill>
                  <a:srgbClr val="AE4643"/>
                </a:solidFill>
                <a:latin typeface="DejaVu Sans"/>
              </a:defRPr>
            </a:pPr>
            <a:r>
              <a:t>7 · Seguridad transversal</a:t>
            </a:r>
          </a:p>
        </p:txBody>
      </p:sp>
      <p:sp>
        <p:nvSpPr>
          <p:cNvPr id="35" name="Rounded Rectangle 34"/>
          <p:cNvSpPr/>
          <p:nvPr/>
        </p:nvSpPr>
        <p:spPr>
          <a:xfrm>
            <a:off x="6675120" y="5020056"/>
            <a:ext cx="4151376" cy="393192"/>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59" y="5020056"/>
            <a:ext cx="3968496" cy="393192"/>
          </a:xfrm>
          <a:prstGeom prst="rect">
            <a:avLst/>
          </a:prstGeom>
          <a:noFill/>
        </p:spPr>
        <p:txBody>
          <a:bodyPr wrap="square" lIns="27432" rIns="27432" tIns="9144" bIns="9144" anchor="ctr">
            <a:spAutoFit/>
          </a:bodyPr>
          <a:lstStyle/>
          <a:p>
            <a:pPr algn="ctr">
              <a:spcAft>
                <a:spcPts val="500"/>
              </a:spcAft>
              <a:defRPr sz="1300" b="1">
                <a:solidFill>
                  <a:srgbClr val="6D4D8F"/>
                </a:solidFill>
                <a:latin typeface="DejaVu Sans"/>
              </a:defRPr>
            </a:pPr>
            <a:r>
              <a:t>8 · Observabilidad transversal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Trece responsabilidades; despliegue selectivo</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Una responsabilidad de negocio no equivale siempre a un microservicio</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tablas 4.2–4.3</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07</a:t>
            </a:r>
          </a:p>
        </p:txBody>
      </p:sp>
      <p:sp>
        <p:nvSpPr>
          <p:cNvPr id="9" name="Rounded Rectangle 8"/>
          <p:cNvSpPr/>
          <p:nvPr/>
        </p:nvSpPr>
        <p:spPr>
          <a:xfrm>
            <a:off x="576072" y="1472184"/>
            <a:ext cx="4663440" cy="3291840"/>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6072" y="1472184"/>
            <a:ext cx="68580" cy="329184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591056"/>
            <a:ext cx="4224527" cy="438912"/>
          </a:xfrm>
          <a:prstGeom prst="rect">
            <a:avLst/>
          </a:prstGeom>
          <a:noFill/>
        </p:spPr>
        <p:txBody>
          <a:bodyPr wrap="square" lIns="27432" rIns="27432" tIns="9144" bIns="9144" anchor="ctr">
            <a:spAutoFit/>
          </a:bodyPr>
          <a:lstStyle/>
          <a:p>
            <a:pPr algn="l">
              <a:spcAft>
                <a:spcPts val="500"/>
              </a:spcAft>
              <a:defRPr sz="2300" b="1">
                <a:solidFill>
                  <a:srgbClr val="127F78"/>
                </a:solidFill>
                <a:latin typeface="DejaVu Sans"/>
              </a:defRPr>
            </a:pPr>
            <a:r>
              <a:t>9 · RETAIL</a:t>
            </a:r>
          </a:p>
        </p:txBody>
      </p:sp>
      <p:sp>
        <p:nvSpPr>
          <p:cNvPr id="12" name="TextBox 11"/>
          <p:cNvSpPr txBox="1"/>
          <p:nvPr/>
        </p:nvSpPr>
        <p:spPr>
          <a:xfrm>
            <a:off x="804672" y="2103120"/>
            <a:ext cx="4224527" cy="2569464"/>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Oferta · abastecimiento · existencias</a:t>
            </a:r>
          </a:p>
          <a:p>
            <a:pPr algn="l">
              <a:spcAft>
                <a:spcPts val="500"/>
              </a:spcAft>
              <a:defRPr sz="1800" b="0">
                <a:solidFill>
                  <a:srgbClr val="233343"/>
                </a:solidFill>
                <a:latin typeface="DejaVu Sans"/>
              </a:defRPr>
            </a:pPr>
            <a:r>
              <a:t>Pedidos · ventas · comisiones</a:t>
            </a:r>
          </a:p>
          <a:p>
            <a:pPr algn="l">
              <a:spcAft>
                <a:spcPts val="500"/>
              </a:spcAft>
              <a:defRPr sz="1800" b="0">
                <a:solidFill>
                  <a:srgbClr val="233343"/>
                </a:solidFill>
                <a:latin typeface="DejaVu Sans"/>
              </a:defRPr>
            </a:pPr>
            <a:r>
              <a:t>Marketplace · posventa · clientes</a:t>
            </a:r>
          </a:p>
        </p:txBody>
      </p:sp>
      <p:sp>
        <p:nvSpPr>
          <p:cNvPr id="13" name="Rounded Rectangle 12"/>
          <p:cNvSpPr/>
          <p:nvPr/>
        </p:nvSpPr>
        <p:spPr>
          <a:xfrm>
            <a:off x="5440680" y="1472184"/>
            <a:ext cx="2907792" cy="3291840"/>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40680" y="1472184"/>
            <a:ext cx="68580" cy="3291840"/>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1591056"/>
            <a:ext cx="2468880" cy="438912"/>
          </a:xfrm>
          <a:prstGeom prst="rect">
            <a:avLst/>
          </a:prstGeom>
          <a:noFill/>
        </p:spPr>
        <p:txBody>
          <a:bodyPr wrap="square" lIns="27432" rIns="27432" tIns="9144" bIns="9144" anchor="ctr">
            <a:spAutoFit/>
          </a:bodyPr>
          <a:lstStyle/>
          <a:p>
            <a:pPr algn="l">
              <a:spcAft>
                <a:spcPts val="500"/>
              </a:spcAft>
              <a:defRPr sz="2300" b="1">
                <a:solidFill>
                  <a:srgbClr val="6D4D8F"/>
                </a:solidFill>
                <a:latin typeface="DejaVu Sans"/>
              </a:defRPr>
            </a:pPr>
            <a:r>
              <a:t>3 · EMISOR</a:t>
            </a:r>
          </a:p>
        </p:txBody>
      </p:sp>
      <p:sp>
        <p:nvSpPr>
          <p:cNvPr id="16" name="TextBox 15"/>
          <p:cNvSpPr txBox="1"/>
          <p:nvPr/>
        </p:nvSpPr>
        <p:spPr>
          <a:xfrm>
            <a:off x="5669280" y="2103120"/>
            <a:ext cx="2468880" cy="2569464"/>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Originación</a:t>
            </a:r>
          </a:p>
          <a:p>
            <a:pPr algn="l">
              <a:spcAft>
                <a:spcPts val="500"/>
              </a:spcAft>
              <a:defRPr sz="1800" b="0">
                <a:solidFill>
                  <a:srgbClr val="233343"/>
                </a:solidFill>
                <a:latin typeface="DejaVu Sans"/>
              </a:defRPr>
            </a:pPr>
            <a:r>
              <a:t>Cartera</a:t>
            </a:r>
          </a:p>
          <a:p>
            <a:pPr algn="l">
              <a:spcAft>
                <a:spcPts val="500"/>
              </a:spcAft>
              <a:defRPr sz="1800" b="0">
                <a:solidFill>
                  <a:srgbClr val="233343"/>
                </a:solidFill>
                <a:latin typeface="DejaVu Sans"/>
              </a:defRPr>
            </a:pPr>
            <a:r>
              <a:t>Evidencia financiera</a:t>
            </a:r>
          </a:p>
        </p:txBody>
      </p:sp>
      <p:sp>
        <p:nvSpPr>
          <p:cNvPr id="17" name="Rounded Rectangle 16"/>
          <p:cNvSpPr/>
          <p:nvPr/>
        </p:nvSpPr>
        <p:spPr>
          <a:xfrm>
            <a:off x="8558784" y="1472184"/>
            <a:ext cx="3044952" cy="3291840"/>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58784" y="1472184"/>
            <a:ext cx="68580" cy="3291840"/>
          </a:xfrm>
          <a:prstGeom prst="rect">
            <a:avLst/>
          </a:prstGeom>
          <a:solidFill>
            <a:srgbClr val="B0781B"/>
          </a:solidFill>
          <a:ln w="12700">
            <a:solidFill>
              <a:srgbClr val="B07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87384" y="1591056"/>
            <a:ext cx="2606040" cy="438912"/>
          </a:xfrm>
          <a:prstGeom prst="rect">
            <a:avLst/>
          </a:prstGeom>
          <a:noFill/>
        </p:spPr>
        <p:txBody>
          <a:bodyPr wrap="square" lIns="27432" rIns="27432" tIns="9144" bIns="9144" anchor="ctr">
            <a:spAutoFit/>
          </a:bodyPr>
          <a:lstStyle/>
          <a:p>
            <a:pPr algn="l">
              <a:spcAft>
                <a:spcPts val="500"/>
              </a:spcAft>
              <a:defRPr sz="2300" b="1">
                <a:solidFill>
                  <a:srgbClr val="B0781B"/>
                </a:solidFill>
                <a:latin typeface="DejaVu Sans"/>
              </a:defRPr>
            </a:pPr>
            <a:r>
              <a:t>1 · FRONTERA</a:t>
            </a:r>
          </a:p>
        </p:txBody>
      </p:sp>
      <p:sp>
        <p:nvSpPr>
          <p:cNvPr id="20" name="TextBox 19"/>
          <p:cNvSpPr txBox="1"/>
          <p:nvPr/>
        </p:nvSpPr>
        <p:spPr>
          <a:xfrm>
            <a:off x="8787384" y="2103120"/>
            <a:ext cx="2606040" cy="2569464"/>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X-01 gobierna</a:t>
            </a:r>
          </a:p>
          <a:p>
            <a:pPr algn="l">
              <a:spcAft>
                <a:spcPts val="500"/>
              </a:spcAft>
              <a:defRPr sz="1800" b="0">
                <a:solidFill>
                  <a:srgbClr val="233343"/>
                </a:solidFill>
                <a:latin typeface="DejaVu Sans"/>
              </a:defRPr>
            </a:pPr>
            <a:r>
              <a:t>permisos y bitácora</a:t>
            </a:r>
          </a:p>
          <a:p>
            <a:pPr algn="l">
              <a:spcAft>
                <a:spcPts val="500"/>
              </a:spcAft>
              <a:defRPr sz="1800" b="0">
                <a:solidFill>
                  <a:srgbClr val="233343"/>
                </a:solidFill>
                <a:latin typeface="DejaVu Sans"/>
              </a:defRPr>
            </a:pPr>
            <a:r>
              <a:t>de cruces</a:t>
            </a:r>
          </a:p>
        </p:txBody>
      </p:sp>
      <p:sp>
        <p:nvSpPr>
          <p:cNvPr id="21" name="Rounded Rectangle 20"/>
          <p:cNvSpPr/>
          <p:nvPr/>
        </p:nvSpPr>
        <p:spPr>
          <a:xfrm>
            <a:off x="594360" y="5038344"/>
            <a:ext cx="11000232" cy="557784"/>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 y="5093208"/>
            <a:ext cx="10561320" cy="429768"/>
          </a:xfrm>
          <a:prstGeom prst="rect">
            <a:avLst/>
          </a:prstGeom>
          <a:noFill/>
        </p:spPr>
        <p:txBody>
          <a:bodyPr wrap="square" lIns="27432" rIns="27432" tIns="9144" bIns="9144" anchor="ctr">
            <a:spAutoFit/>
          </a:bodyPr>
          <a:lstStyle/>
          <a:p>
            <a:pPr algn="l">
              <a:spcAft>
                <a:spcPts val="500"/>
              </a:spcAft>
              <a:defRPr sz="1800" b="1">
                <a:solidFill>
                  <a:srgbClr val="162A41"/>
                </a:solidFill>
                <a:latin typeface="DejaVu Sans"/>
              </a:defRPr>
            </a:pPr>
            <a:r>
              <a:t>Criterio: separar cuando autoridad, carga o recuperación lo justifiquen.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La cobertura parte de 31 actores UAW</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18 roles humanos + 13 sistemas o disparadores; AS-06 no existe en el catálogo</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tabla 4.1; catálogo UAW</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08</a:t>
            </a:r>
          </a:p>
        </p:txBody>
      </p:sp>
      <p:sp>
        <p:nvSpPr>
          <p:cNvPr id="9" name="Rounded Rectangle 8"/>
          <p:cNvSpPr/>
          <p:nvPr/>
        </p:nvSpPr>
        <p:spPr>
          <a:xfrm>
            <a:off x="694944" y="1389888"/>
            <a:ext cx="10808208" cy="749808"/>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389888"/>
            <a:ext cx="68580" cy="749808"/>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508760"/>
            <a:ext cx="3072384" cy="493776"/>
          </a:xfrm>
          <a:prstGeom prst="rect">
            <a:avLst/>
          </a:prstGeom>
          <a:noFill/>
        </p:spPr>
        <p:txBody>
          <a:bodyPr wrap="square" lIns="27432" rIns="27432" tIns="9144" bIns="9144" anchor="ctr">
            <a:spAutoFit/>
          </a:bodyPr>
          <a:lstStyle/>
          <a:p>
            <a:pPr algn="l">
              <a:spcAft>
                <a:spcPts val="500"/>
              </a:spcAft>
              <a:defRPr sz="1800" b="1">
                <a:solidFill>
                  <a:srgbClr val="127F78"/>
                </a:solidFill>
                <a:latin typeface="DejaVu Sans"/>
              </a:defRPr>
            </a:pPr>
            <a:r>
              <a:t>Cliente / cajero</a:t>
            </a:r>
          </a:p>
        </p:txBody>
      </p:sp>
      <p:sp>
        <p:nvSpPr>
          <p:cNvPr id="12" name="TextBox 11"/>
          <p:cNvSpPr txBox="1"/>
          <p:nvPr/>
        </p:nvSpPr>
        <p:spPr>
          <a:xfrm>
            <a:off x="4078224" y="1508760"/>
            <a:ext cx="7040880" cy="493776"/>
          </a:xfrm>
          <a:prstGeom prst="rect">
            <a:avLst/>
          </a:prstGeom>
          <a:noFill/>
        </p:spPr>
        <p:txBody>
          <a:bodyPr wrap="square" lIns="27432" rIns="27432" tIns="9144" bIns="9144" anchor="ctr">
            <a:spAutoFit/>
          </a:bodyPr>
          <a:lstStyle/>
          <a:p>
            <a:pPr algn="l">
              <a:spcAft>
                <a:spcPts val="500"/>
              </a:spcAft>
              <a:defRPr sz="1800" b="0">
                <a:solidFill>
                  <a:srgbClr val="233343"/>
                </a:solidFill>
                <a:latin typeface="DejaVu Sans"/>
              </a:defRPr>
            </a:pPr>
            <a:r>
              <a:t>POS o web → ventas y existencias</a:t>
            </a:r>
          </a:p>
        </p:txBody>
      </p:sp>
      <p:sp>
        <p:nvSpPr>
          <p:cNvPr id="13" name="Rounded Rectangle 12"/>
          <p:cNvSpPr/>
          <p:nvPr/>
        </p:nvSpPr>
        <p:spPr>
          <a:xfrm>
            <a:off x="694944" y="2304288"/>
            <a:ext cx="10808208" cy="749808"/>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4944" y="2304288"/>
            <a:ext cx="68580" cy="749808"/>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423160"/>
            <a:ext cx="3072384" cy="493776"/>
          </a:xfrm>
          <a:prstGeom prst="rect">
            <a:avLst/>
          </a:prstGeom>
          <a:noFill/>
        </p:spPr>
        <p:txBody>
          <a:bodyPr wrap="square" lIns="27432" rIns="27432" tIns="9144" bIns="9144" anchor="ctr">
            <a:spAutoFit/>
          </a:bodyPr>
          <a:lstStyle/>
          <a:p>
            <a:pPr algn="l">
              <a:spcAft>
                <a:spcPts val="500"/>
              </a:spcAft>
              <a:defRPr sz="1800" b="1">
                <a:solidFill>
                  <a:srgbClr val="1C6896"/>
                </a:solidFill>
                <a:latin typeface="DejaVu Sans"/>
              </a:defRPr>
            </a:pPr>
            <a:r>
              <a:t>Personal logístico</a:t>
            </a:r>
          </a:p>
        </p:txBody>
      </p:sp>
      <p:sp>
        <p:nvSpPr>
          <p:cNvPr id="16" name="TextBox 15"/>
          <p:cNvSpPr txBox="1"/>
          <p:nvPr/>
        </p:nvSpPr>
        <p:spPr>
          <a:xfrm>
            <a:off x="4078224" y="2423160"/>
            <a:ext cx="7040880" cy="493776"/>
          </a:xfrm>
          <a:prstGeom prst="rect">
            <a:avLst/>
          </a:prstGeom>
          <a:noFill/>
        </p:spPr>
        <p:txBody>
          <a:bodyPr wrap="square" lIns="27432" rIns="27432" tIns="9144" bIns="9144" anchor="ctr">
            <a:spAutoFit/>
          </a:bodyPr>
          <a:lstStyle/>
          <a:p>
            <a:pPr algn="l">
              <a:spcAft>
                <a:spcPts val="500"/>
              </a:spcAft>
              <a:defRPr sz="1800" b="0">
                <a:solidFill>
                  <a:srgbClr val="233343"/>
                </a:solidFill>
                <a:latin typeface="DejaVu Sans"/>
              </a:defRPr>
            </a:pPr>
            <a:r>
              <a:t>Terminal → abastecimiento y WMS</a:t>
            </a:r>
          </a:p>
        </p:txBody>
      </p:sp>
      <p:sp>
        <p:nvSpPr>
          <p:cNvPr id="17" name="Rounded Rectangle 16"/>
          <p:cNvSpPr/>
          <p:nvPr/>
        </p:nvSpPr>
        <p:spPr>
          <a:xfrm>
            <a:off x="694944" y="3218688"/>
            <a:ext cx="10808208" cy="749808"/>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4944" y="3218688"/>
            <a:ext cx="68580" cy="749808"/>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337560"/>
            <a:ext cx="3072384" cy="493776"/>
          </a:xfrm>
          <a:prstGeom prst="rect">
            <a:avLst/>
          </a:prstGeom>
          <a:noFill/>
        </p:spPr>
        <p:txBody>
          <a:bodyPr wrap="square" lIns="27432" rIns="27432" tIns="9144" bIns="9144" anchor="ctr">
            <a:spAutoFit/>
          </a:bodyPr>
          <a:lstStyle/>
          <a:p>
            <a:pPr algn="l">
              <a:spcAft>
                <a:spcPts val="500"/>
              </a:spcAft>
              <a:defRPr sz="1800" b="1">
                <a:solidFill>
                  <a:srgbClr val="6D4D8F"/>
                </a:solidFill>
                <a:latin typeface="DejaVu Sans"/>
              </a:defRPr>
            </a:pPr>
            <a:r>
              <a:t>Titular / ejecutivo</a:t>
            </a:r>
          </a:p>
        </p:txBody>
      </p:sp>
      <p:sp>
        <p:nvSpPr>
          <p:cNvPr id="20" name="TextBox 19"/>
          <p:cNvSpPr txBox="1"/>
          <p:nvPr/>
        </p:nvSpPr>
        <p:spPr>
          <a:xfrm>
            <a:off x="4078224" y="3337560"/>
            <a:ext cx="7040880" cy="493776"/>
          </a:xfrm>
          <a:prstGeom prst="rect">
            <a:avLst/>
          </a:prstGeom>
          <a:noFill/>
        </p:spPr>
        <p:txBody>
          <a:bodyPr wrap="square" lIns="27432" rIns="27432" tIns="9144" bIns="9144" anchor="ctr">
            <a:spAutoFit/>
          </a:bodyPr>
          <a:lstStyle/>
          <a:p>
            <a:pPr algn="l">
              <a:spcAft>
                <a:spcPts val="500"/>
              </a:spcAft>
              <a:defRPr sz="1800" b="0">
                <a:solidFill>
                  <a:srgbClr val="233343"/>
                </a:solidFill>
                <a:latin typeface="DejaVu Sans"/>
              </a:defRPr>
            </a:pPr>
            <a:r>
              <a:t>Rol financiero → servicios Emisor</a:t>
            </a:r>
          </a:p>
        </p:txBody>
      </p:sp>
      <p:sp>
        <p:nvSpPr>
          <p:cNvPr id="21" name="Rounded Rectangle 20"/>
          <p:cNvSpPr/>
          <p:nvPr/>
        </p:nvSpPr>
        <p:spPr>
          <a:xfrm>
            <a:off x="694944" y="4133087"/>
            <a:ext cx="10808208" cy="749808"/>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4944" y="4133087"/>
            <a:ext cx="68580" cy="749808"/>
          </a:xfrm>
          <a:prstGeom prst="rect">
            <a:avLst/>
          </a:prstGeom>
          <a:solidFill>
            <a:srgbClr val="B0781B"/>
          </a:solidFill>
          <a:ln w="12700">
            <a:solidFill>
              <a:srgbClr val="B07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251959"/>
            <a:ext cx="3072384" cy="493776"/>
          </a:xfrm>
          <a:prstGeom prst="rect">
            <a:avLst/>
          </a:prstGeom>
          <a:noFill/>
        </p:spPr>
        <p:txBody>
          <a:bodyPr wrap="square" lIns="27432" rIns="27432" tIns="9144" bIns="9144" anchor="ctr">
            <a:spAutoFit/>
          </a:bodyPr>
          <a:lstStyle/>
          <a:p>
            <a:pPr algn="l">
              <a:spcAft>
                <a:spcPts val="500"/>
              </a:spcAft>
              <a:defRPr sz="1800" b="1">
                <a:solidFill>
                  <a:srgbClr val="B0781B"/>
                </a:solidFill>
                <a:latin typeface="DejaVu Sans"/>
              </a:defRPr>
            </a:pPr>
            <a:r>
              <a:t>Vendedor externo</a:t>
            </a:r>
          </a:p>
        </p:txBody>
      </p:sp>
      <p:sp>
        <p:nvSpPr>
          <p:cNvPr id="24" name="TextBox 23"/>
          <p:cNvSpPr txBox="1"/>
          <p:nvPr/>
        </p:nvSpPr>
        <p:spPr>
          <a:xfrm>
            <a:off x="4078224" y="4251959"/>
            <a:ext cx="7040880" cy="493776"/>
          </a:xfrm>
          <a:prstGeom prst="rect">
            <a:avLst/>
          </a:prstGeom>
          <a:noFill/>
        </p:spPr>
        <p:txBody>
          <a:bodyPr wrap="square" lIns="27432" rIns="27432" tIns="9144" bIns="9144" anchor="ctr">
            <a:spAutoFit/>
          </a:bodyPr>
          <a:lstStyle/>
          <a:p>
            <a:pPr algn="l">
              <a:spcAft>
                <a:spcPts val="500"/>
              </a:spcAft>
              <a:defRPr sz="1800" b="0">
                <a:solidFill>
                  <a:srgbClr val="233343"/>
                </a:solidFill>
                <a:latin typeface="DejaVu Sans"/>
              </a:defRPr>
            </a:pPr>
            <a:r>
              <a:t>API → gobierno marketplace</a:t>
            </a:r>
          </a:p>
        </p:txBody>
      </p:sp>
      <p:sp>
        <p:nvSpPr>
          <p:cNvPr id="25" name="Rounded Rectangle 24"/>
          <p:cNvSpPr/>
          <p:nvPr/>
        </p:nvSpPr>
        <p:spPr>
          <a:xfrm>
            <a:off x="694944" y="5047488"/>
            <a:ext cx="10808208" cy="749808"/>
          </a:xfrm>
          <a:prstGeom prst="roundRect">
            <a:avLst/>
          </a:prstGeom>
          <a:solidFill>
            <a:srgbClr val="FAEBEA"/>
          </a:solidFill>
          <a:ln w="12700">
            <a:solidFill>
              <a:srgbClr val="FA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4944" y="5047488"/>
            <a:ext cx="68580" cy="749808"/>
          </a:xfrm>
          <a:prstGeom prst="rect">
            <a:avLst/>
          </a:prstGeom>
          <a:solidFill>
            <a:srgbClr val="AE4643"/>
          </a:solidFill>
          <a:ln w="12700">
            <a:solidFill>
              <a:srgbClr val="AE4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5166359"/>
            <a:ext cx="3072384" cy="493776"/>
          </a:xfrm>
          <a:prstGeom prst="rect">
            <a:avLst/>
          </a:prstGeom>
          <a:noFill/>
        </p:spPr>
        <p:txBody>
          <a:bodyPr wrap="square" lIns="27432" rIns="27432" tIns="9144" bIns="9144" anchor="ctr">
            <a:spAutoFit/>
          </a:bodyPr>
          <a:lstStyle/>
          <a:p>
            <a:pPr algn="l">
              <a:spcAft>
                <a:spcPts val="500"/>
              </a:spcAft>
              <a:defRPr sz="1800" b="1">
                <a:solidFill>
                  <a:srgbClr val="AE4643"/>
                </a:solidFill>
                <a:latin typeface="DejaVu Sans"/>
              </a:defRPr>
            </a:pPr>
            <a:r>
              <a:t>Analista BI</a:t>
            </a:r>
          </a:p>
        </p:txBody>
      </p:sp>
      <p:sp>
        <p:nvSpPr>
          <p:cNvPr id="28" name="TextBox 27"/>
          <p:cNvSpPr txBox="1"/>
          <p:nvPr/>
        </p:nvSpPr>
        <p:spPr>
          <a:xfrm>
            <a:off x="4078224" y="5166359"/>
            <a:ext cx="7040880" cy="493776"/>
          </a:xfrm>
          <a:prstGeom prst="rect">
            <a:avLst/>
          </a:prstGeom>
          <a:noFill/>
        </p:spPr>
        <p:txBody>
          <a:bodyPr wrap="square" lIns="27432" rIns="27432" tIns="9144" bIns="9144" anchor="ctr">
            <a:spAutoFit/>
          </a:bodyPr>
          <a:lstStyle/>
          <a:p>
            <a:pPr algn="l">
              <a:spcAft>
                <a:spcPts val="500"/>
              </a:spcAft>
              <a:defRPr sz="1800" b="0">
                <a:solidFill>
                  <a:srgbClr val="233343"/>
                </a:solidFill>
                <a:latin typeface="DejaVu Sans"/>
              </a:defRPr>
            </a:pPr>
            <a:r>
              <a:t>Autoservicio → ámbito permitido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Venta conectada: confirmar antes de informar</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La reserva y el crédito necesitan respuesta antes de prometer o cobrar</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§4.1, recorrido de existencia y venta</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09</a:t>
            </a:r>
          </a:p>
        </p:txBody>
      </p:sp>
      <p:sp>
        <p:nvSpPr>
          <p:cNvPr id="9" name="Rounded Rectangle 8"/>
          <p:cNvSpPr/>
          <p:nvPr/>
        </p:nvSpPr>
        <p:spPr>
          <a:xfrm>
            <a:off x="557784" y="1527048"/>
            <a:ext cx="3575304" cy="1417320"/>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1682495"/>
            <a:ext cx="420624" cy="365760"/>
          </a:xfrm>
          <a:prstGeom prst="rect">
            <a:avLst/>
          </a:prstGeom>
          <a:noFill/>
        </p:spPr>
        <p:txBody>
          <a:bodyPr wrap="square" lIns="27432" rIns="27432" tIns="9144" bIns="9144" anchor="ctr">
            <a:spAutoFit/>
          </a:bodyPr>
          <a:lstStyle/>
          <a:p>
            <a:pPr algn="l">
              <a:spcAft>
                <a:spcPts val="500"/>
              </a:spcAft>
              <a:defRPr sz="1900" b="1">
                <a:solidFill>
                  <a:srgbClr val="127F78"/>
                </a:solidFill>
                <a:latin typeface="DejaVu Sans"/>
              </a:defRPr>
            </a:pPr>
            <a:r>
              <a:t>1</a:t>
            </a:r>
          </a:p>
        </p:txBody>
      </p:sp>
      <p:sp>
        <p:nvSpPr>
          <p:cNvPr id="11" name="TextBox 10"/>
          <p:cNvSpPr txBox="1"/>
          <p:nvPr/>
        </p:nvSpPr>
        <p:spPr>
          <a:xfrm>
            <a:off x="1216152" y="1636776"/>
            <a:ext cx="2734056"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Cajero</a:t>
            </a:r>
          </a:p>
        </p:txBody>
      </p:sp>
      <p:sp>
        <p:nvSpPr>
          <p:cNvPr id="12" name="TextBox 11"/>
          <p:cNvSpPr txBox="1"/>
          <p:nvPr/>
        </p:nvSpPr>
        <p:spPr>
          <a:xfrm>
            <a:off x="1216152" y="2148840"/>
            <a:ext cx="2697480" cy="420624"/>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inicia venta</a:t>
            </a:r>
          </a:p>
        </p:txBody>
      </p:sp>
      <p:sp>
        <p:nvSpPr>
          <p:cNvPr id="13" name="Rounded Rectangle 12"/>
          <p:cNvSpPr/>
          <p:nvPr/>
        </p:nvSpPr>
        <p:spPr>
          <a:xfrm>
            <a:off x="4407408" y="1527048"/>
            <a:ext cx="3575304" cy="1417320"/>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682495"/>
            <a:ext cx="420624" cy="365760"/>
          </a:xfrm>
          <a:prstGeom prst="rect">
            <a:avLst/>
          </a:prstGeom>
          <a:noFill/>
        </p:spPr>
        <p:txBody>
          <a:bodyPr wrap="square" lIns="27432" rIns="27432" tIns="9144" bIns="9144" anchor="ctr">
            <a:spAutoFit/>
          </a:bodyPr>
          <a:lstStyle/>
          <a:p>
            <a:pPr algn="l">
              <a:spcAft>
                <a:spcPts val="500"/>
              </a:spcAft>
              <a:defRPr sz="1900" b="1">
                <a:solidFill>
                  <a:srgbClr val="127F78"/>
                </a:solidFill>
                <a:latin typeface="DejaVu Sans"/>
              </a:defRPr>
            </a:pPr>
            <a:r>
              <a:t>2</a:t>
            </a:r>
          </a:p>
        </p:txBody>
      </p:sp>
      <p:sp>
        <p:nvSpPr>
          <p:cNvPr id="15" name="TextBox 14"/>
          <p:cNvSpPr txBox="1"/>
          <p:nvPr/>
        </p:nvSpPr>
        <p:spPr>
          <a:xfrm>
            <a:off x="5065776" y="1636776"/>
            <a:ext cx="2734056"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Oferta</a:t>
            </a:r>
          </a:p>
        </p:txBody>
      </p:sp>
      <p:sp>
        <p:nvSpPr>
          <p:cNvPr id="16" name="TextBox 15"/>
          <p:cNvSpPr txBox="1"/>
          <p:nvPr/>
        </p:nvSpPr>
        <p:spPr>
          <a:xfrm>
            <a:off x="5065776" y="2148840"/>
            <a:ext cx="2697480" cy="420624"/>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precio vigente</a:t>
            </a:r>
          </a:p>
        </p:txBody>
      </p:sp>
      <p:sp>
        <p:nvSpPr>
          <p:cNvPr id="17" name="Rounded Rectangle 16"/>
          <p:cNvSpPr/>
          <p:nvPr/>
        </p:nvSpPr>
        <p:spPr>
          <a:xfrm>
            <a:off x="8257031" y="1527048"/>
            <a:ext cx="3575304" cy="1417320"/>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21624" y="1682495"/>
            <a:ext cx="420624" cy="365760"/>
          </a:xfrm>
          <a:prstGeom prst="rect">
            <a:avLst/>
          </a:prstGeom>
          <a:noFill/>
        </p:spPr>
        <p:txBody>
          <a:bodyPr wrap="square" lIns="27432" rIns="27432" tIns="9144" bIns="9144" anchor="ctr">
            <a:spAutoFit/>
          </a:bodyPr>
          <a:lstStyle/>
          <a:p>
            <a:pPr algn="l">
              <a:spcAft>
                <a:spcPts val="500"/>
              </a:spcAft>
              <a:defRPr sz="1900" b="1">
                <a:solidFill>
                  <a:srgbClr val="127F78"/>
                </a:solidFill>
                <a:latin typeface="DejaVu Sans"/>
              </a:defRPr>
            </a:pPr>
            <a:r>
              <a:t>3</a:t>
            </a:r>
          </a:p>
        </p:txBody>
      </p:sp>
      <p:sp>
        <p:nvSpPr>
          <p:cNvPr id="19" name="TextBox 18"/>
          <p:cNvSpPr txBox="1"/>
          <p:nvPr/>
        </p:nvSpPr>
        <p:spPr>
          <a:xfrm>
            <a:off x="8915400" y="1636776"/>
            <a:ext cx="2734056"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Existencias</a:t>
            </a:r>
          </a:p>
        </p:txBody>
      </p:sp>
      <p:sp>
        <p:nvSpPr>
          <p:cNvPr id="20" name="TextBox 19"/>
          <p:cNvSpPr txBox="1"/>
          <p:nvPr/>
        </p:nvSpPr>
        <p:spPr>
          <a:xfrm>
            <a:off x="8915400" y="2148840"/>
            <a:ext cx="2697480" cy="420624"/>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reserva confirmada</a:t>
            </a:r>
          </a:p>
        </p:txBody>
      </p:sp>
      <p:sp>
        <p:nvSpPr>
          <p:cNvPr id="21" name="Rounded Rectangle 20"/>
          <p:cNvSpPr/>
          <p:nvPr/>
        </p:nvSpPr>
        <p:spPr>
          <a:xfrm>
            <a:off x="557784" y="3419856"/>
            <a:ext cx="3575304" cy="1417320"/>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3575303"/>
            <a:ext cx="420624" cy="365760"/>
          </a:xfrm>
          <a:prstGeom prst="rect">
            <a:avLst/>
          </a:prstGeom>
          <a:noFill/>
        </p:spPr>
        <p:txBody>
          <a:bodyPr wrap="square" lIns="27432" rIns="27432" tIns="9144" bIns="9144" anchor="ctr">
            <a:spAutoFit/>
          </a:bodyPr>
          <a:lstStyle/>
          <a:p>
            <a:pPr algn="l">
              <a:spcAft>
                <a:spcPts val="500"/>
              </a:spcAft>
              <a:defRPr sz="1900" b="1">
                <a:solidFill>
                  <a:srgbClr val="1C6896"/>
                </a:solidFill>
                <a:latin typeface="DejaVu Sans"/>
              </a:defRPr>
            </a:pPr>
            <a:r>
              <a:t>4</a:t>
            </a:r>
          </a:p>
        </p:txBody>
      </p:sp>
      <p:sp>
        <p:nvSpPr>
          <p:cNvPr id="23" name="TextBox 22"/>
          <p:cNvSpPr txBox="1"/>
          <p:nvPr/>
        </p:nvSpPr>
        <p:spPr>
          <a:xfrm>
            <a:off x="1216152" y="3529584"/>
            <a:ext cx="2734056"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Ventas</a:t>
            </a:r>
          </a:p>
        </p:txBody>
      </p:sp>
      <p:sp>
        <p:nvSpPr>
          <p:cNvPr id="24" name="TextBox 23"/>
          <p:cNvSpPr txBox="1"/>
          <p:nvPr/>
        </p:nvSpPr>
        <p:spPr>
          <a:xfrm>
            <a:off x="1216152" y="4041648"/>
            <a:ext cx="2697480" cy="420624"/>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registra y cobra</a:t>
            </a:r>
          </a:p>
        </p:txBody>
      </p:sp>
      <p:sp>
        <p:nvSpPr>
          <p:cNvPr id="25" name="Rounded Rectangle 24"/>
          <p:cNvSpPr/>
          <p:nvPr/>
        </p:nvSpPr>
        <p:spPr>
          <a:xfrm>
            <a:off x="4407408" y="3419856"/>
            <a:ext cx="3575304" cy="1417320"/>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3575303"/>
            <a:ext cx="420624" cy="365760"/>
          </a:xfrm>
          <a:prstGeom prst="rect">
            <a:avLst/>
          </a:prstGeom>
          <a:noFill/>
        </p:spPr>
        <p:txBody>
          <a:bodyPr wrap="square" lIns="27432" rIns="27432" tIns="9144" bIns="9144" anchor="ctr">
            <a:spAutoFit/>
          </a:bodyPr>
          <a:lstStyle/>
          <a:p>
            <a:pPr algn="l">
              <a:spcAft>
                <a:spcPts val="500"/>
              </a:spcAft>
              <a:defRPr sz="1900" b="1">
                <a:solidFill>
                  <a:srgbClr val="1C6896"/>
                </a:solidFill>
                <a:latin typeface="DejaVu Sans"/>
              </a:defRPr>
            </a:pPr>
            <a:r>
              <a:t>5</a:t>
            </a:r>
          </a:p>
        </p:txBody>
      </p:sp>
      <p:sp>
        <p:nvSpPr>
          <p:cNvPr id="27" name="TextBox 26"/>
          <p:cNvSpPr txBox="1"/>
          <p:nvPr/>
        </p:nvSpPr>
        <p:spPr>
          <a:xfrm>
            <a:off x="5065776" y="3529584"/>
            <a:ext cx="2734056"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ERP / DTE</a:t>
            </a:r>
          </a:p>
        </p:txBody>
      </p:sp>
      <p:sp>
        <p:nvSpPr>
          <p:cNvPr id="28" name="TextBox 27"/>
          <p:cNvSpPr txBox="1"/>
          <p:nvPr/>
        </p:nvSpPr>
        <p:spPr>
          <a:xfrm>
            <a:off x="5065776" y="4041648"/>
            <a:ext cx="2697480" cy="420624"/>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documento fiscal</a:t>
            </a:r>
          </a:p>
        </p:txBody>
      </p:sp>
      <p:sp>
        <p:nvSpPr>
          <p:cNvPr id="29" name="Rounded Rectangle 28"/>
          <p:cNvSpPr/>
          <p:nvPr/>
        </p:nvSpPr>
        <p:spPr>
          <a:xfrm>
            <a:off x="8257031" y="3419856"/>
            <a:ext cx="3575304" cy="1417320"/>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21624" y="3575303"/>
            <a:ext cx="420624" cy="365760"/>
          </a:xfrm>
          <a:prstGeom prst="rect">
            <a:avLst/>
          </a:prstGeom>
          <a:noFill/>
        </p:spPr>
        <p:txBody>
          <a:bodyPr wrap="square" lIns="27432" rIns="27432" tIns="9144" bIns="9144" anchor="ctr">
            <a:spAutoFit/>
          </a:bodyPr>
          <a:lstStyle/>
          <a:p>
            <a:pPr algn="l">
              <a:spcAft>
                <a:spcPts val="500"/>
              </a:spcAft>
              <a:defRPr sz="1900" b="1">
                <a:solidFill>
                  <a:srgbClr val="1C6896"/>
                </a:solidFill>
                <a:latin typeface="DejaVu Sans"/>
              </a:defRPr>
            </a:pPr>
            <a:r>
              <a:t>6</a:t>
            </a:r>
          </a:p>
        </p:txBody>
      </p:sp>
      <p:sp>
        <p:nvSpPr>
          <p:cNvPr id="31" name="TextBox 30"/>
          <p:cNvSpPr txBox="1"/>
          <p:nvPr/>
        </p:nvSpPr>
        <p:spPr>
          <a:xfrm>
            <a:off x="8915400" y="3529584"/>
            <a:ext cx="2734056" cy="438912"/>
          </a:xfrm>
          <a:prstGeom prst="rect">
            <a:avLst/>
          </a:prstGeom>
          <a:noFill/>
        </p:spPr>
        <p:txBody>
          <a:bodyPr wrap="square" lIns="27432" rIns="27432" tIns="9144" bIns="9144" anchor="ctr">
            <a:spAutoFit/>
          </a:bodyPr>
          <a:lstStyle/>
          <a:p>
            <a:pPr algn="l">
              <a:spcAft>
                <a:spcPts val="500"/>
              </a:spcAft>
              <a:defRPr sz="2000" b="1">
                <a:solidFill>
                  <a:srgbClr val="162A41"/>
                </a:solidFill>
                <a:latin typeface="DejaVu Sans"/>
              </a:defRPr>
            </a:pPr>
            <a:r>
              <a:t>Evento</a:t>
            </a:r>
          </a:p>
        </p:txBody>
      </p:sp>
      <p:sp>
        <p:nvSpPr>
          <p:cNvPr id="32" name="TextBox 31"/>
          <p:cNvSpPr txBox="1"/>
          <p:nvPr/>
        </p:nvSpPr>
        <p:spPr>
          <a:xfrm>
            <a:off x="8915400" y="4041648"/>
            <a:ext cx="2697480" cy="420624"/>
          </a:xfrm>
          <a:prstGeom prst="rect">
            <a:avLst/>
          </a:prstGeom>
          <a:noFill/>
        </p:spPr>
        <p:txBody>
          <a:bodyPr wrap="square" lIns="27432" rIns="27432" tIns="9144" bIns="9144" anchor="ctr">
            <a:spAutoFit/>
          </a:bodyPr>
          <a:lstStyle/>
          <a:p>
            <a:pPr algn="l">
              <a:spcAft>
                <a:spcPts val="500"/>
              </a:spcAft>
              <a:defRPr sz="1700" b="0">
                <a:solidFill>
                  <a:srgbClr val="233343"/>
                </a:solidFill>
                <a:latin typeface="DejaVu Sans"/>
              </a:defRPr>
            </a:pPr>
            <a:r>
              <a:t>actualiza vistas</a:t>
            </a:r>
          </a:p>
        </p:txBody>
      </p:sp>
      <p:sp>
        <p:nvSpPr>
          <p:cNvPr id="33" name="TextBox 32"/>
          <p:cNvSpPr txBox="1"/>
          <p:nvPr/>
        </p:nvSpPr>
        <p:spPr>
          <a:xfrm>
            <a:off x="740664" y="5532120"/>
            <a:ext cx="10789920" cy="402336"/>
          </a:xfrm>
          <a:prstGeom prst="rect">
            <a:avLst/>
          </a:prstGeom>
          <a:noFill/>
        </p:spPr>
        <p:txBody>
          <a:bodyPr wrap="square" lIns="27432" rIns="27432" tIns="9144" bIns="9144" anchor="ctr">
            <a:spAutoFit/>
          </a:bodyPr>
          <a:lstStyle/>
          <a:p>
            <a:pPr algn="l">
              <a:spcAft>
                <a:spcPts val="500"/>
              </a:spcAft>
              <a:defRPr sz="1700" b="1">
                <a:solidFill>
                  <a:srgbClr val="162A41"/>
                </a:solidFill>
                <a:latin typeface="DejaVu Sans"/>
              </a:defRPr>
            </a:pPr>
            <a:r>
              <a:t>Regla: sin reserva confirmada no se promete disponibilidad ni se cobra la venta conectada.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Si cae la red, la tienda conserva su operación</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24 horas exigidas por RT-03.10; regreso con conciliación</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figura 4.3; Bases Transversales RT-03.10</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10</a:t>
            </a:r>
          </a:p>
        </p:txBody>
      </p:sp>
      <p:sp>
        <p:nvSpPr>
          <p:cNvPr id="9" name="Rounded Rectangle 8"/>
          <p:cNvSpPr/>
          <p:nvPr/>
        </p:nvSpPr>
        <p:spPr>
          <a:xfrm>
            <a:off x="630936" y="1856231"/>
            <a:ext cx="2660904" cy="2505456"/>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 y="1856231"/>
            <a:ext cx="68580" cy="2505456"/>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1975103"/>
            <a:ext cx="2221992" cy="438912"/>
          </a:xfrm>
          <a:prstGeom prst="rect">
            <a:avLst/>
          </a:prstGeom>
          <a:noFill/>
        </p:spPr>
        <p:txBody>
          <a:bodyPr wrap="square" lIns="27432" rIns="27432" tIns="9144" bIns="9144" anchor="ctr">
            <a:spAutoFit/>
          </a:bodyPr>
          <a:lstStyle/>
          <a:p>
            <a:pPr algn="l">
              <a:spcAft>
                <a:spcPts val="500"/>
              </a:spcAft>
              <a:defRPr sz="1800" b="1">
                <a:solidFill>
                  <a:srgbClr val="127F78"/>
                </a:solidFill>
                <a:latin typeface="DejaVu Sans"/>
              </a:defRPr>
            </a:pPr>
            <a:r>
              <a:t>1 · CORTE</a:t>
            </a:r>
          </a:p>
        </p:txBody>
      </p:sp>
      <p:sp>
        <p:nvSpPr>
          <p:cNvPr id="12" name="TextBox 11"/>
          <p:cNvSpPr txBox="1"/>
          <p:nvPr/>
        </p:nvSpPr>
        <p:spPr>
          <a:xfrm>
            <a:off x="859536" y="2487168"/>
            <a:ext cx="2221992" cy="1783080"/>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POS consulta datos locales</a:t>
            </a:r>
          </a:p>
        </p:txBody>
      </p:sp>
      <p:cxnSp>
        <p:nvCxnSpPr>
          <p:cNvPr id="13" name="Connector 12"/>
          <p:cNvCxnSpPr/>
          <p:nvPr/>
        </p:nvCxnSpPr>
        <p:spPr>
          <a:xfrm>
            <a:off x="3300984" y="3108960"/>
            <a:ext cx="219456" cy="0"/>
          </a:xfrm>
          <a:prstGeom prst="line">
            <a:avLst/>
          </a:prstGeom>
          <a:ln w="25400">
            <a:solidFill>
              <a:srgbClr val="127F7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8728" y="1856231"/>
            <a:ext cx="2660904" cy="2505456"/>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8728" y="1856231"/>
            <a:ext cx="68580" cy="2505456"/>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67328" y="1975103"/>
            <a:ext cx="2221992" cy="438912"/>
          </a:xfrm>
          <a:prstGeom prst="rect">
            <a:avLst/>
          </a:prstGeom>
          <a:noFill/>
        </p:spPr>
        <p:txBody>
          <a:bodyPr wrap="square" lIns="27432" rIns="27432" tIns="9144" bIns="9144" anchor="ctr">
            <a:spAutoFit/>
          </a:bodyPr>
          <a:lstStyle/>
          <a:p>
            <a:pPr algn="l">
              <a:spcAft>
                <a:spcPts val="500"/>
              </a:spcAft>
              <a:defRPr sz="1800" b="1">
                <a:solidFill>
                  <a:srgbClr val="1C6896"/>
                </a:solidFill>
                <a:latin typeface="DejaVu Sans"/>
              </a:defRPr>
            </a:pPr>
            <a:r>
              <a:t>2 · REGISTRO</a:t>
            </a:r>
          </a:p>
        </p:txBody>
      </p:sp>
      <p:sp>
        <p:nvSpPr>
          <p:cNvPr id="17" name="TextBox 16"/>
          <p:cNvSpPr txBox="1"/>
          <p:nvPr/>
        </p:nvSpPr>
        <p:spPr>
          <a:xfrm>
            <a:off x="3767328" y="2487168"/>
            <a:ext cx="2221992" cy="1783080"/>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Diario guarda venta pendiente</a:t>
            </a:r>
          </a:p>
        </p:txBody>
      </p:sp>
      <p:cxnSp>
        <p:nvCxnSpPr>
          <p:cNvPr id="18" name="Connector 17"/>
          <p:cNvCxnSpPr/>
          <p:nvPr/>
        </p:nvCxnSpPr>
        <p:spPr>
          <a:xfrm>
            <a:off x="6208776" y="3108960"/>
            <a:ext cx="219456" cy="0"/>
          </a:xfrm>
          <a:prstGeom prst="line">
            <a:avLst/>
          </a:prstGeom>
          <a:ln w="25400">
            <a:solidFill>
              <a:srgbClr val="1C689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446520" y="1856231"/>
            <a:ext cx="2660904" cy="2505456"/>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46520" y="1856231"/>
            <a:ext cx="68580" cy="2505456"/>
          </a:xfrm>
          <a:prstGeom prst="rect">
            <a:avLst/>
          </a:prstGeom>
          <a:solidFill>
            <a:srgbClr val="B0781B"/>
          </a:solidFill>
          <a:ln w="12700">
            <a:solidFill>
              <a:srgbClr val="B07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1975103"/>
            <a:ext cx="2221992" cy="438912"/>
          </a:xfrm>
          <a:prstGeom prst="rect">
            <a:avLst/>
          </a:prstGeom>
          <a:noFill/>
        </p:spPr>
        <p:txBody>
          <a:bodyPr wrap="square" lIns="27432" rIns="27432" tIns="9144" bIns="9144" anchor="ctr">
            <a:spAutoFit/>
          </a:bodyPr>
          <a:lstStyle/>
          <a:p>
            <a:pPr algn="l">
              <a:spcAft>
                <a:spcPts val="500"/>
              </a:spcAft>
              <a:defRPr sz="1800" b="1">
                <a:solidFill>
                  <a:srgbClr val="B0781B"/>
                </a:solidFill>
                <a:latin typeface="DejaVu Sans"/>
              </a:defRPr>
            </a:pPr>
            <a:r>
              <a:t>3 · RETORNO</a:t>
            </a:r>
          </a:p>
        </p:txBody>
      </p:sp>
      <p:sp>
        <p:nvSpPr>
          <p:cNvPr id="22" name="TextBox 21"/>
          <p:cNvSpPr txBox="1"/>
          <p:nvPr/>
        </p:nvSpPr>
        <p:spPr>
          <a:xfrm>
            <a:off x="6675120" y="2487168"/>
            <a:ext cx="2221992" cy="1783080"/>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Sincronizador reintenta con ID</a:t>
            </a:r>
          </a:p>
        </p:txBody>
      </p:sp>
      <p:cxnSp>
        <p:nvCxnSpPr>
          <p:cNvPr id="23" name="Connector 22"/>
          <p:cNvCxnSpPr/>
          <p:nvPr/>
        </p:nvCxnSpPr>
        <p:spPr>
          <a:xfrm>
            <a:off x="9116568" y="3108960"/>
            <a:ext cx="219456" cy="0"/>
          </a:xfrm>
          <a:prstGeom prst="line">
            <a:avLst/>
          </a:prstGeom>
          <a:ln w="25400">
            <a:solidFill>
              <a:srgbClr val="B0781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354312" y="1856231"/>
            <a:ext cx="2660904" cy="2505456"/>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354312" y="1856231"/>
            <a:ext cx="68580" cy="2505456"/>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82912" y="1975103"/>
            <a:ext cx="2221992" cy="438912"/>
          </a:xfrm>
          <a:prstGeom prst="rect">
            <a:avLst/>
          </a:prstGeom>
          <a:noFill/>
        </p:spPr>
        <p:txBody>
          <a:bodyPr wrap="square" lIns="27432" rIns="27432" tIns="9144" bIns="9144" anchor="ctr">
            <a:spAutoFit/>
          </a:bodyPr>
          <a:lstStyle/>
          <a:p>
            <a:pPr algn="l">
              <a:spcAft>
                <a:spcPts val="500"/>
              </a:spcAft>
              <a:defRPr sz="1800" b="1">
                <a:solidFill>
                  <a:srgbClr val="6D4D8F"/>
                </a:solidFill>
                <a:latin typeface="DejaVu Sans"/>
              </a:defRPr>
            </a:pPr>
            <a:r>
              <a:t>4 · CONCILIACIÓN</a:t>
            </a:r>
          </a:p>
        </p:txBody>
      </p:sp>
      <p:sp>
        <p:nvSpPr>
          <p:cNvPr id="27" name="TextBox 26"/>
          <p:cNvSpPr txBox="1"/>
          <p:nvPr/>
        </p:nvSpPr>
        <p:spPr>
          <a:xfrm>
            <a:off x="9582912" y="2487168"/>
            <a:ext cx="2221992" cy="1783080"/>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Ventas confirma; luego publica</a:t>
            </a:r>
          </a:p>
        </p:txBody>
      </p:sp>
      <p:sp>
        <p:nvSpPr>
          <p:cNvPr id="28" name="Rounded Rectangle 27"/>
          <p:cNvSpPr/>
          <p:nvPr/>
        </p:nvSpPr>
        <p:spPr>
          <a:xfrm>
            <a:off x="658368" y="4791456"/>
            <a:ext cx="10917936" cy="731520"/>
          </a:xfrm>
          <a:prstGeom prst="roundRect">
            <a:avLst/>
          </a:prstGeom>
          <a:solidFill>
            <a:srgbClr val="FAEBEA"/>
          </a:solidFill>
          <a:ln w="12700">
            <a:solidFill>
              <a:srgbClr val="FA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 y="4882896"/>
            <a:ext cx="10515600" cy="512064"/>
          </a:xfrm>
          <a:prstGeom prst="rect">
            <a:avLst/>
          </a:prstGeom>
          <a:noFill/>
        </p:spPr>
        <p:txBody>
          <a:bodyPr wrap="square" lIns="27432" rIns="27432" tIns="9144" bIns="9144" anchor="ctr">
            <a:spAutoFit/>
          </a:bodyPr>
          <a:lstStyle/>
          <a:p>
            <a:pPr algn="l">
              <a:spcAft>
                <a:spcPts val="500"/>
              </a:spcAft>
              <a:defRPr sz="1700" b="1">
                <a:solidFill>
                  <a:srgbClr val="AE4643"/>
                </a:solidFill>
                <a:latin typeface="DejaVu Sans"/>
              </a:defRPr>
            </a:pPr>
            <a:r>
              <a:t>Abierto: modalidad de cobro y DTE durante el corte; crédito nuevo y aumento de cupo no se habilitan.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Gateway, broker y diario cumplen tareas distintas</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Kafka es preferencia del equipo; el broker aún no está seleccionado</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§4.1 y ADR-03/06</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11</a:t>
            </a:r>
          </a:p>
        </p:txBody>
      </p:sp>
      <p:sp>
        <p:nvSpPr>
          <p:cNvPr id="9" name="Rounded Rectangle 8"/>
          <p:cNvSpPr/>
          <p:nvPr/>
        </p:nvSpPr>
        <p:spPr>
          <a:xfrm>
            <a:off x="621792" y="1554480"/>
            <a:ext cx="3502152" cy="3008376"/>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554480"/>
            <a:ext cx="68580" cy="3008376"/>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1673352"/>
            <a:ext cx="3063240" cy="438912"/>
          </a:xfrm>
          <a:prstGeom prst="rect">
            <a:avLst/>
          </a:prstGeom>
          <a:noFill/>
        </p:spPr>
        <p:txBody>
          <a:bodyPr wrap="square" lIns="27432" rIns="27432" tIns="9144" bIns="9144" anchor="ctr">
            <a:spAutoFit/>
          </a:bodyPr>
          <a:lstStyle/>
          <a:p>
            <a:pPr algn="l">
              <a:spcAft>
                <a:spcPts val="500"/>
              </a:spcAft>
              <a:defRPr sz="2000" b="1">
                <a:solidFill>
                  <a:srgbClr val="1C6896"/>
                </a:solidFill>
                <a:latin typeface="DejaVu Sans"/>
              </a:defRPr>
            </a:pPr>
            <a:r>
              <a:t>GATEWAY · AHORA</a:t>
            </a:r>
          </a:p>
        </p:txBody>
      </p:sp>
      <p:sp>
        <p:nvSpPr>
          <p:cNvPr id="12" name="TextBox 11"/>
          <p:cNvSpPr txBox="1"/>
          <p:nvPr/>
        </p:nvSpPr>
        <p:spPr>
          <a:xfrm>
            <a:off x="850392" y="2185415"/>
            <a:ext cx="3063240" cy="2286000"/>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Recibe API</a:t>
            </a:r>
          </a:p>
          <a:p>
            <a:pPr algn="l">
              <a:spcAft>
                <a:spcPts val="500"/>
              </a:spcAft>
              <a:defRPr sz="1800" b="0">
                <a:solidFill>
                  <a:srgbClr val="233343"/>
                </a:solidFill>
                <a:latin typeface="DejaVu Sans"/>
              </a:defRPr>
            </a:pPr>
            <a:r>
              <a:t>Verifica identidad y contrato</a:t>
            </a:r>
          </a:p>
          <a:p>
            <a:pPr algn="l">
              <a:spcAft>
                <a:spcPts val="500"/>
              </a:spcAft>
              <a:defRPr sz="1800" b="0">
                <a:solidFill>
                  <a:srgbClr val="233343"/>
                </a:solidFill>
                <a:latin typeface="DejaVu Sans"/>
              </a:defRPr>
            </a:pPr>
            <a:r>
              <a:t>Devuelve respuesta</a:t>
            </a:r>
          </a:p>
        </p:txBody>
      </p:sp>
      <p:sp>
        <p:nvSpPr>
          <p:cNvPr id="13" name="Rounded Rectangle 12"/>
          <p:cNvSpPr/>
          <p:nvPr/>
        </p:nvSpPr>
        <p:spPr>
          <a:xfrm>
            <a:off x="4343400" y="1554480"/>
            <a:ext cx="3502152" cy="3008376"/>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1554480"/>
            <a:ext cx="68580" cy="3008376"/>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673352"/>
            <a:ext cx="3063240" cy="438912"/>
          </a:xfrm>
          <a:prstGeom prst="rect">
            <a:avLst/>
          </a:prstGeom>
          <a:noFill/>
        </p:spPr>
        <p:txBody>
          <a:bodyPr wrap="square" lIns="27432" rIns="27432" tIns="9144" bIns="9144" anchor="ctr">
            <a:spAutoFit/>
          </a:bodyPr>
          <a:lstStyle/>
          <a:p>
            <a:pPr algn="l">
              <a:spcAft>
                <a:spcPts val="500"/>
              </a:spcAft>
              <a:defRPr sz="2000" b="1">
                <a:solidFill>
                  <a:srgbClr val="6D4D8F"/>
                </a:solidFill>
                <a:latin typeface="DejaVu Sans"/>
              </a:defRPr>
            </a:pPr>
            <a:r>
              <a:t>BROKER · DESPUÉS</a:t>
            </a:r>
          </a:p>
        </p:txBody>
      </p:sp>
      <p:sp>
        <p:nvSpPr>
          <p:cNvPr id="16" name="TextBox 15"/>
          <p:cNvSpPr txBox="1"/>
          <p:nvPr/>
        </p:nvSpPr>
        <p:spPr>
          <a:xfrm>
            <a:off x="4572000" y="2185415"/>
            <a:ext cx="3063240" cy="2286000"/>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Reparte hechos confirmados</a:t>
            </a:r>
          </a:p>
          <a:p>
            <a:pPr algn="l">
              <a:spcAft>
                <a:spcPts val="500"/>
              </a:spcAft>
              <a:defRPr sz="1800" b="0">
                <a:solidFill>
                  <a:srgbClr val="233343"/>
                </a:solidFill>
                <a:latin typeface="DejaVu Sans"/>
              </a:defRPr>
            </a:pPr>
            <a:r>
              <a:t>Reintentos y consumidores</a:t>
            </a:r>
          </a:p>
          <a:p>
            <a:pPr algn="l">
              <a:spcAft>
                <a:spcPts val="500"/>
              </a:spcAft>
              <a:defRPr sz="1800" b="0">
                <a:solidFill>
                  <a:srgbClr val="233343"/>
                </a:solidFill>
                <a:latin typeface="DejaVu Sans"/>
              </a:defRPr>
            </a:pPr>
            <a:r>
              <a:t>Producto por decidir</a:t>
            </a:r>
          </a:p>
        </p:txBody>
      </p:sp>
      <p:sp>
        <p:nvSpPr>
          <p:cNvPr id="17" name="Rounded Rectangle 16"/>
          <p:cNvSpPr/>
          <p:nvPr/>
        </p:nvSpPr>
        <p:spPr>
          <a:xfrm>
            <a:off x="8065008" y="1554480"/>
            <a:ext cx="3502152" cy="3008376"/>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1554480"/>
            <a:ext cx="68580" cy="3008376"/>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1673352"/>
            <a:ext cx="3063240" cy="438912"/>
          </a:xfrm>
          <a:prstGeom prst="rect">
            <a:avLst/>
          </a:prstGeom>
          <a:noFill/>
        </p:spPr>
        <p:txBody>
          <a:bodyPr wrap="square" lIns="27432" rIns="27432" tIns="9144" bIns="9144" anchor="ctr">
            <a:spAutoFit/>
          </a:bodyPr>
          <a:lstStyle/>
          <a:p>
            <a:pPr algn="l">
              <a:spcAft>
                <a:spcPts val="500"/>
              </a:spcAft>
              <a:defRPr sz="2000" b="1">
                <a:solidFill>
                  <a:srgbClr val="127F78"/>
                </a:solidFill>
                <a:latin typeface="DejaVu Sans"/>
              </a:defRPr>
            </a:pPr>
            <a:r>
              <a:t>DIARIO · SIN RED</a:t>
            </a:r>
          </a:p>
        </p:txBody>
      </p:sp>
      <p:sp>
        <p:nvSpPr>
          <p:cNvPr id="20" name="TextBox 19"/>
          <p:cNvSpPr txBox="1"/>
          <p:nvPr/>
        </p:nvSpPr>
        <p:spPr>
          <a:xfrm>
            <a:off x="8293608" y="2185415"/>
            <a:ext cx="3063240" cy="2286000"/>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Guarda venta pendiente</a:t>
            </a:r>
          </a:p>
          <a:p>
            <a:pPr algn="l">
              <a:spcAft>
                <a:spcPts val="500"/>
              </a:spcAft>
              <a:defRPr sz="1800" b="0">
                <a:solidFill>
                  <a:srgbClr val="233343"/>
                </a:solidFill>
                <a:latin typeface="DejaVu Sans"/>
              </a:defRPr>
            </a:pPr>
            <a:r>
              <a:t>Es local y durable</a:t>
            </a:r>
          </a:p>
          <a:p>
            <a:pPr algn="l">
              <a:spcAft>
                <a:spcPts val="500"/>
              </a:spcAft>
              <a:defRPr sz="1800" b="0">
                <a:solidFill>
                  <a:srgbClr val="233343"/>
                </a:solidFill>
                <a:latin typeface="DejaVu Sans"/>
              </a:defRPr>
            </a:pPr>
            <a:r>
              <a:t>Concilia al reconectar</a:t>
            </a:r>
          </a:p>
        </p:txBody>
      </p:sp>
      <p:sp>
        <p:nvSpPr>
          <p:cNvPr id="21" name="TextBox 20"/>
          <p:cNvSpPr txBox="1"/>
          <p:nvPr/>
        </p:nvSpPr>
        <p:spPr>
          <a:xfrm>
            <a:off x="731520" y="4956048"/>
            <a:ext cx="10725912" cy="585216"/>
          </a:xfrm>
          <a:prstGeom prst="rect">
            <a:avLst/>
          </a:prstGeom>
          <a:noFill/>
        </p:spPr>
        <p:txBody>
          <a:bodyPr wrap="square" lIns="27432" rIns="27432" tIns="9144" bIns="9144" anchor="ctr">
            <a:spAutoFit/>
          </a:bodyPr>
          <a:lstStyle/>
          <a:p>
            <a:pPr algn="ctr">
              <a:spcAft>
                <a:spcPts val="500"/>
              </a:spcAft>
              <a:defRPr sz="1900" b="1">
                <a:solidFill>
                  <a:srgbClr val="162A41"/>
                </a:solidFill>
                <a:latin typeface="DejaVu Sans"/>
              </a:defRPr>
            </a:pPr>
            <a:r>
              <a:t>El broker de nube no puede conservar un evento que nunca recibió de la tienda.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Retail y Emisor: datos separados</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X-01 documenta y controla cada cruce permitido</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figura 4.5; ADR-02</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12</a:t>
            </a:r>
          </a:p>
        </p:txBody>
      </p:sp>
      <p:sp>
        <p:nvSpPr>
          <p:cNvPr id="9" name="Rounded Rectangle 8"/>
          <p:cNvSpPr/>
          <p:nvPr/>
        </p:nvSpPr>
        <p:spPr>
          <a:xfrm>
            <a:off x="640080" y="1536192"/>
            <a:ext cx="3904487" cy="2834640"/>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536192"/>
            <a:ext cx="68580" cy="283464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655064"/>
            <a:ext cx="3465575" cy="438912"/>
          </a:xfrm>
          <a:prstGeom prst="rect">
            <a:avLst/>
          </a:prstGeom>
          <a:noFill/>
        </p:spPr>
        <p:txBody>
          <a:bodyPr wrap="square" lIns="27432" rIns="27432" tIns="9144" bIns="9144" anchor="ctr">
            <a:spAutoFit/>
          </a:bodyPr>
          <a:lstStyle/>
          <a:p>
            <a:pPr algn="l">
              <a:spcAft>
                <a:spcPts val="500"/>
              </a:spcAft>
              <a:defRPr sz="2200" b="1">
                <a:solidFill>
                  <a:srgbClr val="127F78"/>
                </a:solidFill>
                <a:latin typeface="DejaVu Sans"/>
              </a:defRPr>
            </a:pPr>
            <a:r>
              <a:t>RETAIL</a:t>
            </a:r>
          </a:p>
        </p:txBody>
      </p:sp>
      <p:sp>
        <p:nvSpPr>
          <p:cNvPr id="12" name="TextBox 11"/>
          <p:cNvSpPr txBox="1"/>
          <p:nvPr/>
        </p:nvSpPr>
        <p:spPr>
          <a:xfrm>
            <a:off x="868680" y="2167128"/>
            <a:ext cx="3465575" cy="2112264"/>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Venta · precio · pedido</a:t>
            </a:r>
          </a:p>
          <a:p>
            <a:pPr algn="l">
              <a:spcAft>
                <a:spcPts val="500"/>
              </a:spcAft>
              <a:defRPr sz="1800" b="0">
                <a:solidFill>
                  <a:srgbClr val="233343"/>
                </a:solidFill>
                <a:latin typeface="DejaVu Sans"/>
              </a:defRPr>
            </a:pPr>
            <a:r>
              <a:t>Identidad y preferencias</a:t>
            </a:r>
          </a:p>
          <a:p>
            <a:pPr algn="l">
              <a:spcAft>
                <a:spcPts val="500"/>
              </a:spcAft>
              <a:defRPr sz="1800" b="0">
                <a:solidFill>
                  <a:srgbClr val="233343"/>
                </a:solidFill>
                <a:latin typeface="DejaVu Sans"/>
              </a:defRPr>
            </a:pPr>
            <a:r>
              <a:t>BI comercial</a:t>
            </a:r>
          </a:p>
        </p:txBody>
      </p:sp>
      <p:sp>
        <p:nvSpPr>
          <p:cNvPr id="13" name="Rounded Rectangle 12"/>
          <p:cNvSpPr/>
          <p:nvPr/>
        </p:nvSpPr>
        <p:spPr>
          <a:xfrm>
            <a:off x="7644383" y="1536192"/>
            <a:ext cx="3904487" cy="2834640"/>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44383" y="1536192"/>
            <a:ext cx="68580" cy="2834640"/>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2983" y="1655064"/>
            <a:ext cx="3465575" cy="438912"/>
          </a:xfrm>
          <a:prstGeom prst="rect">
            <a:avLst/>
          </a:prstGeom>
          <a:noFill/>
        </p:spPr>
        <p:txBody>
          <a:bodyPr wrap="square" lIns="27432" rIns="27432" tIns="9144" bIns="9144" anchor="ctr">
            <a:spAutoFit/>
          </a:bodyPr>
          <a:lstStyle/>
          <a:p>
            <a:pPr algn="l">
              <a:spcAft>
                <a:spcPts val="500"/>
              </a:spcAft>
              <a:defRPr sz="2200" b="1">
                <a:solidFill>
                  <a:srgbClr val="6D4D8F"/>
                </a:solidFill>
                <a:latin typeface="DejaVu Sans"/>
              </a:defRPr>
            </a:pPr>
            <a:r>
              <a:t>EMISOR</a:t>
            </a:r>
          </a:p>
        </p:txBody>
      </p:sp>
      <p:sp>
        <p:nvSpPr>
          <p:cNvPr id="16" name="TextBox 15"/>
          <p:cNvSpPr txBox="1"/>
          <p:nvPr/>
        </p:nvSpPr>
        <p:spPr>
          <a:xfrm>
            <a:off x="7872983" y="2167128"/>
            <a:ext cx="3465575" cy="2112264"/>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Cupo · saldo · mora</a:t>
            </a:r>
          </a:p>
          <a:p>
            <a:pPr algn="l">
              <a:spcAft>
                <a:spcPts val="500"/>
              </a:spcAft>
              <a:defRPr sz="1800" b="0">
                <a:solidFill>
                  <a:srgbClr val="233343"/>
                </a:solidFill>
                <a:latin typeface="DejaVu Sans"/>
              </a:defRPr>
            </a:pPr>
            <a:r>
              <a:t>Evidencia financiera</a:t>
            </a:r>
          </a:p>
          <a:p>
            <a:pPr algn="l">
              <a:spcAft>
                <a:spcPts val="500"/>
              </a:spcAft>
              <a:defRPr sz="1800" b="0">
                <a:solidFill>
                  <a:srgbClr val="233343"/>
                </a:solidFill>
                <a:latin typeface="DejaVu Sans"/>
              </a:defRPr>
            </a:pPr>
            <a:r>
              <a:t>BI financiero</a:t>
            </a:r>
          </a:p>
        </p:txBody>
      </p:sp>
      <p:sp>
        <p:nvSpPr>
          <p:cNvPr id="17" name="Rounded Rectangle 16"/>
          <p:cNvSpPr/>
          <p:nvPr/>
        </p:nvSpPr>
        <p:spPr>
          <a:xfrm>
            <a:off x="4773168" y="1984248"/>
            <a:ext cx="2642616" cy="1920240"/>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56048" y="2130552"/>
            <a:ext cx="2295144" cy="402336"/>
          </a:xfrm>
          <a:prstGeom prst="rect">
            <a:avLst/>
          </a:prstGeom>
          <a:noFill/>
        </p:spPr>
        <p:txBody>
          <a:bodyPr wrap="square" lIns="27432" rIns="27432" tIns="9144" bIns="9144" anchor="ctr">
            <a:spAutoFit/>
          </a:bodyPr>
          <a:lstStyle/>
          <a:p>
            <a:pPr algn="ctr">
              <a:spcAft>
                <a:spcPts val="500"/>
              </a:spcAft>
              <a:defRPr sz="2300" b="1">
                <a:solidFill>
                  <a:srgbClr val="B0781B"/>
                </a:solidFill>
                <a:latin typeface="DejaVu Sans"/>
              </a:defRPr>
            </a:pPr>
            <a:r>
              <a:t>X-01</a:t>
            </a:r>
          </a:p>
        </p:txBody>
      </p:sp>
      <p:sp>
        <p:nvSpPr>
          <p:cNvPr id="19" name="TextBox 18"/>
          <p:cNvSpPr txBox="1"/>
          <p:nvPr/>
        </p:nvSpPr>
        <p:spPr>
          <a:xfrm>
            <a:off x="4956048" y="2706624"/>
            <a:ext cx="2295144" cy="813816"/>
          </a:xfrm>
          <a:prstGeom prst="rect">
            <a:avLst/>
          </a:prstGeom>
          <a:noFill/>
        </p:spPr>
        <p:txBody>
          <a:bodyPr wrap="square" lIns="27432" rIns="27432" tIns="9144" bIns="9144" anchor="ctr">
            <a:spAutoFit/>
          </a:bodyPr>
          <a:lstStyle/>
          <a:p>
            <a:pPr algn="ctr">
              <a:spcAft>
                <a:spcPts val="500"/>
              </a:spcAft>
              <a:defRPr sz="1700" b="0">
                <a:solidFill>
                  <a:srgbClr val="233343"/>
                </a:solidFill>
                <a:latin typeface="DejaVu Sans"/>
              </a:defRPr>
            </a:pPr>
            <a:r>
              <a:t>Finalidad · mínimo</a:t>
            </a:r>
          </a:p>
          <a:p>
            <a:pPr algn="ctr">
              <a:spcAft>
                <a:spcPts val="500"/>
              </a:spcAft>
              <a:defRPr sz="1700" b="0">
                <a:solidFill>
                  <a:srgbClr val="233343"/>
                </a:solidFill>
                <a:latin typeface="DejaVu Sans"/>
              </a:defRPr>
            </a:pPr>
            <a:r>
              <a:t>bitácora</a:t>
            </a:r>
          </a:p>
        </p:txBody>
      </p:sp>
      <p:cxnSp>
        <p:nvCxnSpPr>
          <p:cNvPr id="20" name="Connector 19"/>
          <p:cNvCxnSpPr/>
          <p:nvPr/>
        </p:nvCxnSpPr>
        <p:spPr>
          <a:xfrm>
            <a:off x="4553712" y="2907792"/>
            <a:ext cx="210312" cy="0"/>
          </a:xfrm>
          <a:prstGeom prst="line">
            <a:avLst/>
          </a:prstGeom>
          <a:ln w="25400">
            <a:solidFill>
              <a:srgbClr val="B0781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406640" y="2907792"/>
            <a:ext cx="219456" cy="0"/>
          </a:xfrm>
          <a:prstGeom prst="line">
            <a:avLst/>
          </a:prstGeom>
          <a:ln w="25400">
            <a:solidFill>
              <a:srgbClr val="B0781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58368" y="4709160"/>
            <a:ext cx="10890504" cy="722376"/>
          </a:xfrm>
          <a:prstGeom prst="roundRect">
            <a:avLst/>
          </a:prstGeom>
          <a:solidFill>
            <a:srgbClr val="FAEBEA"/>
          </a:solidFill>
          <a:ln w="12700">
            <a:solidFill>
              <a:srgbClr val="FA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818888"/>
            <a:ext cx="10506456" cy="502920"/>
          </a:xfrm>
          <a:prstGeom prst="rect">
            <a:avLst/>
          </a:prstGeom>
          <a:noFill/>
        </p:spPr>
        <p:txBody>
          <a:bodyPr wrap="square" lIns="27432" rIns="27432" tIns="9144" bIns="9144" anchor="ctr">
            <a:spAutoFit/>
          </a:bodyPr>
          <a:lstStyle/>
          <a:p>
            <a:pPr algn="ctr">
              <a:spcAft>
                <a:spcPts val="500"/>
              </a:spcAft>
              <a:defRPr sz="1800" b="1">
                <a:solidFill>
                  <a:srgbClr val="AE4643"/>
                </a:solidFill>
                <a:latin typeface="DejaVu Sans"/>
              </a:defRPr>
            </a:pPr>
            <a:r>
              <a:t>Acceso denegado: Marketing no consulta saldos, mora ni historial de pago.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Analítica útil sin abrir la frontera de datos</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BI segregado; modelos de inventario solo recomiendan</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§§4.1–4.1.1</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13</a:t>
            </a:r>
          </a:p>
        </p:txBody>
      </p:sp>
      <p:sp>
        <p:nvSpPr>
          <p:cNvPr id="9" name="Rounded Rectangle 8"/>
          <p:cNvSpPr/>
          <p:nvPr/>
        </p:nvSpPr>
        <p:spPr>
          <a:xfrm>
            <a:off x="640080" y="1426464"/>
            <a:ext cx="5294376" cy="1874519"/>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426464"/>
            <a:ext cx="68580" cy="1874519"/>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545336"/>
            <a:ext cx="4855464" cy="438912"/>
          </a:xfrm>
          <a:prstGeom prst="rect">
            <a:avLst/>
          </a:prstGeom>
          <a:noFill/>
        </p:spPr>
        <p:txBody>
          <a:bodyPr wrap="square" lIns="27432" rIns="27432" tIns="9144" bIns="9144" anchor="ctr">
            <a:spAutoFit/>
          </a:bodyPr>
          <a:lstStyle/>
          <a:p>
            <a:pPr algn="l">
              <a:spcAft>
                <a:spcPts val="500"/>
              </a:spcAft>
              <a:defRPr sz="2000" b="1">
                <a:solidFill>
                  <a:srgbClr val="127F78"/>
                </a:solidFill>
                <a:latin typeface="DejaVu Sans"/>
              </a:defRPr>
            </a:pPr>
            <a:r>
              <a:t>LAGO + BI RETAIL</a:t>
            </a:r>
          </a:p>
        </p:txBody>
      </p:sp>
      <p:sp>
        <p:nvSpPr>
          <p:cNvPr id="12" name="TextBox 11"/>
          <p:cNvSpPr txBox="1"/>
          <p:nvPr/>
        </p:nvSpPr>
        <p:spPr>
          <a:xfrm>
            <a:off x="868680" y="2057400"/>
            <a:ext cx="4855464" cy="1152143"/>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Precio, venta, conteos y existencias</a:t>
            </a:r>
          </a:p>
          <a:p>
            <a:pPr algn="l">
              <a:spcAft>
                <a:spcPts val="500"/>
              </a:spcAft>
              <a:defRPr sz="1800" b="0">
                <a:solidFill>
                  <a:srgbClr val="233343"/>
                </a:solidFill>
                <a:latin typeface="DejaVu Sans"/>
              </a:defRPr>
            </a:pPr>
            <a:r>
              <a:t>Acceso por rol comercial</a:t>
            </a:r>
          </a:p>
        </p:txBody>
      </p:sp>
      <p:sp>
        <p:nvSpPr>
          <p:cNvPr id="13" name="Rounded Rectangle 12"/>
          <p:cNvSpPr/>
          <p:nvPr/>
        </p:nvSpPr>
        <p:spPr>
          <a:xfrm>
            <a:off x="6245352" y="1426464"/>
            <a:ext cx="5294376" cy="1874519"/>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5352" y="1426464"/>
            <a:ext cx="68580" cy="1874519"/>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545336"/>
            <a:ext cx="4855464" cy="438912"/>
          </a:xfrm>
          <a:prstGeom prst="rect">
            <a:avLst/>
          </a:prstGeom>
          <a:noFill/>
        </p:spPr>
        <p:txBody>
          <a:bodyPr wrap="square" lIns="27432" rIns="27432" tIns="9144" bIns="9144" anchor="ctr">
            <a:spAutoFit/>
          </a:bodyPr>
          <a:lstStyle/>
          <a:p>
            <a:pPr algn="l">
              <a:spcAft>
                <a:spcPts val="500"/>
              </a:spcAft>
              <a:defRPr sz="2000" b="1">
                <a:solidFill>
                  <a:srgbClr val="6D4D8F"/>
                </a:solidFill>
                <a:latin typeface="DejaVu Sans"/>
              </a:defRPr>
            </a:pPr>
            <a:r>
              <a:t>LAGO + BI EMISOR</a:t>
            </a:r>
          </a:p>
        </p:txBody>
      </p:sp>
      <p:sp>
        <p:nvSpPr>
          <p:cNvPr id="16" name="TextBox 15"/>
          <p:cNvSpPr txBox="1"/>
          <p:nvPr/>
        </p:nvSpPr>
        <p:spPr>
          <a:xfrm>
            <a:off x="6473952" y="2057400"/>
            <a:ext cx="4855464" cy="1152143"/>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Cartera y operación crediticia</a:t>
            </a:r>
          </a:p>
          <a:p>
            <a:pPr algn="l">
              <a:spcAft>
                <a:spcPts val="500"/>
              </a:spcAft>
              <a:defRPr sz="1800" b="0">
                <a:solidFill>
                  <a:srgbClr val="233343"/>
                </a:solidFill>
                <a:latin typeface="DejaVu Sans"/>
              </a:defRPr>
            </a:pPr>
            <a:r>
              <a:t>Acceso por rol financiero</a:t>
            </a:r>
          </a:p>
        </p:txBody>
      </p:sp>
      <p:sp>
        <p:nvSpPr>
          <p:cNvPr id="17" name="Rounded Rectangle 16"/>
          <p:cNvSpPr/>
          <p:nvPr/>
        </p:nvSpPr>
        <p:spPr>
          <a:xfrm>
            <a:off x="640080" y="3621024"/>
            <a:ext cx="5294376" cy="1874519"/>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621024"/>
            <a:ext cx="68580" cy="1874519"/>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39896"/>
            <a:ext cx="4855464" cy="438912"/>
          </a:xfrm>
          <a:prstGeom prst="rect">
            <a:avLst/>
          </a:prstGeom>
          <a:noFill/>
        </p:spPr>
        <p:txBody>
          <a:bodyPr wrap="square" lIns="27432" rIns="27432" tIns="9144" bIns="9144" anchor="ctr">
            <a:spAutoFit/>
          </a:bodyPr>
          <a:lstStyle/>
          <a:p>
            <a:pPr algn="l">
              <a:spcAft>
                <a:spcPts val="500"/>
              </a:spcAft>
              <a:defRPr sz="2000" b="1">
                <a:solidFill>
                  <a:srgbClr val="1C6896"/>
                </a:solidFill>
                <a:latin typeface="DejaVu Sans"/>
              </a:defRPr>
            </a:pPr>
            <a:r>
              <a:t>ML · CONTEO PREDICTIVO</a:t>
            </a:r>
          </a:p>
        </p:txBody>
      </p:sp>
      <p:sp>
        <p:nvSpPr>
          <p:cNvPr id="20" name="TextBox 19"/>
          <p:cNvSpPr txBox="1"/>
          <p:nvPr/>
        </p:nvSpPr>
        <p:spPr>
          <a:xfrm>
            <a:off x="868680" y="4251960"/>
            <a:ext cx="4855464" cy="1152143"/>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Sugiere dónde contar primero</a:t>
            </a:r>
          </a:p>
          <a:p>
            <a:pPr algn="l">
              <a:spcAft>
                <a:spcPts val="500"/>
              </a:spcAft>
              <a:defRPr sz="1800" b="0">
                <a:solidFill>
                  <a:srgbClr val="233343"/>
                </a:solidFill>
                <a:latin typeface="DejaVu Sans"/>
              </a:defRPr>
            </a:pPr>
            <a:r>
              <a:t>No modifica inventario</a:t>
            </a:r>
          </a:p>
        </p:txBody>
      </p:sp>
      <p:sp>
        <p:nvSpPr>
          <p:cNvPr id="21" name="Rounded Rectangle 20"/>
          <p:cNvSpPr/>
          <p:nvPr/>
        </p:nvSpPr>
        <p:spPr>
          <a:xfrm>
            <a:off x="6245352" y="3621024"/>
            <a:ext cx="5294376" cy="1874519"/>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45352" y="3621024"/>
            <a:ext cx="68580" cy="1874519"/>
          </a:xfrm>
          <a:prstGeom prst="rect">
            <a:avLst/>
          </a:prstGeom>
          <a:solidFill>
            <a:srgbClr val="B0781B"/>
          </a:solidFill>
          <a:ln w="12700">
            <a:solidFill>
              <a:srgbClr val="B07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739896"/>
            <a:ext cx="4855464" cy="438912"/>
          </a:xfrm>
          <a:prstGeom prst="rect">
            <a:avLst/>
          </a:prstGeom>
          <a:noFill/>
        </p:spPr>
        <p:txBody>
          <a:bodyPr wrap="square" lIns="27432" rIns="27432" tIns="9144" bIns="9144" anchor="ctr">
            <a:spAutoFit/>
          </a:bodyPr>
          <a:lstStyle/>
          <a:p>
            <a:pPr algn="l">
              <a:spcAft>
                <a:spcPts val="500"/>
              </a:spcAft>
              <a:defRPr sz="2000" b="1">
                <a:solidFill>
                  <a:srgbClr val="B0781B"/>
                </a:solidFill>
                <a:latin typeface="DejaVu Sans"/>
              </a:defRPr>
            </a:pPr>
            <a:r>
              <a:t>ML · CLASIFICACIÓN DE MERMA</a:t>
            </a:r>
          </a:p>
        </p:txBody>
      </p:sp>
      <p:sp>
        <p:nvSpPr>
          <p:cNvPr id="24" name="TextBox 23"/>
          <p:cNvSpPr txBox="1"/>
          <p:nvPr/>
        </p:nvSpPr>
        <p:spPr>
          <a:xfrm>
            <a:off x="6473952" y="4251960"/>
            <a:ext cx="4855464" cy="1152143"/>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Sugiere causa de la diferencia</a:t>
            </a:r>
          </a:p>
          <a:p>
            <a:pPr algn="l">
              <a:spcAft>
                <a:spcPts val="500"/>
              </a:spcAft>
              <a:defRPr sz="1800" b="0">
                <a:solidFill>
                  <a:srgbClr val="233343"/>
                </a:solidFill>
                <a:latin typeface="DejaVu Sans"/>
              </a:defRPr>
            </a:pPr>
            <a:r>
              <a:t>Revisión humana antes del ajuste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Sitios distintos: tienda, distribución, datos y nube</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La ubicación física de cada plataforma conservada sigue por verificar</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figura 4.4 y tabla 4.8</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14</a:t>
            </a:r>
          </a:p>
        </p:txBody>
      </p:sp>
      <p:cxnSp>
        <p:nvCxnSpPr>
          <p:cNvPr id="9" name="Connector 8"/>
          <p:cNvCxnSpPr/>
          <p:nvPr/>
        </p:nvCxnSpPr>
        <p:spPr>
          <a:xfrm>
            <a:off x="2350008" y="3063240"/>
            <a:ext cx="1865376" cy="603504"/>
          </a:xfrm>
          <a:prstGeom prst="line">
            <a:avLst/>
          </a:prstGeom>
          <a:ln w="19050">
            <a:solidFill>
              <a:srgbClr val="5C6D7C"/>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215384" y="3063240"/>
            <a:ext cx="1856232" cy="603504"/>
          </a:xfrm>
          <a:prstGeom prst="line">
            <a:avLst/>
          </a:prstGeom>
          <a:ln w="19050">
            <a:solidFill>
              <a:srgbClr val="5C6D7C"/>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4215384" y="3063240"/>
            <a:ext cx="5577840" cy="603504"/>
          </a:xfrm>
          <a:prstGeom prst="line">
            <a:avLst/>
          </a:prstGeom>
          <a:ln w="19050">
            <a:solidFill>
              <a:srgbClr val="5C6D7C"/>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980176" y="4507992"/>
            <a:ext cx="173736" cy="0"/>
          </a:xfrm>
          <a:prstGeom prst="line">
            <a:avLst/>
          </a:prstGeom>
          <a:ln w="19050">
            <a:solidFill>
              <a:srgbClr val="5C6D7C"/>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4360" y="1408176"/>
            <a:ext cx="3511296" cy="1627632"/>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1408176"/>
            <a:ext cx="68580" cy="1627632"/>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527048"/>
            <a:ext cx="3072384" cy="438912"/>
          </a:xfrm>
          <a:prstGeom prst="rect">
            <a:avLst/>
          </a:prstGeom>
          <a:noFill/>
        </p:spPr>
        <p:txBody>
          <a:bodyPr wrap="square" lIns="27432" rIns="27432" tIns="9144" bIns="9144" anchor="ctr">
            <a:spAutoFit/>
          </a:bodyPr>
          <a:lstStyle/>
          <a:p>
            <a:pPr algn="l">
              <a:spcAft>
                <a:spcPts val="500"/>
              </a:spcAft>
              <a:defRPr sz="1900" b="1">
                <a:solidFill>
                  <a:srgbClr val="127F78"/>
                </a:solidFill>
                <a:latin typeface="DejaVu Sans"/>
              </a:defRPr>
            </a:pPr>
            <a:r>
              <a:t>SIT-01</a:t>
            </a:r>
          </a:p>
        </p:txBody>
      </p:sp>
      <p:sp>
        <p:nvSpPr>
          <p:cNvPr id="16" name="TextBox 15"/>
          <p:cNvSpPr txBox="1"/>
          <p:nvPr/>
        </p:nvSpPr>
        <p:spPr>
          <a:xfrm>
            <a:off x="822960" y="2039112"/>
            <a:ext cx="3072384" cy="905256"/>
          </a:xfrm>
          <a:prstGeom prst="rect">
            <a:avLst/>
          </a:prstGeom>
          <a:noFill/>
        </p:spPr>
        <p:txBody>
          <a:bodyPr wrap="square" lIns="27432" rIns="27432" tIns="9144" bIns="9144" anchor="t">
            <a:spAutoFit/>
          </a:bodyPr>
          <a:lstStyle/>
          <a:p>
            <a:pPr algn="l">
              <a:spcAft>
                <a:spcPts val="500"/>
              </a:spcAft>
              <a:defRPr sz="1700" b="0">
                <a:solidFill>
                  <a:srgbClr val="233343"/>
                </a:solidFill>
                <a:latin typeface="DejaVu Sans"/>
              </a:defRPr>
            </a:pPr>
            <a:r>
              <a:t>22 tiendas</a:t>
            </a:r>
          </a:p>
          <a:p>
            <a:pPr algn="l">
              <a:spcAft>
                <a:spcPts val="500"/>
              </a:spcAft>
              <a:defRPr sz="1700" b="0">
                <a:solidFill>
                  <a:srgbClr val="233343"/>
                </a:solidFill>
                <a:latin typeface="DejaVu Sans"/>
              </a:defRPr>
            </a:pPr>
            <a:r>
              <a:t>POS + diario</a:t>
            </a:r>
          </a:p>
        </p:txBody>
      </p:sp>
      <p:sp>
        <p:nvSpPr>
          <p:cNvPr id="17" name="Rounded Rectangle 16"/>
          <p:cNvSpPr/>
          <p:nvPr/>
        </p:nvSpPr>
        <p:spPr>
          <a:xfrm>
            <a:off x="4315968" y="1408176"/>
            <a:ext cx="3511296" cy="1627632"/>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15968" y="1408176"/>
            <a:ext cx="68580" cy="1627632"/>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44568" y="1527048"/>
            <a:ext cx="3072384" cy="438912"/>
          </a:xfrm>
          <a:prstGeom prst="rect">
            <a:avLst/>
          </a:prstGeom>
          <a:noFill/>
        </p:spPr>
        <p:txBody>
          <a:bodyPr wrap="square" lIns="27432" rIns="27432" tIns="9144" bIns="9144" anchor="ctr">
            <a:spAutoFit/>
          </a:bodyPr>
          <a:lstStyle/>
          <a:p>
            <a:pPr algn="l">
              <a:spcAft>
                <a:spcPts val="500"/>
              </a:spcAft>
              <a:defRPr sz="1900" b="1">
                <a:solidFill>
                  <a:srgbClr val="1C6896"/>
                </a:solidFill>
                <a:latin typeface="DejaVu Sans"/>
              </a:defRPr>
            </a:pPr>
            <a:r>
              <a:t>CD-01 / 02</a:t>
            </a:r>
          </a:p>
        </p:txBody>
      </p:sp>
      <p:sp>
        <p:nvSpPr>
          <p:cNvPr id="20" name="TextBox 19"/>
          <p:cNvSpPr txBox="1"/>
          <p:nvPr/>
        </p:nvSpPr>
        <p:spPr>
          <a:xfrm>
            <a:off x="4544568" y="2039112"/>
            <a:ext cx="3072384" cy="905256"/>
          </a:xfrm>
          <a:prstGeom prst="rect">
            <a:avLst/>
          </a:prstGeom>
          <a:noFill/>
        </p:spPr>
        <p:txBody>
          <a:bodyPr wrap="square" lIns="27432" rIns="27432" tIns="9144" bIns="9144" anchor="t">
            <a:spAutoFit/>
          </a:bodyPr>
          <a:lstStyle/>
          <a:p>
            <a:pPr algn="l">
              <a:spcAft>
                <a:spcPts val="500"/>
              </a:spcAft>
              <a:defRPr sz="1700" b="0">
                <a:solidFill>
                  <a:srgbClr val="233343"/>
                </a:solidFill>
                <a:latin typeface="DejaVu Sans"/>
              </a:defRPr>
            </a:pPr>
            <a:r>
              <a:t>Distribución principal</a:t>
            </a:r>
          </a:p>
          <a:p>
            <a:pPr algn="l">
              <a:spcAft>
                <a:spcPts val="500"/>
              </a:spcAft>
              <a:defRPr sz="1700" b="0">
                <a:solidFill>
                  <a:srgbClr val="233343"/>
                </a:solidFill>
                <a:latin typeface="DejaVu Sans"/>
              </a:defRPr>
            </a:pPr>
            <a:r>
              <a:t>y Concepción</a:t>
            </a:r>
          </a:p>
        </p:txBody>
      </p:sp>
      <p:sp>
        <p:nvSpPr>
          <p:cNvPr id="21" name="Rounded Rectangle 20"/>
          <p:cNvSpPr/>
          <p:nvPr/>
        </p:nvSpPr>
        <p:spPr>
          <a:xfrm>
            <a:off x="8037575" y="1408176"/>
            <a:ext cx="3511296" cy="1627632"/>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37575" y="1408176"/>
            <a:ext cx="68580" cy="1627632"/>
          </a:xfrm>
          <a:prstGeom prst="rect">
            <a:avLst/>
          </a:prstGeom>
          <a:solidFill>
            <a:srgbClr val="B0781B"/>
          </a:solidFill>
          <a:ln w="12700">
            <a:solidFill>
              <a:srgbClr val="B07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6175" y="1527048"/>
            <a:ext cx="3072384" cy="438912"/>
          </a:xfrm>
          <a:prstGeom prst="rect">
            <a:avLst/>
          </a:prstGeom>
          <a:noFill/>
        </p:spPr>
        <p:txBody>
          <a:bodyPr wrap="square" lIns="27432" rIns="27432" tIns="9144" bIns="9144" anchor="ctr">
            <a:spAutoFit/>
          </a:bodyPr>
          <a:lstStyle/>
          <a:p>
            <a:pPr algn="l">
              <a:spcAft>
                <a:spcPts val="500"/>
              </a:spcAft>
              <a:defRPr sz="1900" b="1">
                <a:solidFill>
                  <a:srgbClr val="B0781B"/>
                </a:solidFill>
                <a:latin typeface="DejaVu Sans"/>
              </a:defRPr>
            </a:pPr>
            <a:r>
              <a:t>DC-01 / 02</a:t>
            </a:r>
          </a:p>
        </p:txBody>
      </p:sp>
      <p:sp>
        <p:nvSpPr>
          <p:cNvPr id="24" name="TextBox 23"/>
          <p:cNvSpPr txBox="1"/>
          <p:nvPr/>
        </p:nvSpPr>
        <p:spPr>
          <a:xfrm>
            <a:off x="8266175" y="2039112"/>
            <a:ext cx="3072384" cy="905256"/>
          </a:xfrm>
          <a:prstGeom prst="rect">
            <a:avLst/>
          </a:prstGeom>
          <a:noFill/>
        </p:spPr>
        <p:txBody>
          <a:bodyPr wrap="square" lIns="27432" rIns="27432" tIns="9144" bIns="9144" anchor="t">
            <a:spAutoFit/>
          </a:bodyPr>
          <a:lstStyle/>
          <a:p>
            <a:pPr algn="l">
              <a:spcAft>
                <a:spcPts val="500"/>
              </a:spcAft>
              <a:defRPr sz="1700" b="0">
                <a:solidFill>
                  <a:srgbClr val="233343"/>
                </a:solidFill>
                <a:latin typeface="DejaVu Sans"/>
              </a:defRPr>
            </a:pPr>
            <a:r>
              <a:t>Centro de datos 140 m²</a:t>
            </a:r>
          </a:p>
          <a:p>
            <a:pPr algn="l">
              <a:spcAft>
                <a:spcPts val="500"/>
              </a:spcAft>
              <a:defRPr sz="1700" b="0">
                <a:solidFill>
                  <a:srgbClr val="233343"/>
                </a:solidFill>
                <a:latin typeface="DejaVu Sans"/>
              </a:defRPr>
            </a:pPr>
            <a:r>
              <a:t>y sala de respaldo</a:t>
            </a:r>
          </a:p>
        </p:txBody>
      </p:sp>
      <p:sp>
        <p:nvSpPr>
          <p:cNvPr id="25" name="Rounded Rectangle 24"/>
          <p:cNvSpPr/>
          <p:nvPr/>
        </p:nvSpPr>
        <p:spPr>
          <a:xfrm>
            <a:off x="2459736" y="3694176"/>
            <a:ext cx="3511296" cy="1627632"/>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459736" y="3694176"/>
            <a:ext cx="68580" cy="1627632"/>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88336" y="3813048"/>
            <a:ext cx="3072384" cy="438912"/>
          </a:xfrm>
          <a:prstGeom prst="rect">
            <a:avLst/>
          </a:prstGeom>
          <a:noFill/>
        </p:spPr>
        <p:txBody>
          <a:bodyPr wrap="square" lIns="27432" rIns="27432" tIns="9144" bIns="9144" anchor="ctr">
            <a:spAutoFit/>
          </a:bodyPr>
          <a:lstStyle/>
          <a:p>
            <a:pPr algn="l">
              <a:spcAft>
                <a:spcPts val="500"/>
              </a:spcAft>
              <a:defRPr sz="1900" b="1">
                <a:solidFill>
                  <a:srgbClr val="6D4D8F"/>
                </a:solidFill>
                <a:latin typeface="DejaVu Sans"/>
              </a:defRPr>
            </a:pPr>
            <a:r>
              <a:t>CLD-01 / 02</a:t>
            </a:r>
          </a:p>
        </p:txBody>
      </p:sp>
      <p:sp>
        <p:nvSpPr>
          <p:cNvPr id="28" name="TextBox 27"/>
          <p:cNvSpPr txBox="1"/>
          <p:nvPr/>
        </p:nvSpPr>
        <p:spPr>
          <a:xfrm>
            <a:off x="2688336" y="4325112"/>
            <a:ext cx="3072384" cy="905256"/>
          </a:xfrm>
          <a:prstGeom prst="rect">
            <a:avLst/>
          </a:prstGeom>
          <a:noFill/>
        </p:spPr>
        <p:txBody>
          <a:bodyPr wrap="square" lIns="27432" rIns="27432" tIns="9144" bIns="9144" anchor="t">
            <a:spAutoFit/>
          </a:bodyPr>
          <a:lstStyle/>
          <a:p>
            <a:pPr algn="l">
              <a:spcAft>
                <a:spcPts val="500"/>
              </a:spcAft>
              <a:defRPr sz="1700" b="0">
                <a:solidFill>
                  <a:srgbClr val="233343"/>
                </a:solidFill>
                <a:latin typeface="DejaVu Sans"/>
              </a:defRPr>
            </a:pPr>
            <a:r>
              <a:t>Nube Santiago</a:t>
            </a:r>
          </a:p>
          <a:p>
            <a:pPr algn="l">
              <a:spcAft>
                <a:spcPts val="500"/>
              </a:spcAft>
              <a:defRPr sz="1700" b="0">
                <a:solidFill>
                  <a:srgbClr val="233343"/>
                </a:solidFill>
                <a:latin typeface="DejaVu Sans"/>
              </a:defRPr>
            </a:pPr>
            <a:r>
              <a:t>y recuperación candidata</a:t>
            </a:r>
          </a:p>
        </p:txBody>
      </p:sp>
      <p:sp>
        <p:nvSpPr>
          <p:cNvPr id="29" name="Rounded Rectangle 28"/>
          <p:cNvSpPr/>
          <p:nvPr/>
        </p:nvSpPr>
        <p:spPr>
          <a:xfrm>
            <a:off x="6190488" y="3694176"/>
            <a:ext cx="3511296" cy="1627632"/>
          </a:xfrm>
          <a:prstGeom prst="roundRect">
            <a:avLst/>
          </a:prstGeom>
          <a:solidFill>
            <a:srgbClr val="FAEBEA"/>
          </a:solidFill>
          <a:ln w="12700">
            <a:solidFill>
              <a:srgbClr val="FA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0488" y="3694176"/>
            <a:ext cx="68580" cy="1627632"/>
          </a:xfrm>
          <a:prstGeom prst="rect">
            <a:avLst/>
          </a:prstGeom>
          <a:solidFill>
            <a:srgbClr val="AE4643"/>
          </a:solidFill>
          <a:ln w="12700">
            <a:solidFill>
              <a:srgbClr val="AE4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3813048"/>
            <a:ext cx="3072384" cy="438912"/>
          </a:xfrm>
          <a:prstGeom prst="rect">
            <a:avLst/>
          </a:prstGeom>
          <a:noFill/>
        </p:spPr>
        <p:txBody>
          <a:bodyPr wrap="square" lIns="27432" rIns="27432" tIns="9144" bIns="9144" anchor="ctr">
            <a:spAutoFit/>
          </a:bodyPr>
          <a:lstStyle/>
          <a:p>
            <a:pPr algn="l">
              <a:spcAft>
                <a:spcPts val="500"/>
              </a:spcAft>
              <a:defRPr sz="1900" b="1">
                <a:solidFill>
                  <a:srgbClr val="AE4643"/>
                </a:solidFill>
                <a:latin typeface="DejaVu Sans"/>
              </a:defRPr>
            </a:pPr>
            <a:r>
              <a:t>EXT-01</a:t>
            </a:r>
          </a:p>
        </p:txBody>
      </p:sp>
      <p:sp>
        <p:nvSpPr>
          <p:cNvPr id="32" name="TextBox 31"/>
          <p:cNvSpPr txBox="1"/>
          <p:nvPr/>
        </p:nvSpPr>
        <p:spPr>
          <a:xfrm>
            <a:off x="6419088" y="4325112"/>
            <a:ext cx="3072384" cy="905256"/>
          </a:xfrm>
          <a:prstGeom prst="rect">
            <a:avLst/>
          </a:prstGeom>
          <a:noFill/>
        </p:spPr>
        <p:txBody>
          <a:bodyPr wrap="square" lIns="27432" rIns="27432" tIns="9144" bIns="9144" anchor="t">
            <a:spAutoFit/>
          </a:bodyPr>
          <a:lstStyle/>
          <a:p>
            <a:pPr algn="l">
              <a:spcAft>
                <a:spcPts val="500"/>
              </a:spcAft>
              <a:defRPr sz="1700" b="0">
                <a:solidFill>
                  <a:srgbClr val="233343"/>
                </a:solidFill>
                <a:latin typeface="DejaVu Sans"/>
              </a:defRPr>
            </a:pPr>
            <a:r>
              <a:t>Pagos, transportistas,</a:t>
            </a:r>
          </a:p>
          <a:p>
            <a:pPr algn="l">
              <a:spcAft>
                <a:spcPts val="500"/>
              </a:spcAft>
              <a:defRPr sz="1700" b="0">
                <a:solidFill>
                  <a:srgbClr val="233343"/>
                </a:solidFill>
                <a:latin typeface="DejaVu Sans"/>
              </a:defRPr>
            </a:pPr>
            <a:r>
              <a:t>proveedores y otros</a:t>
            </a:r>
          </a:p>
        </p:txBody>
      </p:sp>
      <p:sp>
        <p:nvSpPr>
          <p:cNvPr id="33" name="TextBox 32"/>
          <p:cNvSpPr txBox="1"/>
          <p:nvPr/>
        </p:nvSpPr>
        <p:spPr>
          <a:xfrm>
            <a:off x="740664" y="5614416"/>
            <a:ext cx="10652760" cy="329184"/>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Rutas y enlaces: propuestos en el diagrama; deben confirmarse con el inventario WAN.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Azure es la referencia; Google sigue en comparación</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La nube y el broker no están adjudicados</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§4.1.1 y §§4.2–4.3</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15</a:t>
            </a:r>
          </a:p>
        </p:txBody>
      </p:sp>
      <p:sp>
        <p:nvSpPr>
          <p:cNvPr id="9" name="Rounded Rectangle 8"/>
          <p:cNvSpPr/>
          <p:nvPr/>
        </p:nvSpPr>
        <p:spPr>
          <a:xfrm>
            <a:off x="649224" y="1536192"/>
            <a:ext cx="5230368" cy="2971800"/>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 y="1536192"/>
            <a:ext cx="68580" cy="2971800"/>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655064"/>
            <a:ext cx="4791456" cy="438912"/>
          </a:xfrm>
          <a:prstGeom prst="rect">
            <a:avLst/>
          </a:prstGeom>
          <a:noFill/>
        </p:spPr>
        <p:txBody>
          <a:bodyPr wrap="square" lIns="27432" rIns="27432" tIns="9144" bIns="9144" anchor="ctr">
            <a:spAutoFit/>
          </a:bodyPr>
          <a:lstStyle/>
          <a:p>
            <a:pPr algn="l">
              <a:spcAft>
                <a:spcPts val="500"/>
              </a:spcAft>
              <a:defRPr sz="2100" b="1">
                <a:solidFill>
                  <a:srgbClr val="1C6896"/>
                </a:solidFill>
                <a:latin typeface="DejaVu Sans"/>
              </a:defRPr>
            </a:pPr>
            <a:r>
              <a:t>AZURE · REFERENCIA</a:t>
            </a:r>
          </a:p>
        </p:txBody>
      </p:sp>
      <p:sp>
        <p:nvSpPr>
          <p:cNvPr id="12" name="TextBox 11"/>
          <p:cNvSpPr txBox="1"/>
          <p:nvPr/>
        </p:nvSpPr>
        <p:spPr>
          <a:xfrm>
            <a:off x="877824" y="2167128"/>
            <a:ext cx="4791456" cy="2249424"/>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Chile Central primaria</a:t>
            </a:r>
          </a:p>
          <a:p>
            <a:pPr algn="l">
              <a:spcAft>
                <a:spcPts val="500"/>
              </a:spcAft>
              <a:defRPr sz="1800" b="0">
                <a:solidFill>
                  <a:srgbClr val="233343"/>
                </a:solidFill>
                <a:latin typeface="DejaVu Sans"/>
              </a:defRPr>
            </a:pPr>
            <a:r>
              <a:t>Brazil South recuperación candidata</a:t>
            </a:r>
          </a:p>
          <a:p>
            <a:pPr algn="l">
              <a:spcAft>
                <a:spcPts val="500"/>
              </a:spcAft>
              <a:defRPr sz="1800" b="0">
                <a:solidFill>
                  <a:srgbClr val="233343"/>
                </a:solidFill>
                <a:latin typeface="DejaVu Sans"/>
              </a:defRPr>
            </a:pPr>
            <a:r>
              <a:t>Alianza y productos por acreditar</a:t>
            </a:r>
          </a:p>
        </p:txBody>
      </p:sp>
      <p:sp>
        <p:nvSpPr>
          <p:cNvPr id="13" name="Rounded Rectangle 12"/>
          <p:cNvSpPr/>
          <p:nvPr/>
        </p:nvSpPr>
        <p:spPr>
          <a:xfrm>
            <a:off x="6291072" y="1536192"/>
            <a:ext cx="5230368" cy="2971800"/>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91072" y="1536192"/>
            <a:ext cx="68580" cy="29718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1655064"/>
            <a:ext cx="4791456" cy="438912"/>
          </a:xfrm>
          <a:prstGeom prst="rect">
            <a:avLst/>
          </a:prstGeom>
          <a:noFill/>
        </p:spPr>
        <p:txBody>
          <a:bodyPr wrap="square" lIns="27432" rIns="27432" tIns="9144" bIns="9144" anchor="ctr">
            <a:spAutoFit/>
          </a:bodyPr>
          <a:lstStyle/>
          <a:p>
            <a:pPr algn="l">
              <a:spcAft>
                <a:spcPts val="500"/>
              </a:spcAft>
              <a:defRPr sz="2100" b="1">
                <a:solidFill>
                  <a:srgbClr val="127F78"/>
                </a:solidFill>
                <a:latin typeface="DejaVu Sans"/>
              </a:defRPr>
            </a:pPr>
            <a:r>
              <a:t>GOOGLE · ALTERNATIVA</a:t>
            </a:r>
          </a:p>
        </p:txBody>
      </p:sp>
      <p:sp>
        <p:nvSpPr>
          <p:cNvPr id="16" name="TextBox 15"/>
          <p:cNvSpPr txBox="1"/>
          <p:nvPr/>
        </p:nvSpPr>
        <p:spPr>
          <a:xfrm>
            <a:off x="6519672" y="2167128"/>
            <a:ext cx="4791456" cy="2249424"/>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Santiago y São Paulo por comparar</a:t>
            </a:r>
          </a:p>
          <a:p>
            <a:pPr algn="l">
              <a:spcAft>
                <a:spcPts val="500"/>
              </a:spcAft>
              <a:defRPr sz="1800" b="0">
                <a:solidFill>
                  <a:srgbClr val="233343"/>
                </a:solidFill>
                <a:latin typeface="DejaVu Sans"/>
              </a:defRPr>
            </a:pPr>
            <a:r>
              <a:t>Kafka administrado en Santiago</a:t>
            </a:r>
          </a:p>
          <a:p>
            <a:pPr algn="l">
              <a:spcAft>
                <a:spcPts val="500"/>
              </a:spcAft>
              <a:defRPr sz="1800" b="0">
                <a:solidFill>
                  <a:srgbClr val="233343"/>
                </a:solidFill>
                <a:latin typeface="DejaVu Sans"/>
              </a:defRPr>
            </a:pPr>
            <a:r>
              <a:t>Comprobar el conjunto completo</a:t>
            </a:r>
          </a:p>
        </p:txBody>
      </p:sp>
      <p:sp>
        <p:nvSpPr>
          <p:cNvPr id="17" name="Rounded Rectangle 16"/>
          <p:cNvSpPr/>
          <p:nvPr/>
        </p:nvSpPr>
        <p:spPr>
          <a:xfrm>
            <a:off x="667512" y="4800600"/>
            <a:ext cx="10844784" cy="83210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919472"/>
            <a:ext cx="10451592" cy="566928"/>
          </a:xfrm>
          <a:prstGeom prst="rect">
            <a:avLst/>
          </a:prstGeom>
          <a:noFill/>
        </p:spPr>
        <p:txBody>
          <a:bodyPr wrap="square" lIns="27432" rIns="27432" tIns="9144" bIns="9144" anchor="ctr">
            <a:spAutoFit/>
          </a:bodyPr>
          <a:lstStyle/>
          <a:p>
            <a:pPr algn="ctr">
              <a:spcAft>
                <a:spcPts val="500"/>
              </a:spcAft>
              <a:defRPr sz="1800" b="1">
                <a:solidFill>
                  <a:srgbClr val="162A41"/>
                </a:solidFill>
                <a:latin typeface="DejaVu Sans"/>
              </a:defRPr>
            </a:pPr>
            <a:r>
              <a:t>Cierre: pruebas por producto y región + residencia financiera + recuperación + operación híbrida.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Tecnologías candidatas, no compras cerradas</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T-11 precisará versiones, cantidades, licencias y soporte</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tabla 4.6; Formulario T-11</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16</a:t>
            </a:r>
          </a:p>
        </p:txBody>
      </p:sp>
      <p:sp>
        <p:nvSpPr>
          <p:cNvPr id="9" name="Rounded Rectangle 8"/>
          <p:cNvSpPr/>
          <p:nvPr/>
        </p:nvSpPr>
        <p:spPr>
          <a:xfrm>
            <a:off x="640080" y="1325880"/>
            <a:ext cx="5257800" cy="1243584"/>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325880"/>
            <a:ext cx="68580" cy="1243584"/>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44752"/>
            <a:ext cx="4818888" cy="438912"/>
          </a:xfrm>
          <a:prstGeom prst="rect">
            <a:avLst/>
          </a:prstGeom>
          <a:noFill/>
        </p:spPr>
        <p:txBody>
          <a:bodyPr wrap="square" lIns="27432" rIns="27432" tIns="9144" bIns="9144" anchor="ctr">
            <a:spAutoFit/>
          </a:bodyPr>
          <a:lstStyle/>
          <a:p>
            <a:pPr algn="l">
              <a:spcAft>
                <a:spcPts val="500"/>
              </a:spcAft>
              <a:defRPr sz="1900" b="1">
                <a:solidFill>
                  <a:srgbClr val="127F78"/>
                </a:solidFill>
                <a:latin typeface="DejaVu Sans"/>
              </a:defRPr>
            </a:pPr>
            <a:r>
              <a:t>Aplicación</a:t>
            </a:r>
          </a:p>
        </p:txBody>
      </p:sp>
      <p:sp>
        <p:nvSpPr>
          <p:cNvPr id="12" name="TextBox 11"/>
          <p:cNvSpPr txBox="1"/>
          <p:nvPr/>
        </p:nvSpPr>
        <p:spPr>
          <a:xfrm>
            <a:off x="868680" y="1956815"/>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Java 25 · Spring Boot 4 · React</a:t>
            </a:r>
          </a:p>
        </p:txBody>
      </p:sp>
      <p:sp>
        <p:nvSpPr>
          <p:cNvPr id="13" name="Rounded Rectangle 12"/>
          <p:cNvSpPr/>
          <p:nvPr/>
        </p:nvSpPr>
        <p:spPr>
          <a:xfrm>
            <a:off x="6281928" y="1325880"/>
            <a:ext cx="5257800" cy="1243584"/>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81928" y="1325880"/>
            <a:ext cx="68580" cy="1243584"/>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1444752"/>
            <a:ext cx="4818888" cy="438912"/>
          </a:xfrm>
          <a:prstGeom prst="rect">
            <a:avLst/>
          </a:prstGeom>
          <a:noFill/>
        </p:spPr>
        <p:txBody>
          <a:bodyPr wrap="square" lIns="27432" rIns="27432" tIns="9144" bIns="9144" anchor="ctr">
            <a:spAutoFit/>
          </a:bodyPr>
          <a:lstStyle/>
          <a:p>
            <a:pPr algn="l">
              <a:spcAft>
                <a:spcPts val="500"/>
              </a:spcAft>
              <a:defRPr sz="1900" b="1">
                <a:solidFill>
                  <a:srgbClr val="1C6896"/>
                </a:solidFill>
                <a:latin typeface="DejaVu Sans"/>
              </a:defRPr>
            </a:pPr>
            <a:r>
              <a:t>Cómputo / API</a:t>
            </a:r>
          </a:p>
        </p:txBody>
      </p:sp>
      <p:sp>
        <p:nvSpPr>
          <p:cNvPr id="16" name="TextBox 15"/>
          <p:cNvSpPr txBox="1"/>
          <p:nvPr/>
        </p:nvSpPr>
        <p:spPr>
          <a:xfrm>
            <a:off x="6510528" y="1956815"/>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AKS · API Management</a:t>
            </a:r>
          </a:p>
        </p:txBody>
      </p:sp>
      <p:sp>
        <p:nvSpPr>
          <p:cNvPr id="17" name="Rounded Rectangle 16"/>
          <p:cNvSpPr/>
          <p:nvPr/>
        </p:nvSpPr>
        <p:spPr>
          <a:xfrm>
            <a:off x="640080" y="2770632"/>
            <a:ext cx="5257800" cy="1243584"/>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2770632"/>
            <a:ext cx="68580" cy="1243584"/>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2889504"/>
            <a:ext cx="4818888" cy="438912"/>
          </a:xfrm>
          <a:prstGeom prst="rect">
            <a:avLst/>
          </a:prstGeom>
          <a:noFill/>
        </p:spPr>
        <p:txBody>
          <a:bodyPr wrap="square" lIns="27432" rIns="27432" tIns="9144" bIns="9144" anchor="ctr">
            <a:spAutoFit/>
          </a:bodyPr>
          <a:lstStyle/>
          <a:p>
            <a:pPr algn="l">
              <a:spcAft>
                <a:spcPts val="500"/>
              </a:spcAft>
              <a:defRPr sz="1900" b="1">
                <a:solidFill>
                  <a:srgbClr val="6D4D8F"/>
                </a:solidFill>
                <a:latin typeface="DejaVu Sans"/>
              </a:defRPr>
            </a:pPr>
            <a:r>
              <a:t>Mensajería</a:t>
            </a:r>
          </a:p>
        </p:txBody>
      </p:sp>
      <p:sp>
        <p:nvSpPr>
          <p:cNvPr id="20" name="TextBox 19"/>
          <p:cNvSpPr txBox="1"/>
          <p:nvPr/>
        </p:nvSpPr>
        <p:spPr>
          <a:xfrm>
            <a:off x="868680" y="3401568"/>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Kafka / Event Hubs / Service Bus</a:t>
            </a:r>
          </a:p>
        </p:txBody>
      </p:sp>
      <p:sp>
        <p:nvSpPr>
          <p:cNvPr id="21" name="Rounded Rectangle 20"/>
          <p:cNvSpPr/>
          <p:nvPr/>
        </p:nvSpPr>
        <p:spPr>
          <a:xfrm>
            <a:off x="6281928" y="2770632"/>
            <a:ext cx="5257800" cy="124358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1928" y="2770632"/>
            <a:ext cx="68580" cy="1243584"/>
          </a:xfrm>
          <a:prstGeom prst="rect">
            <a:avLst/>
          </a:prstGeom>
          <a:solidFill>
            <a:srgbClr val="B0781B"/>
          </a:solidFill>
          <a:ln w="12700">
            <a:solidFill>
              <a:srgbClr val="B07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889504"/>
            <a:ext cx="4818888" cy="438912"/>
          </a:xfrm>
          <a:prstGeom prst="rect">
            <a:avLst/>
          </a:prstGeom>
          <a:noFill/>
        </p:spPr>
        <p:txBody>
          <a:bodyPr wrap="square" lIns="27432" rIns="27432" tIns="9144" bIns="9144" anchor="ctr">
            <a:spAutoFit/>
          </a:bodyPr>
          <a:lstStyle/>
          <a:p>
            <a:pPr algn="l">
              <a:spcAft>
                <a:spcPts val="500"/>
              </a:spcAft>
              <a:defRPr sz="1900" b="1">
                <a:solidFill>
                  <a:srgbClr val="B0781B"/>
                </a:solidFill>
                <a:latin typeface="DejaVu Sans"/>
              </a:defRPr>
            </a:pPr>
            <a:r>
              <a:t>Datos / BI</a:t>
            </a:r>
          </a:p>
        </p:txBody>
      </p:sp>
      <p:sp>
        <p:nvSpPr>
          <p:cNvPr id="24" name="TextBox 23"/>
          <p:cNvSpPr txBox="1"/>
          <p:nvPr/>
        </p:nvSpPr>
        <p:spPr>
          <a:xfrm>
            <a:off x="6510528" y="3401568"/>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PostgreSQL · Redis · Lake · Power BI</a:t>
            </a:r>
          </a:p>
        </p:txBody>
      </p:sp>
      <p:sp>
        <p:nvSpPr>
          <p:cNvPr id="25" name="Rounded Rectangle 24"/>
          <p:cNvSpPr/>
          <p:nvPr/>
        </p:nvSpPr>
        <p:spPr>
          <a:xfrm>
            <a:off x="640080" y="4215384"/>
            <a:ext cx="5257800" cy="1243584"/>
          </a:xfrm>
          <a:prstGeom prst="roundRect">
            <a:avLst/>
          </a:prstGeom>
          <a:solidFill>
            <a:srgbClr val="FAEBEA"/>
          </a:solidFill>
          <a:ln w="12700">
            <a:solidFill>
              <a:srgbClr val="FA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4215384"/>
            <a:ext cx="68580" cy="1243584"/>
          </a:xfrm>
          <a:prstGeom prst="rect">
            <a:avLst/>
          </a:prstGeom>
          <a:solidFill>
            <a:srgbClr val="AE4643"/>
          </a:solidFill>
          <a:ln w="12700">
            <a:solidFill>
              <a:srgbClr val="AE4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334256"/>
            <a:ext cx="4818888" cy="438912"/>
          </a:xfrm>
          <a:prstGeom prst="rect">
            <a:avLst/>
          </a:prstGeom>
          <a:noFill/>
        </p:spPr>
        <p:txBody>
          <a:bodyPr wrap="square" lIns="27432" rIns="27432" tIns="9144" bIns="9144" anchor="ctr">
            <a:spAutoFit/>
          </a:bodyPr>
          <a:lstStyle/>
          <a:p>
            <a:pPr algn="l">
              <a:spcAft>
                <a:spcPts val="500"/>
              </a:spcAft>
              <a:defRPr sz="1900" b="1">
                <a:solidFill>
                  <a:srgbClr val="AE4643"/>
                </a:solidFill>
                <a:latin typeface="DejaVu Sans"/>
              </a:defRPr>
            </a:pPr>
            <a:r>
              <a:t>Identidad</a:t>
            </a:r>
          </a:p>
        </p:txBody>
      </p:sp>
      <p:sp>
        <p:nvSpPr>
          <p:cNvPr id="28" name="TextBox 27"/>
          <p:cNvSpPr txBox="1"/>
          <p:nvPr/>
        </p:nvSpPr>
        <p:spPr>
          <a:xfrm>
            <a:off x="868680" y="4846320"/>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Federación · Entra ID · Key Vault</a:t>
            </a:r>
          </a:p>
        </p:txBody>
      </p:sp>
      <p:sp>
        <p:nvSpPr>
          <p:cNvPr id="29" name="Rounded Rectangle 28"/>
          <p:cNvSpPr/>
          <p:nvPr/>
        </p:nvSpPr>
        <p:spPr>
          <a:xfrm>
            <a:off x="6281928" y="4215384"/>
            <a:ext cx="5257800" cy="1243584"/>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81928" y="4215384"/>
            <a:ext cx="68580" cy="1243584"/>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0528" y="4334256"/>
            <a:ext cx="4818888" cy="438912"/>
          </a:xfrm>
          <a:prstGeom prst="rect">
            <a:avLst/>
          </a:prstGeom>
          <a:noFill/>
        </p:spPr>
        <p:txBody>
          <a:bodyPr wrap="square" lIns="27432" rIns="27432" tIns="9144" bIns="9144" anchor="ctr">
            <a:spAutoFit/>
          </a:bodyPr>
          <a:lstStyle/>
          <a:p>
            <a:pPr algn="l">
              <a:spcAft>
                <a:spcPts val="500"/>
              </a:spcAft>
              <a:defRPr sz="1900" b="1">
                <a:solidFill>
                  <a:srgbClr val="127F78"/>
                </a:solidFill>
                <a:latin typeface="DejaVu Sans"/>
              </a:defRPr>
            </a:pPr>
            <a:r>
              <a:t>Operación</a:t>
            </a:r>
          </a:p>
        </p:txBody>
      </p:sp>
      <p:sp>
        <p:nvSpPr>
          <p:cNvPr id="32" name="TextBox 31"/>
          <p:cNvSpPr txBox="1"/>
          <p:nvPr/>
        </p:nvSpPr>
        <p:spPr>
          <a:xfrm>
            <a:off x="6510528" y="4846320"/>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OpenTelemetry · Monitor · Terraform</a:t>
            </a:r>
          </a:p>
        </p:txBody>
      </p:sp>
      <p:sp>
        <p:nvSpPr>
          <p:cNvPr id="33" name="TextBox 32"/>
          <p:cNvSpPr txBox="1"/>
          <p:nvPr/>
        </p:nvSpPr>
        <p:spPr>
          <a:xfrm>
            <a:off x="777240" y="5897880"/>
            <a:ext cx="10698480" cy="265176"/>
          </a:xfrm>
          <a:prstGeom prst="rect">
            <a:avLst/>
          </a:prstGeom>
          <a:noFill/>
        </p:spPr>
        <p:txBody>
          <a:bodyPr wrap="square" lIns="27432" rIns="27432" tIns="9144" bIns="9144" anchor="ctr">
            <a:spAutoFit/>
          </a:bodyPr>
          <a:lstStyle/>
          <a:p>
            <a:pPr algn="l">
              <a:spcAft>
                <a:spcPts val="500"/>
              </a:spcAft>
              <a:defRPr sz="1300" b="0">
                <a:solidFill>
                  <a:srgbClr val="5C6D7C"/>
                </a:solidFill>
                <a:latin typeface="DejaVu Sans"/>
              </a:defRPr>
            </a:pPr>
            <a:r>
              <a:t>Pruebas pendientes: disponibilidad regional, compatibilidad, continuidad, competencias y seguridad.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Las seis decisiones y cómo se comprobarán</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Una decisión de arquitectura debe poder revisarse con evidencia</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tabla 4.5</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17</a:t>
            </a:r>
          </a:p>
        </p:txBody>
      </p:sp>
      <p:sp>
        <p:nvSpPr>
          <p:cNvPr id="9" name="Rounded Rectangle 8"/>
          <p:cNvSpPr/>
          <p:nvPr/>
        </p:nvSpPr>
        <p:spPr>
          <a:xfrm>
            <a:off x="640080" y="1325880"/>
            <a:ext cx="5257800" cy="1243584"/>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325880"/>
            <a:ext cx="68580" cy="1243584"/>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44752"/>
            <a:ext cx="4818888" cy="438912"/>
          </a:xfrm>
          <a:prstGeom prst="rect">
            <a:avLst/>
          </a:prstGeom>
          <a:noFill/>
        </p:spPr>
        <p:txBody>
          <a:bodyPr wrap="square" lIns="27432" rIns="27432" tIns="9144" bIns="9144" anchor="ctr">
            <a:spAutoFit/>
          </a:bodyPr>
          <a:lstStyle/>
          <a:p>
            <a:pPr algn="l">
              <a:spcAft>
                <a:spcPts val="500"/>
              </a:spcAft>
              <a:defRPr sz="1900" b="1">
                <a:solidFill>
                  <a:srgbClr val="127F78"/>
                </a:solidFill>
                <a:latin typeface="DejaVu Sans"/>
              </a:defRPr>
            </a:pPr>
            <a:r>
              <a:t>01 · Migración por olas</a:t>
            </a:r>
          </a:p>
        </p:txBody>
      </p:sp>
      <p:sp>
        <p:nvSpPr>
          <p:cNvPr id="12" name="TextBox 11"/>
          <p:cNvSpPr txBox="1"/>
          <p:nvPr/>
        </p:nvSpPr>
        <p:spPr>
          <a:xfrm>
            <a:off x="868680" y="1956815"/>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Mapa de interfaces y reversión</a:t>
            </a:r>
          </a:p>
        </p:txBody>
      </p:sp>
      <p:sp>
        <p:nvSpPr>
          <p:cNvPr id="13" name="Rounded Rectangle 12"/>
          <p:cNvSpPr/>
          <p:nvPr/>
        </p:nvSpPr>
        <p:spPr>
          <a:xfrm>
            <a:off x="6281928" y="1325880"/>
            <a:ext cx="5257800" cy="1243584"/>
          </a:xfrm>
          <a:prstGeom prst="roundRect">
            <a:avLst/>
          </a:prstGeom>
          <a:solidFill>
            <a:srgbClr val="F0EAF8"/>
          </a:solidFill>
          <a:ln w="12700">
            <a:solidFill>
              <a:srgbClr val="F0EA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81928" y="1325880"/>
            <a:ext cx="68580" cy="1243584"/>
          </a:xfrm>
          <a:prstGeom prst="rect">
            <a:avLst/>
          </a:prstGeom>
          <a:solidFill>
            <a:srgbClr val="6D4D8F"/>
          </a:solidFill>
          <a:ln w="12700">
            <a:solidFill>
              <a:srgbClr val="6D4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1444752"/>
            <a:ext cx="4818888" cy="438912"/>
          </a:xfrm>
          <a:prstGeom prst="rect">
            <a:avLst/>
          </a:prstGeom>
          <a:noFill/>
        </p:spPr>
        <p:txBody>
          <a:bodyPr wrap="square" lIns="27432" rIns="27432" tIns="9144" bIns="9144" anchor="ctr">
            <a:spAutoFit/>
          </a:bodyPr>
          <a:lstStyle/>
          <a:p>
            <a:pPr algn="l">
              <a:spcAft>
                <a:spcPts val="500"/>
              </a:spcAft>
              <a:defRPr sz="1900" b="1">
                <a:solidFill>
                  <a:srgbClr val="6D4D8F"/>
                </a:solidFill>
                <a:latin typeface="DejaVu Sans"/>
              </a:defRPr>
            </a:pPr>
            <a:r>
              <a:t>02 · Datos separados</a:t>
            </a:r>
          </a:p>
        </p:txBody>
      </p:sp>
      <p:sp>
        <p:nvSpPr>
          <p:cNvPr id="16" name="TextBox 15"/>
          <p:cNvSpPr txBox="1"/>
          <p:nvPr/>
        </p:nvSpPr>
        <p:spPr>
          <a:xfrm>
            <a:off x="6510528" y="1956815"/>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Permisos y denegación auditada</a:t>
            </a:r>
          </a:p>
        </p:txBody>
      </p:sp>
      <p:sp>
        <p:nvSpPr>
          <p:cNvPr id="17" name="Rounded Rectangle 16"/>
          <p:cNvSpPr/>
          <p:nvPr/>
        </p:nvSpPr>
        <p:spPr>
          <a:xfrm>
            <a:off x="640080" y="2770632"/>
            <a:ext cx="5257800" cy="1243584"/>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2770632"/>
            <a:ext cx="68580" cy="1243584"/>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2889504"/>
            <a:ext cx="4818888" cy="438912"/>
          </a:xfrm>
          <a:prstGeom prst="rect">
            <a:avLst/>
          </a:prstGeom>
          <a:noFill/>
        </p:spPr>
        <p:txBody>
          <a:bodyPr wrap="square" lIns="27432" rIns="27432" tIns="9144" bIns="9144" anchor="ctr">
            <a:spAutoFit/>
          </a:bodyPr>
          <a:lstStyle/>
          <a:p>
            <a:pPr algn="l">
              <a:spcAft>
                <a:spcPts val="500"/>
              </a:spcAft>
              <a:defRPr sz="1900" b="1">
                <a:solidFill>
                  <a:srgbClr val="1C6896"/>
                </a:solidFill>
                <a:latin typeface="DejaVu Sans"/>
              </a:defRPr>
            </a:pPr>
            <a:r>
              <a:t>03 · Contratos mixtos</a:t>
            </a:r>
          </a:p>
        </p:txBody>
      </p:sp>
      <p:sp>
        <p:nvSpPr>
          <p:cNvPr id="20" name="TextBox 19"/>
          <p:cNvSpPr txBox="1"/>
          <p:nvPr/>
        </p:nvSpPr>
        <p:spPr>
          <a:xfrm>
            <a:off x="868680" y="3401568"/>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Latencia, duplicados y reintento</a:t>
            </a:r>
          </a:p>
        </p:txBody>
      </p:sp>
      <p:sp>
        <p:nvSpPr>
          <p:cNvPr id="21" name="Rounded Rectangle 20"/>
          <p:cNvSpPr/>
          <p:nvPr/>
        </p:nvSpPr>
        <p:spPr>
          <a:xfrm>
            <a:off x="6281928" y="2770632"/>
            <a:ext cx="5257800" cy="1243584"/>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1928" y="2770632"/>
            <a:ext cx="68580" cy="1243584"/>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2889504"/>
            <a:ext cx="4818888" cy="438912"/>
          </a:xfrm>
          <a:prstGeom prst="rect">
            <a:avLst/>
          </a:prstGeom>
          <a:noFill/>
        </p:spPr>
        <p:txBody>
          <a:bodyPr wrap="square" lIns="27432" rIns="27432" tIns="9144" bIns="9144" anchor="ctr">
            <a:spAutoFit/>
          </a:bodyPr>
          <a:lstStyle/>
          <a:p>
            <a:pPr algn="l">
              <a:spcAft>
                <a:spcPts val="500"/>
              </a:spcAft>
              <a:defRPr sz="1900" b="1">
                <a:solidFill>
                  <a:srgbClr val="127F78"/>
                </a:solidFill>
                <a:latin typeface="DejaVu Sans"/>
              </a:defRPr>
            </a:pPr>
            <a:r>
              <a:t>04 · POS local</a:t>
            </a:r>
          </a:p>
        </p:txBody>
      </p:sp>
      <p:sp>
        <p:nvSpPr>
          <p:cNvPr id="24" name="TextBox 23"/>
          <p:cNvSpPr txBox="1"/>
          <p:nvPr/>
        </p:nvSpPr>
        <p:spPr>
          <a:xfrm>
            <a:off x="6510528" y="3401568"/>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Piloto 24 h y conciliación</a:t>
            </a:r>
          </a:p>
        </p:txBody>
      </p:sp>
      <p:sp>
        <p:nvSpPr>
          <p:cNvPr id="25" name="Rounded Rectangle 24"/>
          <p:cNvSpPr/>
          <p:nvPr/>
        </p:nvSpPr>
        <p:spPr>
          <a:xfrm>
            <a:off x="640080" y="4215384"/>
            <a:ext cx="5257800" cy="124358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4215384"/>
            <a:ext cx="68580" cy="1243584"/>
          </a:xfrm>
          <a:prstGeom prst="rect">
            <a:avLst/>
          </a:prstGeom>
          <a:solidFill>
            <a:srgbClr val="B0781B"/>
          </a:solidFill>
          <a:ln w="12700">
            <a:solidFill>
              <a:srgbClr val="B07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334256"/>
            <a:ext cx="4818888" cy="438912"/>
          </a:xfrm>
          <a:prstGeom prst="rect">
            <a:avLst/>
          </a:prstGeom>
          <a:noFill/>
        </p:spPr>
        <p:txBody>
          <a:bodyPr wrap="square" lIns="27432" rIns="27432" tIns="9144" bIns="9144" anchor="ctr">
            <a:spAutoFit/>
          </a:bodyPr>
          <a:lstStyle/>
          <a:p>
            <a:pPr algn="l">
              <a:spcAft>
                <a:spcPts val="500"/>
              </a:spcAft>
              <a:defRPr sz="1900" b="1">
                <a:solidFill>
                  <a:srgbClr val="B0781B"/>
                </a:solidFill>
                <a:latin typeface="DejaVu Sans"/>
              </a:defRPr>
            </a:pPr>
            <a:r>
              <a:t>05 · Partición selectiva</a:t>
            </a:r>
          </a:p>
        </p:txBody>
      </p:sp>
      <p:sp>
        <p:nvSpPr>
          <p:cNvPr id="28" name="TextBox 27"/>
          <p:cNvSpPr txBox="1"/>
          <p:nvPr/>
        </p:nvSpPr>
        <p:spPr>
          <a:xfrm>
            <a:off x="868680" y="4846320"/>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Carga y falla aislada</a:t>
            </a:r>
          </a:p>
        </p:txBody>
      </p:sp>
      <p:sp>
        <p:nvSpPr>
          <p:cNvPr id="29" name="Rounded Rectangle 28"/>
          <p:cNvSpPr/>
          <p:nvPr/>
        </p:nvSpPr>
        <p:spPr>
          <a:xfrm>
            <a:off x="6281928" y="4215384"/>
            <a:ext cx="5257800" cy="1243584"/>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81928" y="4215384"/>
            <a:ext cx="68580" cy="1243584"/>
          </a:xfrm>
          <a:prstGeom prst="rect">
            <a:avLst/>
          </a:prstGeom>
          <a:solidFill>
            <a:srgbClr val="1C6896"/>
          </a:solidFill>
          <a:ln w="12700">
            <a:solidFill>
              <a:srgbClr val="1C6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0528" y="4334256"/>
            <a:ext cx="4818888" cy="438912"/>
          </a:xfrm>
          <a:prstGeom prst="rect">
            <a:avLst/>
          </a:prstGeom>
          <a:noFill/>
        </p:spPr>
        <p:txBody>
          <a:bodyPr wrap="square" lIns="27432" rIns="27432" tIns="9144" bIns="9144" anchor="ctr">
            <a:spAutoFit/>
          </a:bodyPr>
          <a:lstStyle/>
          <a:p>
            <a:pPr algn="l">
              <a:spcAft>
                <a:spcPts val="500"/>
              </a:spcAft>
              <a:defRPr sz="1900" b="1">
                <a:solidFill>
                  <a:srgbClr val="1C6896"/>
                </a:solidFill>
                <a:latin typeface="DejaVu Sans"/>
              </a:defRPr>
            </a:pPr>
            <a:r>
              <a:t>06 · Broker + gateway</a:t>
            </a:r>
          </a:p>
        </p:txBody>
      </p:sp>
      <p:sp>
        <p:nvSpPr>
          <p:cNvPr id="32" name="TextBox 31"/>
          <p:cNvSpPr txBox="1"/>
          <p:nvPr/>
        </p:nvSpPr>
        <p:spPr>
          <a:xfrm>
            <a:off x="6510528" y="4846320"/>
            <a:ext cx="4818888" cy="521208"/>
          </a:xfrm>
          <a:prstGeom prst="rect">
            <a:avLst/>
          </a:prstGeom>
          <a:noFill/>
        </p:spPr>
        <p:txBody>
          <a:bodyPr wrap="square" lIns="27432" rIns="27432" tIns="9144" bIns="9144" anchor="t">
            <a:spAutoFit/>
          </a:bodyPr>
          <a:lstStyle/>
          <a:p>
            <a:pPr algn="l">
              <a:spcAft>
                <a:spcPts val="500"/>
              </a:spcAft>
              <a:defRPr sz="1600" b="0">
                <a:solidFill>
                  <a:srgbClr val="233343"/>
                </a:solidFill>
                <a:latin typeface="DejaVu Sans"/>
              </a:defRPr>
            </a:pPr>
            <a:r>
              <a:t>Comparar semántica y recuperación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Lo que falta para cerrar la arquitectura física</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Un diagrama lógico no acredita dónde está instalado cada sistema</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§§4.1–4.3; tabla 4.8</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18</a:t>
            </a:r>
          </a:p>
        </p:txBody>
      </p:sp>
      <p:sp>
        <p:nvSpPr>
          <p:cNvPr id="9" name="Rounded Rectangle 8"/>
          <p:cNvSpPr/>
          <p:nvPr/>
        </p:nvSpPr>
        <p:spPr>
          <a:xfrm>
            <a:off x="640080" y="1325880"/>
            <a:ext cx="5257800" cy="124358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472184"/>
            <a:ext cx="493776" cy="384048"/>
          </a:xfrm>
          <a:prstGeom prst="rect">
            <a:avLst/>
          </a:prstGeom>
          <a:noFill/>
        </p:spPr>
        <p:txBody>
          <a:bodyPr wrap="square" lIns="27432" rIns="27432" tIns="9144" bIns="9144" anchor="ctr">
            <a:spAutoFit/>
          </a:bodyPr>
          <a:lstStyle/>
          <a:p>
            <a:pPr algn="l">
              <a:spcAft>
                <a:spcPts val="500"/>
              </a:spcAft>
              <a:defRPr sz="1900" b="1">
                <a:solidFill>
                  <a:srgbClr val="B0781B"/>
                </a:solidFill>
                <a:latin typeface="DejaVu Sans"/>
              </a:defRPr>
            </a:pPr>
            <a:r>
              <a:t>01</a:t>
            </a:r>
          </a:p>
        </p:txBody>
      </p:sp>
      <p:sp>
        <p:nvSpPr>
          <p:cNvPr id="11" name="TextBox 10"/>
          <p:cNvSpPr txBox="1"/>
          <p:nvPr/>
        </p:nvSpPr>
        <p:spPr>
          <a:xfrm>
            <a:off x="1417319" y="1444752"/>
            <a:ext cx="4261104" cy="905256"/>
          </a:xfrm>
          <a:prstGeom prst="rect">
            <a:avLst/>
          </a:prstGeom>
          <a:noFill/>
        </p:spPr>
        <p:txBody>
          <a:bodyPr wrap="square" lIns="27432" rIns="27432" tIns="9144" bIns="9144" anchor="ctr">
            <a:spAutoFit/>
          </a:bodyPr>
          <a:lstStyle/>
          <a:p>
            <a:pPr algn="l">
              <a:spcAft>
                <a:spcPts val="500"/>
              </a:spcAft>
              <a:defRPr sz="1800" b="1">
                <a:solidFill>
                  <a:srgbClr val="233343"/>
                </a:solidFill>
                <a:latin typeface="DejaVu Sans"/>
              </a:defRPr>
            </a:pPr>
            <a:r>
              <a:t>Interfaces y alojamiento</a:t>
            </a:r>
          </a:p>
        </p:txBody>
      </p:sp>
      <p:sp>
        <p:nvSpPr>
          <p:cNvPr id="12" name="Rounded Rectangle 11"/>
          <p:cNvSpPr/>
          <p:nvPr/>
        </p:nvSpPr>
        <p:spPr>
          <a:xfrm>
            <a:off x="6281928" y="1325880"/>
            <a:ext cx="5257800" cy="124358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472184"/>
            <a:ext cx="493776" cy="384048"/>
          </a:xfrm>
          <a:prstGeom prst="rect">
            <a:avLst/>
          </a:prstGeom>
          <a:noFill/>
        </p:spPr>
        <p:txBody>
          <a:bodyPr wrap="square" lIns="27432" rIns="27432" tIns="9144" bIns="9144" anchor="ctr">
            <a:spAutoFit/>
          </a:bodyPr>
          <a:lstStyle/>
          <a:p>
            <a:pPr algn="l">
              <a:spcAft>
                <a:spcPts val="500"/>
              </a:spcAft>
              <a:defRPr sz="1900" b="1">
                <a:solidFill>
                  <a:srgbClr val="B0781B"/>
                </a:solidFill>
                <a:latin typeface="DejaVu Sans"/>
              </a:defRPr>
            </a:pPr>
            <a:r>
              <a:t>02</a:t>
            </a:r>
          </a:p>
        </p:txBody>
      </p:sp>
      <p:sp>
        <p:nvSpPr>
          <p:cNvPr id="14" name="TextBox 13"/>
          <p:cNvSpPr txBox="1"/>
          <p:nvPr/>
        </p:nvSpPr>
        <p:spPr>
          <a:xfrm>
            <a:off x="7059168" y="1444752"/>
            <a:ext cx="4261104" cy="905256"/>
          </a:xfrm>
          <a:prstGeom prst="rect">
            <a:avLst/>
          </a:prstGeom>
          <a:noFill/>
        </p:spPr>
        <p:txBody>
          <a:bodyPr wrap="square" lIns="27432" rIns="27432" tIns="9144" bIns="9144" anchor="ctr">
            <a:spAutoFit/>
          </a:bodyPr>
          <a:lstStyle/>
          <a:p>
            <a:pPr algn="l">
              <a:spcAft>
                <a:spcPts val="500"/>
              </a:spcAft>
              <a:defRPr sz="1800" b="1">
                <a:solidFill>
                  <a:srgbClr val="233343"/>
                </a:solidFill>
                <a:latin typeface="DejaVu Sans"/>
              </a:defRPr>
            </a:pPr>
            <a:r>
              <a:t>WAN, tiendas y periféricos</a:t>
            </a:r>
          </a:p>
        </p:txBody>
      </p:sp>
      <p:sp>
        <p:nvSpPr>
          <p:cNvPr id="15" name="Rounded Rectangle 14"/>
          <p:cNvSpPr/>
          <p:nvPr/>
        </p:nvSpPr>
        <p:spPr>
          <a:xfrm>
            <a:off x="640080" y="2770632"/>
            <a:ext cx="5257800" cy="124358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2916936"/>
            <a:ext cx="493776" cy="384048"/>
          </a:xfrm>
          <a:prstGeom prst="rect">
            <a:avLst/>
          </a:prstGeom>
          <a:noFill/>
        </p:spPr>
        <p:txBody>
          <a:bodyPr wrap="square" lIns="27432" rIns="27432" tIns="9144" bIns="9144" anchor="ctr">
            <a:spAutoFit/>
          </a:bodyPr>
          <a:lstStyle/>
          <a:p>
            <a:pPr algn="l">
              <a:spcAft>
                <a:spcPts val="500"/>
              </a:spcAft>
              <a:defRPr sz="1900" b="1">
                <a:solidFill>
                  <a:srgbClr val="B0781B"/>
                </a:solidFill>
                <a:latin typeface="DejaVu Sans"/>
              </a:defRPr>
            </a:pPr>
            <a:r>
              <a:t>03</a:t>
            </a:r>
          </a:p>
        </p:txBody>
      </p:sp>
      <p:sp>
        <p:nvSpPr>
          <p:cNvPr id="17" name="TextBox 16"/>
          <p:cNvSpPr txBox="1"/>
          <p:nvPr/>
        </p:nvSpPr>
        <p:spPr>
          <a:xfrm>
            <a:off x="1417319" y="2889504"/>
            <a:ext cx="4261104" cy="905256"/>
          </a:xfrm>
          <a:prstGeom prst="rect">
            <a:avLst/>
          </a:prstGeom>
          <a:noFill/>
        </p:spPr>
        <p:txBody>
          <a:bodyPr wrap="square" lIns="27432" rIns="27432" tIns="9144" bIns="9144" anchor="ctr">
            <a:spAutoFit/>
          </a:bodyPr>
          <a:lstStyle/>
          <a:p>
            <a:pPr algn="l">
              <a:spcAft>
                <a:spcPts val="500"/>
              </a:spcAft>
              <a:defRPr sz="1800" b="1">
                <a:solidFill>
                  <a:srgbClr val="233343"/>
                </a:solidFill>
                <a:latin typeface="DejaVu Sans"/>
              </a:defRPr>
            </a:pPr>
            <a:r>
              <a:t>Brechas de DC principal y respaldo</a:t>
            </a:r>
          </a:p>
        </p:txBody>
      </p:sp>
      <p:sp>
        <p:nvSpPr>
          <p:cNvPr id="18" name="Rounded Rectangle 17"/>
          <p:cNvSpPr/>
          <p:nvPr/>
        </p:nvSpPr>
        <p:spPr>
          <a:xfrm>
            <a:off x="6281928" y="2770632"/>
            <a:ext cx="5257800" cy="124358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916936"/>
            <a:ext cx="493776" cy="384048"/>
          </a:xfrm>
          <a:prstGeom prst="rect">
            <a:avLst/>
          </a:prstGeom>
          <a:noFill/>
        </p:spPr>
        <p:txBody>
          <a:bodyPr wrap="square" lIns="27432" rIns="27432" tIns="9144" bIns="9144" anchor="ctr">
            <a:spAutoFit/>
          </a:bodyPr>
          <a:lstStyle/>
          <a:p>
            <a:pPr algn="l">
              <a:spcAft>
                <a:spcPts val="500"/>
              </a:spcAft>
              <a:defRPr sz="1900" b="1">
                <a:solidFill>
                  <a:srgbClr val="B0781B"/>
                </a:solidFill>
                <a:latin typeface="DejaVu Sans"/>
              </a:defRPr>
            </a:pPr>
            <a:r>
              <a:t>04</a:t>
            </a:r>
          </a:p>
        </p:txBody>
      </p:sp>
      <p:sp>
        <p:nvSpPr>
          <p:cNvPr id="20" name="TextBox 19"/>
          <p:cNvSpPr txBox="1"/>
          <p:nvPr/>
        </p:nvSpPr>
        <p:spPr>
          <a:xfrm>
            <a:off x="7059168" y="2889504"/>
            <a:ext cx="4261104" cy="905256"/>
          </a:xfrm>
          <a:prstGeom prst="rect">
            <a:avLst/>
          </a:prstGeom>
          <a:noFill/>
        </p:spPr>
        <p:txBody>
          <a:bodyPr wrap="square" lIns="27432" rIns="27432" tIns="9144" bIns="9144" anchor="ctr">
            <a:spAutoFit/>
          </a:bodyPr>
          <a:lstStyle/>
          <a:p>
            <a:pPr algn="l">
              <a:spcAft>
                <a:spcPts val="500"/>
              </a:spcAft>
              <a:defRPr sz="1800" b="1">
                <a:solidFill>
                  <a:srgbClr val="233343"/>
                </a:solidFill>
                <a:latin typeface="DejaVu Sans"/>
              </a:defRPr>
            </a:pPr>
            <a:r>
              <a:t>Volumetría y capacidad</a:t>
            </a:r>
          </a:p>
        </p:txBody>
      </p:sp>
      <p:sp>
        <p:nvSpPr>
          <p:cNvPr id="21" name="Rounded Rectangle 20"/>
          <p:cNvSpPr/>
          <p:nvPr/>
        </p:nvSpPr>
        <p:spPr>
          <a:xfrm>
            <a:off x="640080" y="4215384"/>
            <a:ext cx="5257800" cy="124358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4361688"/>
            <a:ext cx="493776" cy="384048"/>
          </a:xfrm>
          <a:prstGeom prst="rect">
            <a:avLst/>
          </a:prstGeom>
          <a:noFill/>
        </p:spPr>
        <p:txBody>
          <a:bodyPr wrap="square" lIns="27432" rIns="27432" tIns="9144" bIns="9144" anchor="ctr">
            <a:spAutoFit/>
          </a:bodyPr>
          <a:lstStyle/>
          <a:p>
            <a:pPr algn="l">
              <a:spcAft>
                <a:spcPts val="500"/>
              </a:spcAft>
              <a:defRPr sz="1900" b="1">
                <a:solidFill>
                  <a:srgbClr val="B0781B"/>
                </a:solidFill>
                <a:latin typeface="DejaVu Sans"/>
              </a:defRPr>
            </a:pPr>
            <a:r>
              <a:t>05</a:t>
            </a:r>
          </a:p>
        </p:txBody>
      </p:sp>
      <p:sp>
        <p:nvSpPr>
          <p:cNvPr id="23" name="TextBox 22"/>
          <p:cNvSpPr txBox="1"/>
          <p:nvPr/>
        </p:nvSpPr>
        <p:spPr>
          <a:xfrm>
            <a:off x="1417319" y="4334256"/>
            <a:ext cx="4261104" cy="905256"/>
          </a:xfrm>
          <a:prstGeom prst="rect">
            <a:avLst/>
          </a:prstGeom>
          <a:noFill/>
        </p:spPr>
        <p:txBody>
          <a:bodyPr wrap="square" lIns="27432" rIns="27432" tIns="9144" bIns="9144" anchor="ctr">
            <a:spAutoFit/>
          </a:bodyPr>
          <a:lstStyle/>
          <a:p>
            <a:pPr algn="l">
              <a:spcAft>
                <a:spcPts val="500"/>
              </a:spcAft>
              <a:defRPr sz="1800" b="1">
                <a:solidFill>
                  <a:srgbClr val="233343"/>
                </a:solidFill>
                <a:latin typeface="DejaVu Sans"/>
              </a:defRPr>
            </a:pPr>
            <a:r>
              <a:t>Cruces legales y residencia de datos</a:t>
            </a:r>
          </a:p>
        </p:txBody>
      </p:sp>
      <p:sp>
        <p:nvSpPr>
          <p:cNvPr id="24" name="Rounded Rectangle 23"/>
          <p:cNvSpPr/>
          <p:nvPr/>
        </p:nvSpPr>
        <p:spPr>
          <a:xfrm>
            <a:off x="6281928" y="4215384"/>
            <a:ext cx="5257800" cy="124358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4808" y="4361688"/>
            <a:ext cx="493776" cy="384048"/>
          </a:xfrm>
          <a:prstGeom prst="rect">
            <a:avLst/>
          </a:prstGeom>
          <a:noFill/>
        </p:spPr>
        <p:txBody>
          <a:bodyPr wrap="square" lIns="27432" rIns="27432" tIns="9144" bIns="9144" anchor="ctr">
            <a:spAutoFit/>
          </a:bodyPr>
          <a:lstStyle/>
          <a:p>
            <a:pPr algn="l">
              <a:spcAft>
                <a:spcPts val="500"/>
              </a:spcAft>
              <a:defRPr sz="1900" b="1">
                <a:solidFill>
                  <a:srgbClr val="B0781B"/>
                </a:solidFill>
                <a:latin typeface="DejaVu Sans"/>
              </a:defRPr>
            </a:pPr>
            <a:r>
              <a:t>06</a:t>
            </a:r>
          </a:p>
        </p:txBody>
      </p:sp>
      <p:sp>
        <p:nvSpPr>
          <p:cNvPr id="26" name="TextBox 25"/>
          <p:cNvSpPr txBox="1"/>
          <p:nvPr/>
        </p:nvSpPr>
        <p:spPr>
          <a:xfrm>
            <a:off x="7059168" y="4334256"/>
            <a:ext cx="4261104" cy="905256"/>
          </a:xfrm>
          <a:prstGeom prst="rect">
            <a:avLst/>
          </a:prstGeom>
          <a:noFill/>
        </p:spPr>
        <p:txBody>
          <a:bodyPr wrap="square" lIns="27432" rIns="27432" tIns="9144" bIns="9144" anchor="ctr">
            <a:spAutoFit/>
          </a:bodyPr>
          <a:lstStyle/>
          <a:p>
            <a:pPr algn="l">
              <a:spcAft>
                <a:spcPts val="500"/>
              </a:spcAft>
              <a:defRPr sz="1800" b="1">
                <a:solidFill>
                  <a:srgbClr val="233343"/>
                </a:solidFill>
                <a:latin typeface="DejaVu Sans"/>
              </a:defRPr>
            </a:pPr>
            <a:r>
              <a:t>Pago, DTE y precio durante contingencia</a:t>
            </a:r>
          </a:p>
        </p:txBody>
      </p:sp>
      <p:sp>
        <p:nvSpPr>
          <p:cNvPr id="27" name="TextBox 26"/>
          <p:cNvSpPr txBox="1"/>
          <p:nvPr/>
        </p:nvSpPr>
        <p:spPr>
          <a:xfrm>
            <a:off x="749808" y="5907024"/>
            <a:ext cx="10698480" cy="274320"/>
          </a:xfrm>
          <a:prstGeom prst="rect">
            <a:avLst/>
          </a:prstGeom>
          <a:noFill/>
        </p:spPr>
        <p:txBody>
          <a:bodyPr wrap="square" lIns="27432" rIns="27432" tIns="9144" bIns="9144" anchor="ctr">
            <a:spAutoFit/>
          </a:bodyPr>
          <a:lstStyle/>
          <a:p>
            <a:pPr algn="l">
              <a:spcAft>
                <a:spcPts val="500"/>
              </a:spcAft>
              <a:defRPr sz="1300" b="0">
                <a:solidFill>
                  <a:srgbClr val="5C6D7C"/>
                </a:solidFill>
                <a:latin typeface="DejaVu Sans"/>
              </a:defRPr>
            </a:pPr>
            <a:r>
              <a:t>El siguiente paso es levantar evidencia y trasladarla a T-11 y al diagrama físico verificable.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310896"/>
            <a:ext cx="11201400" cy="438912"/>
          </a:xfrm>
          <a:prstGeom prst="rect">
            <a:avLst/>
          </a:prstGeom>
          <a:noFill/>
        </p:spPr>
        <p:txBody>
          <a:bodyPr wrap="square" lIns="27432" rIns="27432" tIns="9144" bIns="9144" anchor="ctr">
            <a:spAutoFit/>
          </a:bodyPr>
          <a:lstStyle/>
          <a:p>
            <a:pPr algn="l">
              <a:spcAft>
                <a:spcPts val="500"/>
              </a:spcAft>
              <a:defRPr sz="2900" b="1">
                <a:solidFill>
                  <a:srgbClr val="162A41"/>
                </a:solidFill>
                <a:latin typeface="DejaVu Sans"/>
              </a:defRPr>
            </a:pPr>
            <a:r>
              <a:t>Estado actual del subdocumento 4</a:t>
            </a:r>
          </a:p>
        </p:txBody>
      </p:sp>
      <p:sp>
        <p:nvSpPr>
          <p:cNvPr id="5" name="TextBox 4"/>
          <p:cNvSpPr txBox="1"/>
          <p:nvPr/>
        </p:nvSpPr>
        <p:spPr>
          <a:xfrm>
            <a:off x="457200" y="777240"/>
            <a:ext cx="11201400" cy="356616"/>
          </a:xfrm>
          <a:prstGeom prst="rect">
            <a:avLst/>
          </a:prstGeom>
          <a:noFill/>
        </p:spPr>
        <p:txBody>
          <a:bodyPr wrap="square" lIns="27432" rIns="27432" tIns="9144" bIns="9144" anchor="ctr">
            <a:spAutoFit/>
          </a:bodyPr>
          <a:lstStyle/>
          <a:p>
            <a:pPr algn="l">
              <a:spcAft>
                <a:spcPts val="500"/>
              </a:spcAft>
              <a:defRPr sz="1500" b="0">
                <a:solidFill>
                  <a:srgbClr val="5C6D7C"/>
                </a:solidFill>
                <a:latin typeface="DejaVu Sans"/>
              </a:defRPr>
            </a:pPr>
            <a:r>
              <a:t>La propuesta ya puede explicarse; su topología final requiere comprobaciones</a:t>
            </a:r>
          </a:p>
        </p:txBody>
      </p:sp>
      <p:sp>
        <p:nvSpPr>
          <p:cNvPr id="6" name="Rectangle 5"/>
          <p:cNvSpPr/>
          <p:nvPr/>
        </p:nvSpPr>
        <p:spPr>
          <a:xfrm>
            <a:off x="457200" y="6336792"/>
            <a:ext cx="11210544" cy="13716"/>
          </a:xfrm>
          <a:prstGeom prst="rect">
            <a:avLst/>
          </a:prstGeom>
          <a:solidFill>
            <a:srgbClr val="D1DCE4"/>
          </a:solidFill>
          <a:ln w="12700">
            <a:solidFill>
              <a:srgbClr val="D1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6391656"/>
            <a:ext cx="9326880" cy="237744"/>
          </a:xfrm>
          <a:prstGeom prst="rect">
            <a:avLst/>
          </a:prstGeom>
          <a:noFill/>
        </p:spPr>
        <p:txBody>
          <a:bodyPr wrap="square" lIns="27432" rIns="27432" tIns="9144" bIns="9144" anchor="ctr">
            <a:spAutoFit/>
          </a:bodyPr>
          <a:lstStyle/>
          <a:p>
            <a:pPr algn="l">
              <a:spcAft>
                <a:spcPts val="500"/>
              </a:spcAft>
              <a:defRPr sz="1000" b="0">
                <a:solidFill>
                  <a:srgbClr val="5C6D7C"/>
                </a:solidFill>
                <a:latin typeface="DejaVu Sans"/>
              </a:defRPr>
            </a:pPr>
            <a:r>
              <a:t>Only Simple Solutions  ·  TFEP-01/2026  ·  Fuente: SD-04 completo; informe explicativo</a:t>
            </a:r>
          </a:p>
        </p:txBody>
      </p:sp>
      <p:sp>
        <p:nvSpPr>
          <p:cNvPr id="8" name="TextBox 7"/>
          <p:cNvSpPr txBox="1"/>
          <p:nvPr/>
        </p:nvSpPr>
        <p:spPr>
          <a:xfrm>
            <a:off x="10972800" y="6382512"/>
            <a:ext cx="640080" cy="256032"/>
          </a:xfrm>
          <a:prstGeom prst="rect">
            <a:avLst/>
          </a:prstGeom>
          <a:noFill/>
        </p:spPr>
        <p:txBody>
          <a:bodyPr wrap="square" lIns="27432" rIns="27432" tIns="9144" bIns="9144" anchor="ctr">
            <a:spAutoFit/>
          </a:bodyPr>
          <a:lstStyle/>
          <a:p>
            <a:pPr algn="r">
              <a:spcAft>
                <a:spcPts val="500"/>
              </a:spcAft>
              <a:defRPr sz="1100" b="1">
                <a:solidFill>
                  <a:srgbClr val="5C6D7C"/>
                </a:solidFill>
                <a:latin typeface="DejaVu Sans"/>
              </a:defRPr>
            </a:pPr>
            <a:r>
              <a:t>19</a:t>
            </a:r>
          </a:p>
        </p:txBody>
      </p:sp>
      <p:sp>
        <p:nvSpPr>
          <p:cNvPr id="9" name="Rounded Rectangle 8"/>
          <p:cNvSpPr/>
          <p:nvPr/>
        </p:nvSpPr>
        <p:spPr>
          <a:xfrm>
            <a:off x="658368" y="1581912"/>
            <a:ext cx="5285232" cy="2843784"/>
          </a:xfrm>
          <a:prstGeom prst="roundRect">
            <a:avLst/>
          </a:prstGeom>
          <a:solidFill>
            <a:srgbClr val="E5F4F0"/>
          </a:solidFill>
          <a:ln w="12700">
            <a:solidFill>
              <a:srgbClr val="E5F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581912"/>
            <a:ext cx="68580" cy="2843784"/>
          </a:xfrm>
          <a:prstGeom prst="rect">
            <a:avLst/>
          </a:prstGeom>
          <a:solidFill>
            <a:srgbClr val="127F78"/>
          </a:solidFill>
          <a:ln w="12700">
            <a:solidFill>
              <a:srgbClr val="127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700784"/>
            <a:ext cx="4846320" cy="438912"/>
          </a:xfrm>
          <a:prstGeom prst="rect">
            <a:avLst/>
          </a:prstGeom>
          <a:noFill/>
        </p:spPr>
        <p:txBody>
          <a:bodyPr wrap="square" lIns="27432" rIns="27432" tIns="9144" bIns="9144" anchor="ctr">
            <a:spAutoFit/>
          </a:bodyPr>
          <a:lstStyle/>
          <a:p>
            <a:pPr algn="l">
              <a:spcAft>
                <a:spcPts val="500"/>
              </a:spcAft>
              <a:defRPr sz="2100" b="1">
                <a:solidFill>
                  <a:srgbClr val="127F78"/>
                </a:solidFill>
                <a:latin typeface="DejaVu Sans"/>
              </a:defRPr>
            </a:pPr>
            <a:r>
              <a:t>YA DEFINIDO</a:t>
            </a:r>
          </a:p>
        </p:txBody>
      </p:sp>
      <p:sp>
        <p:nvSpPr>
          <p:cNvPr id="12" name="TextBox 11"/>
          <p:cNvSpPr txBox="1"/>
          <p:nvPr/>
        </p:nvSpPr>
        <p:spPr>
          <a:xfrm>
            <a:off x="886968" y="2212848"/>
            <a:ext cx="4846320" cy="2121408"/>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5 vistas · 31 actores</a:t>
            </a:r>
          </a:p>
          <a:p>
            <a:pPr algn="l">
              <a:spcAft>
                <a:spcPts val="500"/>
              </a:spcAft>
              <a:defRPr sz="1800" b="0">
                <a:solidFill>
                  <a:srgbClr val="233343"/>
                </a:solidFill>
                <a:latin typeface="DejaVu Sans"/>
              </a:defRPr>
            </a:pPr>
            <a:r>
              <a:t>13 responsabilidades · 8 sitios</a:t>
            </a:r>
          </a:p>
          <a:p>
            <a:pPr algn="l">
              <a:spcAft>
                <a:spcPts val="500"/>
              </a:spcAft>
              <a:defRPr sz="1800" b="0">
                <a:solidFill>
                  <a:srgbClr val="233343"/>
                </a:solidFill>
                <a:latin typeface="DejaVu Sans"/>
              </a:defRPr>
            </a:pPr>
            <a:r>
              <a:t>Flujos y controles de frontera</a:t>
            </a:r>
          </a:p>
        </p:txBody>
      </p:sp>
      <p:sp>
        <p:nvSpPr>
          <p:cNvPr id="13" name="Rounded Rectangle 12"/>
          <p:cNvSpPr/>
          <p:nvPr/>
        </p:nvSpPr>
        <p:spPr>
          <a:xfrm>
            <a:off x="6254496" y="1581912"/>
            <a:ext cx="5285232" cy="2843784"/>
          </a:xfrm>
          <a:prstGeom prst="roundRect">
            <a:avLst/>
          </a:prstGeom>
          <a:solidFill>
            <a:srgbClr val="FBF3E1"/>
          </a:solidFill>
          <a:ln w="12700">
            <a:solidFill>
              <a:srgbClr val="FBF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4496" y="1581912"/>
            <a:ext cx="68580" cy="2843784"/>
          </a:xfrm>
          <a:prstGeom prst="rect">
            <a:avLst/>
          </a:prstGeom>
          <a:solidFill>
            <a:srgbClr val="B0781B"/>
          </a:solidFill>
          <a:ln w="12700">
            <a:solidFill>
              <a:srgbClr val="B07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3096" y="1700784"/>
            <a:ext cx="4846320" cy="438912"/>
          </a:xfrm>
          <a:prstGeom prst="rect">
            <a:avLst/>
          </a:prstGeom>
          <a:noFill/>
        </p:spPr>
        <p:txBody>
          <a:bodyPr wrap="square" lIns="27432" rIns="27432" tIns="9144" bIns="9144" anchor="ctr">
            <a:spAutoFit/>
          </a:bodyPr>
          <a:lstStyle/>
          <a:p>
            <a:pPr algn="l">
              <a:spcAft>
                <a:spcPts val="500"/>
              </a:spcAft>
              <a:defRPr sz="2100" b="1">
                <a:solidFill>
                  <a:srgbClr val="B0781B"/>
                </a:solidFill>
                <a:latin typeface="DejaVu Sans"/>
              </a:defRPr>
            </a:pPr>
            <a:r>
              <a:t>POR VALIDAR</a:t>
            </a:r>
          </a:p>
        </p:txBody>
      </p:sp>
      <p:sp>
        <p:nvSpPr>
          <p:cNvPr id="16" name="TextBox 15"/>
          <p:cNvSpPr txBox="1"/>
          <p:nvPr/>
        </p:nvSpPr>
        <p:spPr>
          <a:xfrm>
            <a:off x="6483096" y="2212848"/>
            <a:ext cx="4846320" cy="2121408"/>
          </a:xfrm>
          <a:prstGeom prst="rect">
            <a:avLst/>
          </a:prstGeom>
          <a:noFill/>
        </p:spPr>
        <p:txBody>
          <a:bodyPr wrap="square" lIns="27432" rIns="27432" tIns="9144" bIns="9144" anchor="t">
            <a:spAutoFit/>
          </a:bodyPr>
          <a:lstStyle/>
          <a:p>
            <a:pPr algn="l">
              <a:spcAft>
                <a:spcPts val="500"/>
              </a:spcAft>
              <a:defRPr sz="1800" b="0">
                <a:solidFill>
                  <a:srgbClr val="233343"/>
                </a:solidFill>
                <a:latin typeface="DejaVu Sans"/>
              </a:defRPr>
            </a:pPr>
            <a:r>
              <a:t>Proveedor y broker</a:t>
            </a:r>
          </a:p>
          <a:p>
            <a:pPr algn="l">
              <a:spcAft>
                <a:spcPts val="500"/>
              </a:spcAft>
              <a:defRPr sz="1800" b="0">
                <a:solidFill>
                  <a:srgbClr val="233343"/>
                </a:solidFill>
                <a:latin typeface="DejaVu Sans"/>
              </a:defRPr>
            </a:pPr>
            <a:r>
              <a:t>Rutas, capacidad y productos</a:t>
            </a:r>
          </a:p>
          <a:p>
            <a:pPr algn="l">
              <a:spcAft>
                <a:spcPts val="500"/>
              </a:spcAft>
              <a:defRPr sz="1800" b="0">
                <a:solidFill>
                  <a:srgbClr val="233343"/>
                </a:solidFill>
                <a:latin typeface="DejaVu Sans"/>
              </a:defRPr>
            </a:pPr>
            <a:r>
              <a:t>Contingencia fiscal y residencia</a:t>
            </a:r>
          </a:p>
        </p:txBody>
      </p:sp>
      <p:sp>
        <p:nvSpPr>
          <p:cNvPr id="17" name="Rounded Rectangle 16"/>
          <p:cNvSpPr/>
          <p:nvPr/>
        </p:nvSpPr>
        <p:spPr>
          <a:xfrm>
            <a:off x="676656" y="4764024"/>
            <a:ext cx="10826496" cy="786384"/>
          </a:xfrm>
          <a:prstGeom prst="roundRect">
            <a:avLst/>
          </a:prstGeom>
          <a:solidFill>
            <a:srgbClr val="E7F2F9"/>
          </a:solidFill>
          <a:ln w="12700">
            <a:solidFill>
              <a:srgbClr val="E7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892040"/>
            <a:ext cx="10415016" cy="512064"/>
          </a:xfrm>
          <a:prstGeom prst="rect">
            <a:avLst/>
          </a:prstGeom>
          <a:noFill/>
        </p:spPr>
        <p:txBody>
          <a:bodyPr wrap="square" lIns="27432" rIns="27432" tIns="9144" bIns="9144" anchor="ctr">
            <a:spAutoFit/>
          </a:bodyPr>
          <a:lstStyle/>
          <a:p>
            <a:pPr algn="ctr">
              <a:spcAft>
                <a:spcPts val="500"/>
              </a:spcAft>
              <a:defRPr sz="1900" b="1">
                <a:solidFill>
                  <a:srgbClr val="162A41"/>
                </a:solidFill>
                <a:latin typeface="DejaVu Sans"/>
              </a:defRPr>
            </a:pPr>
            <a:r>
              <a:t>Idea principal: el diseño separa responsabilidades; la evidencia cerrará el despliegue.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