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Informe 2 de Only Simple Solutions para la Licitación TFEP-01/2026, Caso 09. Duración: 20 minutos.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Orden de la exposición. Los tiempos son referenciales.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El Informe 2 no corrige párrafos sueltos: reescribe los subdocumentos que la revisión observó. El 3 pasa de 203 a 44 páginas porque la matriz T-12 sale del cuerpo y se entrega como formulario con leyenda. El 4 rehace la arquitectura física. El 13 reemplaza las cinco innovaciones. El 2 y el 5 se reorganizan y suman figuras y referencias. Además se corrige la forma: encabezado, media firma y declaración de uso de IA en cada subdocumento.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El Formulario T-22 es la tabla de trazabilidad que pide el Artículo 46: cada observación del Informe 1, la corrección incorporada y la sección donde quedó. Son 124 observaciones: 118 tienen respuesta y 6 siguen pendientes y declaradas como tales: el Formulario T-8 con las certificaciones individuales, la condición de socio de Microsoft, los sectores sin proyecto en la experiencia, el plan de comunicación a los clientes de la cartera con el re-sellado de firmas, y el folio con la media firma. Aquí se muestran las doce más pesadas. El estado revisado de cada fila lo asigna una persona del equipo, no este documento.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Lo más observado del Informe 1. Tenía 203 páginas, 130 de ellas la matriz T-12, y un único diagrama que mostraba el estado actual, no la solución. La T-12 declaraba 171 «No» sin leyenda. El Informe 2 lo reescribe: el alcance se ordena por etapa y la solución por frentes, Retail, Frontera y Filial emisora, como muestra la Figura 3.1. La T-12 se entrega como formulario aparte con una leyenda de cuatro estados.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Fue el ítem con menor puntaje. El Informe 1 tenía un despliegue lógico sin región de nube ni sitios, con las 22 tiendas en una sola caja. El Informe 2 declara la región primaria Azure Chile Central y la secundaria Brazil South, dibuja los sitios del cliente y agrega ocho figuras físicas, de la 4.13 a la 4.20: red y segmentación, ambientes, tienda tipo y los dos centros de datos. Los implementos van en el Formulario T-11.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Panorama de la propuesta de izquierda a derecha. El problema son cuatro promesas de Ancoa que hoy no se cumplen, con su cifra actual y su meta: existencia, precio, entrega y crédito, además de que dos negocios con reglas distintas comparten el mostrador. La causa es la misma: un estado sin fuente única y 14 integraciones sin contrato. La solución son servicios con una sola autoridad por dato, un control de cruces como único paso entre los dos negocios y una base común. Se entrega en dos etapas, mes 16 y mes 21, y luego 36 meses de operación. El resultado se mide con las mismas metas del inicio.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La arquitectura lógica dice qué hace el software, sin marcas ni proveedores. Se lee de izquierda a derecha por las ocho capas de RT-02.01: presentación, borde, puerta de enlace, servicios de negocio, datos, integración y eventos, con la seguridad y la observabilidad atravesándolas. Los servicios se agrupan en el frente Retail y en la filial emisora, y entre ambos solo existe el control de cruces. Azul es lo que construimos, verde lo del Cliente y naranja los terceros.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Los doce servicios de negocio en un solo nivel. Cada uno escribe solo en sus datos; los demás consumen sus hechos o llaman a su contrato. Las flechas magenta son los únicos cruces entre Retail y el Emisor: ventas y clientes hacia el control de cruces, y de ahí a la originación de crédito.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Todo lo que no construimos se conecta por una capa propia de integración, con adaptadores y contrato, sin base de datos compartida. Cada llamada externa tiene tiempo límite, reintento con espera creciente, cortacircuitos, idempotencia, mamparos, cola de fallidos y modo degradado. La caída de un tercero no detiene los servicios de negocio.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Se lee de izquierda a derecha por anillos: Internet, perímetro con DNS, Front Door con WAF y DDoS, la DMZ con App Gateway y API Management, la subred de aplicación con AKS y la de datos. Cada zona solo conversa con la siguiente y las bases no tienen acceso desde Internet. Cada nodo lleva su capacidad y las líneas su puerto. Azul es lo que provee Only Simple Solutions, verde lo del Cliente y naranja los terceros. La línea magenta es el único cruce Retail–Emisor. Abajo, CLD-02 en activo-pasivo con RPO de 15 minutos y RTO de 4 horas.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Lectura de fallas: qué hay en cada zona. Si cae la Zona 1, AKS sigue en dos zonas bajo el 100 % porque cada pool se dimensionó a 66 % de uso, PostgreSQL promueve la espera de la Zona 2 en uno o dos minutos sin pérdida y el FortiGate pasivo asume los túneles.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A la izquierda lo que adquiere el Cliente con la especificación del proponente: nodo local con RAID 1, NAS de DC-01 con RAID 10 y disco de reserva. Al centro, los enlaces con su capacidad. A la derecha, la replicación da disponibilidad y el respaldo 3-2-1-1-0 protege contra pérdida y ransomware: se declaran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La revisión observó que las cinco innovaciones del Informe 1 eran decisiones de arquitectura que las Bases ya exigen. El Informe 2 las reemplaza por cinco innovaciones que no son requisito, cada una con su problema, tecnología, incorporación a la arquitectura y a la EDT, impacto económico, verificación del beneficio y riesgo de adopción.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La EDT descompone la solución completa en quince ramas y 164 cuentas de control. Incluye el trabajo de gestión, implantación, cambio, documentación y operación, no solo la construcción: es la regla del 100 %. La rama 1.5 concentra el software, con 51 cuentas y 127 paquetes. La rama 1.10 reserva las cinco innovaciones. Cada rama tiene entregable, criterio de aceptación y responsable en la Tabla 7.1.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Cada una de las quince ramas tiene un entregable principal, un criterio de aceptación y un responsable con nombre de rol, en la Tabla 7.1 del sd-07 y en el diccionario del T-14. Lo que se acepta es siempre un entregable verificable: un plan, una línea base, una infraestructura con ambientes habilitados, un software por etapa, datos conciliados, una certificación, un acta. Los responsables son los roles del equipo propuesto: jefe de proyecto, líder funcional, arquitecto de solución, líderes de desarrollo, integración, datos, calidad, implantación y operación, y encargado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La ejecución la dirige un jefe de proyecto con seis áreas: arquitectura, seguridad, datos, calidad, operación e implantación con gestión del cambio. Con el Cliente hay dos instancias: el Comité Ejecutivo, mensual, y el Comité de Proyecto, quincenal. La dotación sale de las horas: en el pico de la Etapa 1 son 13 personas equivalentes, en la Etapa 2 son 16, y en operación 3. Cada equipo reserva 15 % de su capacidad para deuda técnica y 30 % más para estabilizar durante las marchas blancas. La dotación nominal por rol se concilia con el Subdocumento 12, que no forma parte de este informe. En la EDT responden además por rama el líder funcional, el de desarrollo y el de integración.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La base de planificación suma 40.946 horas hombre en 164 cuentas. El software de la rama 1.5 son 12.116 horas; las demás ramas, 28.830. Las cinco innovaciones tienen una cuenta cada una en la rama 1.10, con siete paquetes de implementación y uno de seguimiento, 40 paquetes en total y 9.888 horas hombre incluidas en el total. Las horas no incluyen montos: la oferta económica va en el Sobre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El calendario contractual es fijo: Etapa 1 con desarrollo en los meses 1 a 12, marcha blanca 13 a 15 y producción en el mes 16. La Etapa 2 se desarrolla entre los meses 13 y 18, con marcha blanca 19 y 20 y producción en el mes 21, cuando parten 36 meses de operación. Los meses 22 y 24 son objetivos internos: el retiro de la plataforma de crédito de 2011 y el cierre de la remediación financiera, antes del vencimiento de 2029.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Doce hitos de aceptación del Formulario E-25, cada uno con su evidencia. La numeración del E-25 no es cronológica: por el solape de etapas, H8, el diseño de la Etapa 2 en el mes 14, ocurre antes que H7, la producción de la Etapa 1 en el mes 16. H7 y H12 son los pasos a producción contractuales.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Red agregada del cálculo CPM; la red completa del T-14 tiene 57 nodos y 120 relaciones. Cada caja muestra inicio y fin tempranos arriba, y inicio, holgura y fin tardíos abajo, en meses. En rojo, la ruta crítica, con holgura cero: de la línea base de la Etapa 1 a la producción del mes 16, y desde la certificación E1 hasta la producción del mes 21. Solo tienen margen los planes de marcha blanca y las certificaciones de administradores: 3 meses en la Etapa 1 y 1 mes en la Etapa 2. Las duraciones son decisiones de programación y la holgura es de la actividad agregada, no de cada cuenta. Como casi todo es crítico, la reserva se concentra a nivel de proyecto, como se verá en riesgos.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Cada riesgo se califica en cinco niveles de probabilidad e impacto. La exposición es el producto P por I y define la zona. La zona fija la regla de acción: lo crítico cambia el diseño o se escala al Comité Ejecutivo; lo alto se mitiga dentro del plan; lo medio se acepta con reserva; lo bajo se observa. Si un evento atrasa un hito contractual sin holgura, su impacto es muy alto. El registro tiene 37 riesgos en cinco ramas; 14 tocan la solución, 13 el desarrollo y 14 la implantación.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Los 37 riesgos ubicados por probabilidad e impacto. Quedan 3 críticos, 11 altos, 21 medios y 2 bajos. Los tres críticos, R-02, R-12 y R-13, tienen probabilidad 0,60 e impacto 0,80 y afectan un hito sin holgura. Siete riesgos alcanzan impacto 0,80 por la regla del hito contractual. La concentración en la columna de impacto muy alto viene de esa regla y es intencional.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Los 14 riesgos críticos y altos, con su respuesta. Ocho se mitigan, cuatro se evitan, uno se transfiere y uno se escala. Doce quedan en zona media tras la respuesta. R-02 y R-13 conservan exposición 0,32 y los sigue el Comité Ejecutivo: el evento anual y la ventana de migración de la cartera no dejan más holgura.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Riesgo de la solución: nace del diseño de la migración del crédito, el negocio fiscalizado. Probabilidad 0,40 e impacto 0,80 en servicio. La respuesta corta por tramos y concilia cada día, con un criterio de detención acordado con la filial. Queda en 0,16.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Riesgo del desarrollo: depende de nuestra capacidad, no del cliente. En los meses 13 a 15 se solapan la marcha blanca E1 y la construcción E2, ambas en la ruta crítica. La respuesta nivela recursos y refuerza el equipo. Queda en 0,16.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Riesgo de la implantación y uno de los tres críticos. La respuesta evita el choque: certifica en Preproducción, que no es producción del cliente, y despliega solo en ventanas libres. Baja de 0,48 a 0,16. Las fechas dependen del supuesto SUP-26.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La simulación Monte Carlo estima el atraso acumulado por hito. Con las respuestas, el P80 baja de 17,3 a 12,2 semanas en el mes 16, de 3,0 a 1,7 en el mes 21 y de 11,3 a 8,5 en el mes 22. Como los hitos no se mueven, ese atraso mide exposición, no una fecha nueva. En esfuerzo, las respuestas bajan el valor esperado de los 14 riesgos críticos y altos de 6.496 a 3.688 horas: esa es la reserva de contingencia. Los riesgos no identificados se cubren con la reserva de gestión, que solo libera el Comité Ejecutivo.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y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tada-acuerdo.png"/>
          <p:cNvPicPr>
            <a:picLocks noChangeAspect="1"/>
          </p:cNvPicPr>
          <p:nvPr/>
        </p:nvPicPr>
        <p:blipFill>
          <a:blip r:embed="rId2"/>
          <a:stretch>
            <a:fillRect/>
          </a:stretch>
        </p:blipFill>
        <p:spPr>
          <a:xfrm>
            <a:off x="7619695" y="0"/>
            <a:ext cx="4572000" cy="6858000"/>
          </a:xfrm>
          <a:prstGeom prst="rect">
            <a:avLst/>
          </a:prstGeom>
        </p:spPr>
      </p:pic>
      <p:sp>
        <p:nvSpPr>
          <p:cNvPr id="4" name="Rectangle 3"/>
          <p:cNvSpPr/>
          <p:nvPr/>
        </p:nvSpPr>
        <p:spPr>
          <a:xfrm>
            <a:off x="548640" y="1417320"/>
            <a:ext cx="5852160" cy="3566160"/>
          </a:xfrm>
          <a:prstGeom prst="rect">
            <a:avLst/>
          </a:prstGeom>
          <a:solidFill>
            <a:srgbClr val="FFFFFF"/>
          </a:solidFill>
          <a:ln w="254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5303520" cy="365760"/>
          </a:xfrm>
          <a:prstGeom prst="rect">
            <a:avLst/>
          </a:prstGeom>
          <a:noFill/>
        </p:spPr>
        <p:txBody>
          <a:bodyPr wrap="square" lIns="0" rIns="0" tIns="0" bIns="0" anchor="t">
            <a:spAutoFit/>
          </a:bodyPr>
          <a:lstStyle/>
          <a:p>
            <a:pPr algn="l"/>
            <a:r>
              <a:rPr sz="1400" b="1" i="0">
                <a:solidFill>
                  <a:srgbClr val="277FA8"/>
                </a:solidFill>
                <a:latin typeface="Arial"/>
              </a:rPr>
              <a:t>Licitación N° TFEP-01/2026 · Caso 09</a:t>
            </a:r>
          </a:p>
        </p:txBody>
      </p:sp>
      <p:sp>
        <p:nvSpPr>
          <p:cNvPr id="6" name="TextBox 5"/>
          <p:cNvSpPr txBox="1"/>
          <p:nvPr/>
        </p:nvSpPr>
        <p:spPr>
          <a:xfrm>
            <a:off x="868680" y="2148840"/>
            <a:ext cx="5303520" cy="1188720"/>
          </a:xfrm>
          <a:prstGeom prst="rect">
            <a:avLst/>
          </a:prstGeom>
          <a:noFill/>
        </p:spPr>
        <p:txBody>
          <a:bodyPr wrap="square" lIns="0" rIns="0" tIns="0" bIns="0" anchor="t">
            <a:spAutoFit/>
          </a:bodyPr>
          <a:lstStyle/>
          <a:p>
            <a:pPr algn="l"/>
            <a:r>
              <a:rPr sz="3400" b="1" i="0">
                <a:solidFill>
                  <a:srgbClr val="196197"/>
                </a:solidFill>
                <a:latin typeface="Arial"/>
              </a:rPr>
              <a:t>Informe Preparatorio 2</a:t>
            </a:r>
          </a:p>
        </p:txBody>
      </p:sp>
      <p:sp>
        <p:nvSpPr>
          <p:cNvPr id="7" name="TextBox 6"/>
          <p:cNvSpPr txBox="1"/>
          <p:nvPr/>
        </p:nvSpPr>
        <p:spPr>
          <a:xfrm>
            <a:off x="868680" y="2880360"/>
            <a:ext cx="5303520" cy="1097280"/>
          </a:xfrm>
          <a:prstGeom prst="rect">
            <a:avLst/>
          </a:prstGeom>
          <a:noFill/>
        </p:spPr>
        <p:txBody>
          <a:bodyPr wrap="square" lIns="0" rIns="0" tIns="0" bIns="0" anchor="t">
            <a:spAutoFit/>
          </a:bodyPr>
          <a:lstStyle/>
          <a:p>
            <a:pPr algn="l"/>
            <a:r>
              <a:rPr sz="1600" b="0" i="0">
                <a:solidFill>
                  <a:srgbClr val="17324D"/>
                </a:solidFill>
                <a:latin typeface="Arial"/>
              </a:rPr>
              <a:t>Correcciones del Informe 1, estructura de desglose del trabajo, planificación y análisis de riesgos</a:t>
            </a:r>
          </a:p>
        </p:txBody>
      </p:sp>
      <p:sp>
        <p:nvSpPr>
          <p:cNvPr id="8" name="TextBox 7"/>
          <p:cNvSpPr txBox="1"/>
          <p:nvPr/>
        </p:nvSpPr>
        <p:spPr>
          <a:xfrm>
            <a:off x="868680" y="4160520"/>
            <a:ext cx="5303520" cy="548640"/>
          </a:xfrm>
          <a:prstGeom prst="rect">
            <a:avLst/>
          </a:prstGeom>
          <a:noFill/>
        </p:spPr>
        <p:txBody>
          <a:bodyPr wrap="square" lIns="0" rIns="0" tIns="0" bIns="0" anchor="t">
            <a:spAutoFit/>
          </a:bodyPr>
          <a:lstStyle/>
          <a:p>
            <a:pPr algn="l"/>
            <a:r>
              <a:rPr sz="1300" b="1" i="0">
                <a:solidFill>
                  <a:srgbClr val="17324D"/>
                </a:solidFill>
                <a:latin typeface="Arial"/>
              </a:rPr>
              <a:t>Multitiendas Ancoa S.A.</a:t>
            </a:r>
          </a:p>
          <a:p>
            <a:pPr algn="l"/>
            <a:r>
              <a:rPr sz="1300" b="0" i="0">
                <a:solidFill>
                  <a:srgbClr val="17324D"/>
                </a:solidFill>
                <a:latin typeface="Arial"/>
              </a:rPr>
              <a:t>Octubre de 2026</a:t>
            </a:r>
          </a:p>
        </p:txBody>
      </p:sp>
      <p:pic>
        <p:nvPicPr>
          <p:cNvPr id="9" name="Picture 8" descr="logo_blanco.png"/>
          <p:cNvPicPr>
            <a:picLocks noChangeAspect="1"/>
          </p:cNvPicPr>
          <p:nvPr/>
        </p:nvPicPr>
        <p:blipFill>
          <a:blip r:embed="rId3"/>
          <a:stretch>
            <a:fillRect/>
          </a:stretch>
        </p:blipFill>
        <p:spPr>
          <a:xfrm>
            <a:off x="548640" y="5669280"/>
            <a:ext cx="685800" cy="685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Contenido</a:t>
            </a:r>
          </a:p>
        </p:txBody>
      </p:sp>
      <p:pic>
        <p:nvPicPr>
          <p:cNvPr id="6" name="Picture 5" descr="logo.png"/>
          <p:cNvPicPr>
            <a:picLocks noChangeAspect="1"/>
          </p:cNvPicPr>
          <p:nvPr/>
        </p:nvPicPr>
        <p:blipFill>
          <a:blip r:embed="rId2"/>
          <a:stretch>
            <a:fillRect/>
          </a:stretch>
        </p:blipFill>
        <p:spPr>
          <a:xfrm>
            <a:off x="548640" y="6400800"/>
            <a:ext cx="274320" cy="274320"/>
          </a:xfrm>
          <a:prstGeom prst="rect">
            <a:avLst/>
          </a:prstGeom>
        </p:spPr>
      </p:pic>
      <p:sp>
        <p:nvSpPr>
          <p:cNvPr id="7" name="TextBox 6"/>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a:t>
            </a:r>
          </a:p>
        </p:txBody>
      </p:sp>
      <p:sp>
        <p:nvSpPr>
          <p:cNvPr id="8" name="TextBox 7"/>
          <p:cNvSpPr txBox="1"/>
          <p:nvPr/>
        </p:nvSpPr>
        <p:spPr>
          <a:xfrm>
            <a:off x="548640" y="1600200"/>
            <a:ext cx="640080" cy="548640"/>
          </a:xfrm>
          <a:prstGeom prst="rect">
            <a:avLst/>
          </a:prstGeom>
          <a:noFill/>
        </p:spPr>
        <p:txBody>
          <a:bodyPr wrap="square" lIns="0" rIns="0" tIns="0" bIns="0" anchor="t">
            <a:spAutoFit/>
          </a:bodyPr>
          <a:lstStyle/>
          <a:p>
            <a:pPr algn="l"/>
            <a:r>
              <a:rPr sz="3000" b="1" i="0">
                <a:solidFill>
                  <a:srgbClr val="196197"/>
                </a:solidFill>
                <a:latin typeface="Arial"/>
              </a:rPr>
              <a:t>1</a:t>
            </a:r>
          </a:p>
        </p:txBody>
      </p:sp>
      <p:sp>
        <p:nvSpPr>
          <p:cNvPr id="9" name="TextBox 8"/>
          <p:cNvSpPr txBox="1"/>
          <p:nvPr/>
        </p:nvSpPr>
        <p:spPr>
          <a:xfrm>
            <a:off x="1280160" y="1618488"/>
            <a:ext cx="9601200" cy="411480"/>
          </a:xfrm>
          <a:prstGeom prst="rect">
            <a:avLst/>
          </a:prstGeom>
          <a:noFill/>
        </p:spPr>
        <p:txBody>
          <a:bodyPr wrap="square" lIns="0" rIns="0" tIns="0" bIns="0" anchor="t">
            <a:spAutoFit/>
          </a:bodyPr>
          <a:lstStyle/>
          <a:p>
            <a:pPr algn="l"/>
            <a:r>
              <a:rPr sz="2000" b="1" i="0">
                <a:solidFill>
                  <a:srgbClr val="17324D"/>
                </a:solidFill>
                <a:latin typeface="Arial"/>
              </a:rPr>
              <a:t>Correcciones del Informe 1</a:t>
            </a:r>
          </a:p>
        </p:txBody>
      </p:sp>
      <p:sp>
        <p:nvSpPr>
          <p:cNvPr id="10" name="TextBox 9"/>
          <p:cNvSpPr txBox="1"/>
          <p:nvPr/>
        </p:nvSpPr>
        <p:spPr>
          <a:xfrm>
            <a:off x="1280160" y="2057400"/>
            <a:ext cx="9601200" cy="320040"/>
          </a:xfrm>
          <a:prstGeom prst="rect">
            <a:avLst/>
          </a:prstGeom>
          <a:noFill/>
        </p:spPr>
        <p:txBody>
          <a:bodyPr wrap="square" lIns="0" rIns="0" tIns="0" bIns="0" anchor="t">
            <a:spAutoFit/>
          </a:bodyPr>
          <a:lstStyle/>
          <a:p>
            <a:pPr algn="l"/>
            <a:r>
              <a:rPr sz="1400" b="0" i="0">
                <a:solidFill>
                  <a:srgbClr val="6B7A89"/>
                </a:solidFill>
                <a:latin typeface="Arial"/>
              </a:rPr>
              <a:t>Subdocumentos 1 a 5 y 13</a:t>
            </a:r>
          </a:p>
        </p:txBody>
      </p:sp>
      <p:cxnSp>
        <p:nvCxnSpPr>
          <p:cNvPr id="11" name="Connector 10"/>
          <p:cNvCxnSpPr/>
          <p:nvPr/>
        </p:nvCxnSpPr>
        <p:spPr>
          <a:xfrm>
            <a:off x="548640" y="2514600"/>
            <a:ext cx="11094415"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651760"/>
            <a:ext cx="640080" cy="548640"/>
          </a:xfrm>
          <a:prstGeom prst="rect">
            <a:avLst/>
          </a:prstGeom>
          <a:noFill/>
        </p:spPr>
        <p:txBody>
          <a:bodyPr wrap="square" lIns="0" rIns="0" tIns="0" bIns="0" anchor="t">
            <a:spAutoFit/>
          </a:bodyPr>
          <a:lstStyle/>
          <a:p>
            <a:pPr algn="l"/>
            <a:r>
              <a:rPr sz="3000" b="1" i="0">
                <a:solidFill>
                  <a:srgbClr val="196197"/>
                </a:solidFill>
                <a:latin typeface="Arial"/>
              </a:rPr>
              <a:t>2</a:t>
            </a:r>
          </a:p>
        </p:txBody>
      </p:sp>
      <p:sp>
        <p:nvSpPr>
          <p:cNvPr id="13" name="TextBox 12"/>
          <p:cNvSpPr txBox="1"/>
          <p:nvPr/>
        </p:nvSpPr>
        <p:spPr>
          <a:xfrm>
            <a:off x="1280160" y="2670048"/>
            <a:ext cx="9601200" cy="411480"/>
          </a:xfrm>
          <a:prstGeom prst="rect">
            <a:avLst/>
          </a:prstGeom>
          <a:noFill/>
        </p:spPr>
        <p:txBody>
          <a:bodyPr wrap="square" lIns="0" rIns="0" tIns="0" bIns="0" anchor="t">
            <a:spAutoFit/>
          </a:bodyPr>
          <a:lstStyle/>
          <a:p>
            <a:pPr algn="l"/>
            <a:r>
              <a:rPr sz="2000" b="1" i="0">
                <a:solidFill>
                  <a:srgbClr val="17324D"/>
                </a:solidFill>
                <a:latin typeface="Arial"/>
              </a:rPr>
              <a:t>Estructura de desglose del trabajo</a:t>
            </a:r>
          </a:p>
        </p:txBody>
      </p:sp>
      <p:sp>
        <p:nvSpPr>
          <p:cNvPr id="14" name="TextBox 13"/>
          <p:cNvSpPr txBox="1"/>
          <p:nvPr/>
        </p:nvSpPr>
        <p:spPr>
          <a:xfrm>
            <a:off x="1280160" y="3108960"/>
            <a:ext cx="9601200" cy="320040"/>
          </a:xfrm>
          <a:prstGeom prst="rect">
            <a:avLst/>
          </a:prstGeom>
          <a:noFill/>
        </p:spPr>
        <p:txBody>
          <a:bodyPr wrap="square" lIns="0" rIns="0" tIns="0" bIns="0" anchor="t">
            <a:spAutoFit/>
          </a:bodyPr>
          <a:lstStyle/>
          <a:p>
            <a:pPr algn="l"/>
            <a:r>
              <a:rPr sz="1400" b="0" i="0">
                <a:solidFill>
                  <a:srgbClr val="6B7A89"/>
                </a:solidFill>
                <a:latin typeface="Arial"/>
              </a:rPr>
              <a:t>Subdocumento 7, apartado 7.1</a:t>
            </a:r>
          </a:p>
        </p:txBody>
      </p:sp>
      <p:cxnSp>
        <p:nvCxnSpPr>
          <p:cNvPr id="15" name="Connector 14"/>
          <p:cNvCxnSpPr/>
          <p:nvPr/>
        </p:nvCxnSpPr>
        <p:spPr>
          <a:xfrm>
            <a:off x="548640" y="3566160"/>
            <a:ext cx="11094415"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3703320"/>
            <a:ext cx="640080" cy="548640"/>
          </a:xfrm>
          <a:prstGeom prst="rect">
            <a:avLst/>
          </a:prstGeom>
          <a:noFill/>
        </p:spPr>
        <p:txBody>
          <a:bodyPr wrap="square" lIns="0" rIns="0" tIns="0" bIns="0" anchor="t">
            <a:spAutoFit/>
          </a:bodyPr>
          <a:lstStyle/>
          <a:p>
            <a:pPr algn="l"/>
            <a:r>
              <a:rPr sz="3000" b="1" i="0">
                <a:solidFill>
                  <a:srgbClr val="196197"/>
                </a:solidFill>
                <a:latin typeface="Arial"/>
              </a:rPr>
              <a:t>3</a:t>
            </a:r>
          </a:p>
        </p:txBody>
      </p:sp>
      <p:sp>
        <p:nvSpPr>
          <p:cNvPr id="17" name="TextBox 16"/>
          <p:cNvSpPr txBox="1"/>
          <p:nvPr/>
        </p:nvSpPr>
        <p:spPr>
          <a:xfrm>
            <a:off x="1280160" y="3721607"/>
            <a:ext cx="9601200" cy="411480"/>
          </a:xfrm>
          <a:prstGeom prst="rect">
            <a:avLst/>
          </a:prstGeom>
          <a:noFill/>
        </p:spPr>
        <p:txBody>
          <a:bodyPr wrap="square" lIns="0" rIns="0" tIns="0" bIns="0" anchor="t">
            <a:spAutoFit/>
          </a:bodyPr>
          <a:lstStyle/>
          <a:p>
            <a:pPr algn="l"/>
            <a:r>
              <a:rPr sz="2000" b="1" i="0">
                <a:solidFill>
                  <a:srgbClr val="17324D"/>
                </a:solidFill>
                <a:latin typeface="Arial"/>
              </a:rPr>
              <a:t>Planificación e hitos</a:t>
            </a:r>
          </a:p>
        </p:txBody>
      </p:sp>
      <p:sp>
        <p:nvSpPr>
          <p:cNvPr id="18" name="TextBox 17"/>
          <p:cNvSpPr txBox="1"/>
          <p:nvPr/>
        </p:nvSpPr>
        <p:spPr>
          <a:xfrm>
            <a:off x="1280160" y="4160520"/>
            <a:ext cx="9601200" cy="320040"/>
          </a:xfrm>
          <a:prstGeom prst="rect">
            <a:avLst/>
          </a:prstGeom>
          <a:noFill/>
        </p:spPr>
        <p:txBody>
          <a:bodyPr wrap="square" lIns="0" rIns="0" tIns="0" bIns="0" anchor="t">
            <a:spAutoFit/>
          </a:bodyPr>
          <a:lstStyle/>
          <a:p>
            <a:pPr algn="l"/>
            <a:r>
              <a:rPr sz="1400" b="0" i="0">
                <a:solidFill>
                  <a:srgbClr val="6B7A89"/>
                </a:solidFill>
                <a:latin typeface="Arial"/>
              </a:rPr>
              <a:t>Subdocumento 7, apartados 7.3 y 7.4</a:t>
            </a:r>
          </a:p>
        </p:txBody>
      </p:sp>
      <p:cxnSp>
        <p:nvCxnSpPr>
          <p:cNvPr id="19" name="Connector 18"/>
          <p:cNvCxnSpPr/>
          <p:nvPr/>
        </p:nvCxnSpPr>
        <p:spPr>
          <a:xfrm>
            <a:off x="548640" y="4617720"/>
            <a:ext cx="11094415"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48640" y="4754879"/>
            <a:ext cx="640080" cy="548640"/>
          </a:xfrm>
          <a:prstGeom prst="rect">
            <a:avLst/>
          </a:prstGeom>
          <a:noFill/>
        </p:spPr>
        <p:txBody>
          <a:bodyPr wrap="square" lIns="0" rIns="0" tIns="0" bIns="0" anchor="t">
            <a:spAutoFit/>
          </a:bodyPr>
          <a:lstStyle/>
          <a:p>
            <a:pPr algn="l"/>
            <a:r>
              <a:rPr sz="3000" b="1" i="0">
                <a:solidFill>
                  <a:srgbClr val="196197"/>
                </a:solidFill>
                <a:latin typeface="Arial"/>
              </a:rPr>
              <a:t>4</a:t>
            </a:r>
          </a:p>
        </p:txBody>
      </p:sp>
      <p:sp>
        <p:nvSpPr>
          <p:cNvPr id="21" name="TextBox 20"/>
          <p:cNvSpPr txBox="1"/>
          <p:nvPr/>
        </p:nvSpPr>
        <p:spPr>
          <a:xfrm>
            <a:off x="1280160" y="4773167"/>
            <a:ext cx="9601200" cy="411480"/>
          </a:xfrm>
          <a:prstGeom prst="rect">
            <a:avLst/>
          </a:prstGeom>
          <a:noFill/>
        </p:spPr>
        <p:txBody>
          <a:bodyPr wrap="square" lIns="0" rIns="0" tIns="0" bIns="0" anchor="t">
            <a:spAutoFit/>
          </a:bodyPr>
          <a:lstStyle/>
          <a:p>
            <a:pPr algn="l"/>
            <a:r>
              <a:rPr sz="2000" b="1" i="0">
                <a:solidFill>
                  <a:srgbClr val="17324D"/>
                </a:solidFill>
                <a:latin typeface="Arial"/>
              </a:rPr>
              <a:t>Análisis de riesgos de la solución, del desarrollo y de la implantación</a:t>
            </a:r>
          </a:p>
        </p:txBody>
      </p:sp>
      <p:sp>
        <p:nvSpPr>
          <p:cNvPr id="22" name="TextBox 21"/>
          <p:cNvSpPr txBox="1"/>
          <p:nvPr/>
        </p:nvSpPr>
        <p:spPr>
          <a:xfrm>
            <a:off x="1280160" y="5212079"/>
            <a:ext cx="9601200" cy="320040"/>
          </a:xfrm>
          <a:prstGeom prst="rect">
            <a:avLst/>
          </a:prstGeom>
          <a:noFill/>
        </p:spPr>
        <p:txBody>
          <a:bodyPr wrap="square" lIns="0" rIns="0" tIns="0" bIns="0" anchor="t">
            <a:spAutoFit/>
          </a:bodyPr>
          <a:lstStyle/>
          <a:p>
            <a:pPr algn="l"/>
            <a:r>
              <a:rPr sz="1400" b="0" i="0">
                <a:solidFill>
                  <a:srgbClr val="6B7A89"/>
                </a:solidFill>
                <a:latin typeface="Arial"/>
              </a:rPr>
              <a:t>Subdocumento 8</a:t>
            </a:r>
          </a:p>
        </p:txBody>
      </p:sp>
      <p:cxnSp>
        <p:nvCxnSpPr>
          <p:cNvPr id="23" name="Connector 22"/>
          <p:cNvCxnSpPr/>
          <p:nvPr/>
        </p:nvCxnSpPr>
        <p:spPr>
          <a:xfrm>
            <a:off x="548640" y="5669279"/>
            <a:ext cx="11094415"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Correcciones del Informe 1: resumen por subdocumento</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Informe 1 (septiembre de 2026), Informe 2 vigente y revisión del Informe 1.</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3</a:t>
            </a:r>
          </a:p>
        </p:txBody>
      </p:sp>
      <p:graphicFrame>
        <p:nvGraphicFramePr>
          <p:cNvPr id="9" name="Table 8"/>
          <p:cNvGraphicFramePr>
            <a:graphicFrameLocks noGrp="1"/>
          </p:cNvGraphicFramePr>
          <p:nvPr/>
        </p:nvGraphicFramePr>
        <p:xfrm>
          <a:off x="548640" y="1417320"/>
          <a:ext cx="11091672" cy="4224528"/>
        </p:xfrm>
        <a:graphic>
          <a:graphicData uri="http://schemas.openxmlformats.org/drawingml/2006/table">
            <a:tbl>
              <a:tblPr firstRow="0" bandRow="0">
                <a:tableStyleId>{5940675A-B579-460E-94D1-54222C63F5DA}</a:tableStyleId>
              </a:tblPr>
              <a:tblGrid>
                <a:gridCol w="2926080"/>
                <a:gridCol w="2103120"/>
                <a:gridCol w="2103120"/>
                <a:gridCol w="3959352"/>
              </a:tblGrid>
              <a:tr h="384048">
                <a:tc>
                  <a:txBody>
                    <a:bodyPr wrap="square"/>
                    <a:lstStyle/>
                    <a:p>
                      <a:pPr algn="l"/>
                      <a:r>
                        <a:rPr sz="1300" b="1">
                          <a:solidFill>
                            <a:srgbClr val="FFFFFF"/>
                          </a:solidFill>
                          <a:latin typeface="Arial"/>
                        </a:rPr>
                        <a:t>Subdocumento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Informe 1</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Informe 2</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Cambio principal</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548640">
                <a:tc>
                  <a:txBody>
                    <a:bodyPr wrap="square"/>
                    <a:lstStyle/>
                    <a:p>
                      <a:pPr algn="l"/>
                      <a:r>
                        <a:rPr sz="1300" b="1">
                          <a:solidFill>
                            <a:srgbClr val="17324D"/>
                          </a:solidFill>
                          <a:latin typeface="Arial"/>
                        </a:rPr>
                        <a:t>1 · Presentación de la empresa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11 págs.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15 págs.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Formulario T-6, organigrama, gobierno interno y certificaciones con plan de 12 meses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2 · Problema y necesidad</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18 págs. · 0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32 págs. · 5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Reorganizado en las cuatro promesas y sus causas raíz; con referencias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3 · Esquema de solución y alcance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203 págs. · 1 figura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44 págs. · 16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Reescrito: alcance por etapa y servicios por frente; T-12 como formulario aparte</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4 · Arquitectura lógica y física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92 págs. · 3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57 págs. · 20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Arquitectura física rehecha: regiones, sitios, tienda tipo y centros de datos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5 · Modelo y gestión de datos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18 págs. · 0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45 págs. · 9 figuras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Cinco dominios, diccionario de datos, migración por olas y carga del numeral 14.2</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13 · Innovaciones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5 decisiones de arquitectura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5 innovaciones nuevas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Cartera reemplazada por innovaciones que no son requisito de las Bases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Forma del documento</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300" b="0">
                          <a:solidFill>
                            <a:srgbClr val="17324D"/>
                          </a:solidFill>
                          <a:latin typeface="Arial"/>
                        </a:rPr>
                        <a:t>Sin encabezado ni firma</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300" b="0">
                          <a:solidFill>
                            <a:srgbClr val="17324D"/>
                          </a:solidFill>
                          <a:latin typeface="Arial"/>
                        </a:rPr>
                        <a:t>Encabezado y media firma</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300" b="0">
                          <a:solidFill>
                            <a:srgbClr val="17324D"/>
                          </a:solidFill>
                          <a:latin typeface="Arial"/>
                        </a:rPr>
                        <a:t>Declaración de uso de IA por subdocumento y formularios T-6, T-11 y T-12</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Trazabilidad de las observaciones del Informe 1</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Formulario T-22, Tablas T-22.1 a T-22.8 (124 observaciones).</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4</a:t>
            </a:r>
          </a:p>
        </p:txBody>
      </p:sp>
      <p:graphicFrame>
        <p:nvGraphicFramePr>
          <p:cNvPr id="9" name="Table 8"/>
          <p:cNvGraphicFramePr>
            <a:graphicFrameLocks noGrp="1"/>
          </p:cNvGraphicFramePr>
          <p:nvPr/>
        </p:nvGraphicFramePr>
        <p:xfrm>
          <a:off x="548640" y="1280160"/>
          <a:ext cx="11091672" cy="4389120"/>
        </p:xfrm>
        <a:graphic>
          <a:graphicData uri="http://schemas.openxmlformats.org/drawingml/2006/table">
            <a:tbl>
              <a:tblPr firstRow="0" bandRow="0">
                <a:tableStyleId>{5940675A-B579-460E-94D1-54222C63F5DA}</a:tableStyleId>
              </a:tblPr>
              <a:tblGrid>
                <a:gridCol w="640080"/>
                <a:gridCol w="3200400"/>
                <a:gridCol w="4572000"/>
                <a:gridCol w="2679192"/>
              </a:tblGrid>
              <a:tr h="329184">
                <a:tc>
                  <a:txBody>
                    <a:bodyPr wrap="square"/>
                    <a:lstStyle/>
                    <a:p>
                      <a:pPr algn="l"/>
                      <a:r>
                        <a:rPr sz="1100" b="1">
                          <a:solidFill>
                            <a:srgbClr val="FFFFFF"/>
                          </a:solidFill>
                          <a:latin typeface="Arial"/>
                        </a:rPr>
                        <a:t>N.º</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100" b="1">
                          <a:solidFill>
                            <a:srgbClr val="FFFFFF"/>
                          </a:solidFill>
                          <a:latin typeface="Arial"/>
                        </a:rPr>
                        <a:t>Observación del Informe 1</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100" b="1">
                          <a:solidFill>
                            <a:srgbClr val="FFFFFF"/>
                          </a:solidFill>
                          <a:latin typeface="Arial"/>
                        </a:rPr>
                        <a:t>Respuesta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100" b="1">
                          <a:solidFill>
                            <a:srgbClr val="FFFFFF"/>
                          </a:solidFill>
                          <a:latin typeface="Arial"/>
                        </a:rPr>
                        <a:t>Sección modificada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38328">
                <a:tc>
                  <a:txBody>
                    <a:bodyPr wrap="square"/>
                    <a:lstStyle/>
                    <a:p>
                      <a:pPr algn="l"/>
                      <a:r>
                        <a:rPr sz="1100" b="1">
                          <a:solidFill>
                            <a:srgbClr val="196197"/>
                          </a:solidFill>
                          <a:latin typeface="Arial"/>
                        </a:rPr>
                        <a:t>G-1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Sin declaración de uso de IA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Sección «Declaración de uso de IA» en cada subdocumento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1, 2, 3, 4, 5 y 13</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G-3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Frases del proceso de revisión en el texto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Subdocumentos reescritos; frases eliminadas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1 y 4</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3-13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T-12 con «No» sin interpretar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T-12 regenerado: cada fila declara su estado y su sección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T-12; Sd 3, 3.2.4</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3-2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Único diagrama: el estado actual</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Dieciséis figuras de la solución, de la 3.1 a la 3.16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3, 3.1 a 3.4</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3-6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Autonomía sin enlace con tres cifras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Una sola, de 24 h, con corte provocado y retorno ensayado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3, 3.1, 3.2.3 y 3.4.5</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3-5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Precio retenido en caja frente a 5 min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Se retiró la retención; propagación a 380 cajas en 5 min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3, 3.4.2 y 3.2.3</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4-21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Diagrama físico sin sitios ni centros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Ocho sitios, tienda tipo y Figuras 4.13 a 4.20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4, 4.2 y 4.2.1</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4-23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Sin región primaria ni secundaria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Chile Central y Brazil South, con tres zonas cada una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4, 4.1.1, 4.3.1 y 4.3.2</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4-25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Sitio secundario en la misma comuna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Recuperación en Brazil South; la sala de respaldo solo complementa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4, 4.3.2 y Tabla 4.16</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5-1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Sin diccionario de datos ni modelo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Modelo por dominio y diccionario de datos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5, 5.1 y Anexo A.1</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13-1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Innovaciones que ya exigía el caso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Cartera nueva de cinco innovaciones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Sd 13 y Formularios T-19</a:t>
                      </a:r>
                    </a:p>
                  </a:txBody>
                  <a:tcPr marL="73152" marR="73152" marT="27432" marB="27432" anchor="ctr">
                    <a:solidFill>
                      <a:srgbClr val="FFFFFF"/>
                    </a:solidFill>
                    <a:lnL w="0">
                      <a:noFill/>
                    </a:lnL>
                    <a:lnR w="0">
                      <a:noFill/>
                    </a:lnR>
                    <a:lnT w="0">
                      <a:noFill/>
                    </a:lnT>
                    <a:lnB w="9525">
                      <a:solidFill>
                        <a:srgbClr val="C9D2DB"/>
                      </a:solidFill>
                    </a:lnB>
                  </a:tcPr>
                </a:tc>
              </a:tr>
              <a:tr h="338328">
                <a:tc>
                  <a:txBody>
                    <a:bodyPr wrap="square"/>
                    <a:lstStyle/>
                    <a:p>
                      <a:pPr algn="l"/>
                      <a:r>
                        <a:rPr sz="1100" b="1">
                          <a:solidFill>
                            <a:srgbClr val="196197"/>
                          </a:solidFill>
                          <a:latin typeface="Arial"/>
                        </a:rPr>
                        <a:t>1-5</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100" b="0">
                          <a:solidFill>
                            <a:srgbClr val="17324D"/>
                          </a:solidFill>
                          <a:latin typeface="Arial"/>
                        </a:rPr>
                        <a:t>Certificaciones sin acreditar</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100" b="0">
                          <a:solidFill>
                            <a:srgbClr val="17324D"/>
                          </a:solidFill>
                          <a:latin typeface="Arial"/>
                        </a:rPr>
                        <a:t>Cuatro vigentes y un plan a 12 meses para las demás</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100" b="0">
                          <a:solidFill>
                            <a:srgbClr val="17324D"/>
                          </a:solidFill>
                          <a:latin typeface="Arial"/>
                        </a:rPr>
                        <a:t>Sd 1, 1.4.1</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10" name="TextBox 9"/>
          <p:cNvSpPr txBox="1"/>
          <p:nvPr/>
        </p:nvSpPr>
        <p:spPr>
          <a:xfrm>
            <a:off x="548640" y="5788152"/>
            <a:ext cx="11094415" cy="228600"/>
          </a:xfrm>
          <a:prstGeom prst="rect">
            <a:avLst/>
          </a:prstGeom>
          <a:noFill/>
        </p:spPr>
        <p:txBody>
          <a:bodyPr wrap="square" lIns="0" rIns="0" tIns="0" bIns="0" anchor="t">
            <a:spAutoFit/>
          </a:bodyPr>
          <a:lstStyle/>
          <a:p>
            <a:pPr algn="l"/>
            <a:r>
              <a:rPr sz="1100" b="0" i="0">
                <a:solidFill>
                  <a:srgbClr val="6B7A89"/>
                </a:solidFill>
                <a:latin typeface="Arial"/>
              </a:rPr>
              <a:t>124 observaciones: 118 con respuesta y 6 pendientes declaradas (T-8, socio Microsoft, sectores, plan de comunicación de la cartera y folio).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Subdocumento 3: esquema de solución y alcance</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3, Figura 3.1 y apartado 3.2; Formulario T-12.</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5</a:t>
            </a:r>
          </a:p>
        </p:txBody>
      </p:sp>
      <p:pic>
        <p:nvPicPr>
          <p:cNvPr id="9" name="Picture 8" descr="diag-03-01_mapa-servicios.png"/>
          <p:cNvPicPr>
            <a:picLocks noChangeAspect="1"/>
          </p:cNvPicPr>
          <p:nvPr/>
        </p:nvPicPr>
        <p:blipFill>
          <a:blip r:embed="rId4"/>
          <a:stretch>
            <a:fillRect/>
          </a:stretch>
        </p:blipFill>
        <p:spPr>
          <a:xfrm>
            <a:off x="548640" y="1325880"/>
            <a:ext cx="3658492" cy="4754880"/>
          </a:xfrm>
          <a:prstGeom prst="rect">
            <a:avLst/>
          </a:prstGeom>
        </p:spPr>
      </p:pic>
      <p:sp>
        <p:nvSpPr>
          <p:cNvPr id="10" name="TextBox 9"/>
          <p:cNvSpPr txBox="1"/>
          <p:nvPr/>
        </p:nvSpPr>
        <p:spPr>
          <a:xfrm>
            <a:off x="4572000" y="1417320"/>
            <a:ext cx="7071055" cy="320040"/>
          </a:xfrm>
          <a:prstGeom prst="rect">
            <a:avLst/>
          </a:prstGeom>
          <a:noFill/>
        </p:spPr>
        <p:txBody>
          <a:bodyPr wrap="square" lIns="0" rIns="0" tIns="0" bIns="0" anchor="t">
            <a:spAutoFit/>
          </a:bodyPr>
          <a:lstStyle/>
          <a:p>
            <a:pPr algn="l"/>
            <a:r>
              <a:rPr sz="1600" b="1" i="0">
                <a:solidFill>
                  <a:srgbClr val="6B7A89"/>
                </a:solidFill>
                <a:latin typeface="Arial"/>
              </a:rPr>
              <a:t>Informe 1</a:t>
            </a:r>
          </a:p>
        </p:txBody>
      </p:sp>
      <p:sp>
        <p:nvSpPr>
          <p:cNvPr id="11" name="TextBox 10"/>
          <p:cNvSpPr txBox="1"/>
          <p:nvPr/>
        </p:nvSpPr>
        <p:spPr>
          <a:xfrm>
            <a:off x="4572000" y="1783080"/>
            <a:ext cx="7071055" cy="1463040"/>
          </a:xfrm>
          <a:prstGeom prst="rect">
            <a:avLst/>
          </a:prstGeom>
          <a:noFill/>
        </p:spPr>
        <p:txBody>
          <a:bodyPr wrap="square" lIns="0" rIns="0" tIns="0" bIns="0" anchor="t">
            <a:spAutoFit/>
          </a:bodyPr>
          <a:lstStyle/>
          <a:p>
            <a:pPr algn="l">
              <a:spcAft>
                <a:spcPts val="600"/>
              </a:spcAft>
            </a:pPr>
            <a:r>
              <a:rPr sz="1500" b="1" i="0">
                <a:solidFill>
                  <a:srgbClr val="277FA8"/>
                </a:solidFill>
                <a:latin typeface="Arial"/>
              </a:rPr>
              <a:t>•  </a:t>
            </a:r>
            <a:r>
              <a:rPr sz="1500" b="0" i="0">
                <a:solidFill>
                  <a:srgbClr val="17324D"/>
                </a:solidFill>
                <a:latin typeface="Arial"/>
              </a:rPr>
              <a:t>203 páginas, 130 de ellas la matriz T-12 dentro del cuerpo.</a:t>
            </a:r>
          </a:p>
          <a:p>
            <a:pPr algn="l">
              <a:spcAft>
                <a:spcPts val="600"/>
              </a:spcAft>
            </a:pPr>
            <a:r>
              <a:rPr sz="1500" b="1" i="0">
                <a:solidFill>
                  <a:srgbClr val="277FA8"/>
                </a:solidFill>
                <a:latin typeface="Arial"/>
              </a:rPr>
              <a:t>•  </a:t>
            </a:r>
            <a:r>
              <a:rPr sz="1500" b="0" i="0">
                <a:solidFill>
                  <a:srgbClr val="17324D"/>
                </a:solidFill>
                <a:latin typeface="Arial"/>
              </a:rPr>
              <a:t>Un solo diagrama, que mostraba el estado actual y no la solución.</a:t>
            </a:r>
          </a:p>
          <a:p>
            <a:pPr algn="l">
              <a:spcAft>
                <a:spcPts val="600"/>
              </a:spcAft>
            </a:pPr>
            <a:r>
              <a:rPr sz="1500" b="1" i="0">
                <a:solidFill>
                  <a:srgbClr val="277FA8"/>
                </a:solidFill>
                <a:latin typeface="Arial"/>
              </a:rPr>
              <a:t>•  </a:t>
            </a:r>
            <a:r>
              <a:rPr sz="1500" b="0" i="0">
                <a:solidFill>
                  <a:srgbClr val="17324D"/>
                </a:solidFill>
                <a:latin typeface="Arial"/>
              </a:rPr>
              <a:t>T-12 con 171 respuestas «No» sin leyenda.</a:t>
            </a:r>
          </a:p>
        </p:txBody>
      </p:sp>
      <p:sp>
        <p:nvSpPr>
          <p:cNvPr id="12" name="TextBox 11"/>
          <p:cNvSpPr txBox="1"/>
          <p:nvPr/>
        </p:nvSpPr>
        <p:spPr>
          <a:xfrm>
            <a:off x="4572000" y="3429000"/>
            <a:ext cx="7071055" cy="320040"/>
          </a:xfrm>
          <a:prstGeom prst="rect">
            <a:avLst/>
          </a:prstGeom>
          <a:noFill/>
        </p:spPr>
        <p:txBody>
          <a:bodyPr wrap="square" lIns="0" rIns="0" tIns="0" bIns="0" anchor="t">
            <a:spAutoFit/>
          </a:bodyPr>
          <a:lstStyle/>
          <a:p>
            <a:pPr algn="l"/>
            <a:r>
              <a:rPr sz="1600" b="1" i="0">
                <a:solidFill>
                  <a:srgbClr val="196197"/>
                </a:solidFill>
                <a:latin typeface="Arial"/>
              </a:rPr>
              <a:t>Informe 2</a:t>
            </a:r>
          </a:p>
        </p:txBody>
      </p:sp>
      <p:sp>
        <p:nvSpPr>
          <p:cNvPr id="13" name="TextBox 12"/>
          <p:cNvSpPr txBox="1"/>
          <p:nvPr/>
        </p:nvSpPr>
        <p:spPr>
          <a:xfrm>
            <a:off x="4572000" y="3794760"/>
            <a:ext cx="7071055" cy="2194560"/>
          </a:xfrm>
          <a:prstGeom prst="rect">
            <a:avLst/>
          </a:prstGeom>
          <a:noFill/>
        </p:spPr>
        <p:txBody>
          <a:bodyPr wrap="square" lIns="0" rIns="0" tIns="0" bIns="0" anchor="t">
            <a:spAutoFit/>
          </a:bodyPr>
          <a:lstStyle/>
          <a:p>
            <a:pPr algn="l">
              <a:spcAft>
                <a:spcPts val="600"/>
              </a:spcAft>
            </a:pPr>
            <a:r>
              <a:rPr sz="1500" b="1" i="0">
                <a:solidFill>
                  <a:srgbClr val="277FA8"/>
                </a:solidFill>
                <a:latin typeface="Arial"/>
              </a:rPr>
              <a:t>•  </a:t>
            </a:r>
            <a:r>
              <a:rPr sz="1500" b="0" i="0">
                <a:solidFill>
                  <a:srgbClr val="17324D"/>
                </a:solidFill>
                <a:latin typeface="Arial"/>
              </a:rPr>
              <a:t>44 páginas y 16 figuras.</a:t>
            </a:r>
          </a:p>
          <a:p>
            <a:pPr algn="l">
              <a:spcAft>
                <a:spcPts val="600"/>
              </a:spcAft>
            </a:pPr>
            <a:r>
              <a:rPr sz="1500" b="1" i="0">
                <a:solidFill>
                  <a:srgbClr val="277FA8"/>
                </a:solidFill>
                <a:latin typeface="Arial"/>
              </a:rPr>
              <a:t>•  </a:t>
            </a:r>
            <a:r>
              <a:rPr sz="1500" b="0" i="0">
                <a:solidFill>
                  <a:srgbClr val="17324D"/>
                </a:solidFill>
                <a:latin typeface="Arial"/>
              </a:rPr>
              <a:t>Alcance por etapa y servicios por frente: Retail, Frontera y Filial emisora.</a:t>
            </a:r>
          </a:p>
          <a:p>
            <a:pPr algn="l">
              <a:spcAft>
                <a:spcPts val="600"/>
              </a:spcAft>
            </a:pPr>
            <a:r>
              <a:rPr sz="1500" b="1" i="0">
                <a:solidFill>
                  <a:srgbClr val="277FA8"/>
                </a:solidFill>
                <a:latin typeface="Arial"/>
              </a:rPr>
              <a:t>•  </a:t>
            </a:r>
            <a:r>
              <a:rPr sz="1500" b="0" i="0">
                <a:solidFill>
                  <a:srgbClr val="17324D"/>
                </a:solidFill>
                <a:latin typeface="Arial"/>
              </a:rPr>
              <a:t>Cada servicio con su etapa y los sistemas que se conservan (Figura 3.1).</a:t>
            </a:r>
          </a:p>
          <a:p>
            <a:pPr algn="l">
              <a:spcAft>
                <a:spcPts val="600"/>
              </a:spcAft>
            </a:pPr>
            <a:r>
              <a:rPr sz="1500" b="1" i="0">
                <a:solidFill>
                  <a:srgbClr val="277FA8"/>
                </a:solidFill>
                <a:latin typeface="Arial"/>
              </a:rPr>
              <a:t>•  </a:t>
            </a:r>
            <a:r>
              <a:rPr sz="1500" b="0" i="0">
                <a:solidFill>
                  <a:srgbClr val="17324D"/>
                </a:solidFill>
                <a:latin typeface="Arial"/>
              </a:rPr>
              <a:t>T-12 como formulario aparte, con leyenda de cuatro estados.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Subdocumento 4: arquitectura física</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4, apartados 4.2 y 4.3, Figura 4.13; Formulario T-11.</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6</a:t>
            </a:r>
          </a:p>
        </p:txBody>
      </p:sp>
      <p:pic>
        <p:nvPicPr>
          <p:cNvPr id="9" name="Picture 8" descr="diag-04-13_arquitectura-fisica-general.png"/>
          <p:cNvPicPr>
            <a:picLocks noChangeAspect="1"/>
          </p:cNvPicPr>
          <p:nvPr/>
        </p:nvPicPr>
        <p:blipFill>
          <a:blip r:embed="rId4"/>
          <a:stretch>
            <a:fillRect/>
          </a:stretch>
        </p:blipFill>
        <p:spPr>
          <a:xfrm>
            <a:off x="548640" y="1371600"/>
            <a:ext cx="6949440" cy="4542582"/>
          </a:xfrm>
          <a:prstGeom prst="rect">
            <a:avLst/>
          </a:prstGeom>
        </p:spPr>
      </p:pic>
      <p:sp>
        <p:nvSpPr>
          <p:cNvPr id="10" name="TextBox 9"/>
          <p:cNvSpPr txBox="1"/>
          <p:nvPr/>
        </p:nvSpPr>
        <p:spPr>
          <a:xfrm>
            <a:off x="7863840" y="1417320"/>
            <a:ext cx="3779215" cy="320040"/>
          </a:xfrm>
          <a:prstGeom prst="rect">
            <a:avLst/>
          </a:prstGeom>
          <a:noFill/>
        </p:spPr>
        <p:txBody>
          <a:bodyPr wrap="square" lIns="0" rIns="0" tIns="0" bIns="0" anchor="t">
            <a:spAutoFit/>
          </a:bodyPr>
          <a:lstStyle/>
          <a:p>
            <a:pPr algn="l"/>
            <a:r>
              <a:rPr sz="1600" b="1" i="0">
                <a:solidFill>
                  <a:srgbClr val="6B7A89"/>
                </a:solidFill>
                <a:latin typeface="Arial"/>
              </a:rPr>
              <a:t>Informe 1</a:t>
            </a:r>
          </a:p>
        </p:txBody>
      </p:sp>
      <p:sp>
        <p:nvSpPr>
          <p:cNvPr id="11" name="TextBox 10"/>
          <p:cNvSpPr txBox="1"/>
          <p:nvPr/>
        </p:nvSpPr>
        <p:spPr>
          <a:xfrm>
            <a:off x="7863840" y="1783080"/>
            <a:ext cx="3779215" cy="1737360"/>
          </a:xfrm>
          <a:prstGeom prst="rect">
            <a:avLst/>
          </a:prstGeom>
          <a:noFill/>
        </p:spPr>
        <p:txBody>
          <a:bodyPr wrap="square" lIns="0" rIns="0" tIns="0" bIns="0" anchor="t">
            <a:spAutoFit/>
          </a:bodyPr>
          <a:lstStyle/>
          <a:p>
            <a:pPr algn="l">
              <a:spcAft>
                <a:spcPts val="600"/>
              </a:spcAft>
            </a:pPr>
            <a:r>
              <a:rPr sz="1500" b="1" i="0">
                <a:solidFill>
                  <a:srgbClr val="277FA8"/>
                </a:solidFill>
                <a:latin typeface="Arial"/>
              </a:rPr>
              <a:t>•  </a:t>
            </a:r>
            <a:r>
              <a:rPr sz="1500" b="0" i="0">
                <a:solidFill>
                  <a:srgbClr val="17324D"/>
                </a:solidFill>
                <a:latin typeface="Arial"/>
              </a:rPr>
              <a:t>Despliegue lógico sin región de nube ni sitios.</a:t>
            </a:r>
          </a:p>
          <a:p>
            <a:pPr algn="l">
              <a:spcAft>
                <a:spcPts val="600"/>
              </a:spcAft>
            </a:pPr>
            <a:r>
              <a:rPr sz="1500" b="1" i="0">
                <a:solidFill>
                  <a:srgbClr val="277FA8"/>
                </a:solidFill>
                <a:latin typeface="Arial"/>
              </a:rPr>
              <a:t>•  </a:t>
            </a:r>
            <a:r>
              <a:rPr sz="1500" b="0" i="0">
                <a:solidFill>
                  <a:srgbClr val="17324D"/>
                </a:solidFill>
                <a:latin typeface="Arial"/>
              </a:rPr>
              <a:t>Las 22 tiendas en una sola caja.</a:t>
            </a:r>
          </a:p>
          <a:p>
            <a:pPr algn="l">
              <a:spcAft>
                <a:spcPts val="600"/>
              </a:spcAft>
            </a:pPr>
            <a:r>
              <a:rPr sz="1500" b="1" i="0">
                <a:solidFill>
                  <a:srgbClr val="277FA8"/>
                </a:solidFill>
                <a:latin typeface="Arial"/>
              </a:rPr>
              <a:t>•  </a:t>
            </a:r>
            <a:r>
              <a:rPr sz="1500" b="0" i="0">
                <a:solidFill>
                  <a:srgbClr val="17324D"/>
                </a:solidFill>
                <a:latin typeface="Arial"/>
              </a:rPr>
              <a:t>Sin especificación de implementos.</a:t>
            </a:r>
          </a:p>
        </p:txBody>
      </p:sp>
      <p:sp>
        <p:nvSpPr>
          <p:cNvPr id="12" name="TextBox 11"/>
          <p:cNvSpPr txBox="1"/>
          <p:nvPr/>
        </p:nvSpPr>
        <p:spPr>
          <a:xfrm>
            <a:off x="7863840" y="3429000"/>
            <a:ext cx="3779215" cy="320040"/>
          </a:xfrm>
          <a:prstGeom prst="rect">
            <a:avLst/>
          </a:prstGeom>
          <a:noFill/>
        </p:spPr>
        <p:txBody>
          <a:bodyPr wrap="square" lIns="0" rIns="0" tIns="0" bIns="0" anchor="t">
            <a:spAutoFit/>
          </a:bodyPr>
          <a:lstStyle/>
          <a:p>
            <a:pPr algn="l"/>
            <a:r>
              <a:rPr sz="1600" b="1" i="0">
                <a:solidFill>
                  <a:srgbClr val="196197"/>
                </a:solidFill>
                <a:latin typeface="Arial"/>
              </a:rPr>
              <a:t>Informe 2</a:t>
            </a:r>
          </a:p>
        </p:txBody>
      </p:sp>
      <p:sp>
        <p:nvSpPr>
          <p:cNvPr id="13" name="TextBox 12"/>
          <p:cNvSpPr txBox="1"/>
          <p:nvPr/>
        </p:nvSpPr>
        <p:spPr>
          <a:xfrm>
            <a:off x="7863840" y="3794760"/>
            <a:ext cx="3779215" cy="2194560"/>
          </a:xfrm>
          <a:prstGeom prst="rect">
            <a:avLst/>
          </a:prstGeom>
          <a:noFill/>
        </p:spPr>
        <p:txBody>
          <a:bodyPr wrap="square" lIns="0" rIns="0" tIns="0" bIns="0" anchor="t">
            <a:spAutoFit/>
          </a:bodyPr>
          <a:lstStyle/>
          <a:p>
            <a:pPr algn="l">
              <a:spcAft>
                <a:spcPts val="600"/>
              </a:spcAft>
            </a:pPr>
            <a:r>
              <a:rPr sz="1500" b="1" i="0">
                <a:solidFill>
                  <a:srgbClr val="277FA8"/>
                </a:solidFill>
                <a:latin typeface="Arial"/>
              </a:rPr>
              <a:t>•  </a:t>
            </a:r>
            <a:r>
              <a:rPr sz="1500" b="0" i="0">
                <a:solidFill>
                  <a:srgbClr val="17324D"/>
                </a:solidFill>
                <a:latin typeface="Arial"/>
              </a:rPr>
              <a:t>Región primaria Azure Chile Central; secundaria Brazil South.</a:t>
            </a:r>
          </a:p>
          <a:p>
            <a:pPr algn="l">
              <a:spcAft>
                <a:spcPts val="600"/>
              </a:spcAft>
            </a:pPr>
            <a:r>
              <a:rPr sz="1500" b="1" i="0">
                <a:solidFill>
                  <a:srgbClr val="277FA8"/>
                </a:solidFill>
                <a:latin typeface="Arial"/>
              </a:rPr>
              <a:t>•  </a:t>
            </a:r>
            <a:r>
              <a:rPr sz="1500" b="0" i="0">
                <a:solidFill>
                  <a:srgbClr val="17324D"/>
                </a:solidFill>
                <a:latin typeface="Arial"/>
              </a:rPr>
              <a:t>Ocho figuras físicas (4.13 a 4.20): red, ambientes, tienda tipo y centros de datos.</a:t>
            </a:r>
          </a:p>
          <a:p>
            <a:pPr algn="l">
              <a:spcAft>
                <a:spcPts val="600"/>
              </a:spcAft>
            </a:pPr>
            <a:r>
              <a:rPr sz="1500" b="1" i="0">
                <a:solidFill>
                  <a:srgbClr val="277FA8"/>
                </a:solidFill>
                <a:latin typeface="Arial"/>
              </a:rPr>
              <a:t>•  </a:t>
            </a:r>
            <a:r>
              <a:rPr sz="1500" b="0" i="0">
                <a:solidFill>
                  <a:srgbClr val="17324D"/>
                </a:solidFill>
                <a:latin typeface="Arial"/>
              </a:rPr>
              <a:t>Implementos en el Formulario T-11.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Esquema de la solución</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7</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3-17_esquema-de-solucion.png"/>
          <p:cNvPicPr>
            <a:picLocks noChangeAspect="1"/>
          </p:cNvPicPr>
          <p:nvPr/>
        </p:nvPicPr>
        <p:blipFill>
          <a:blip r:embed="rId2"/>
          <a:stretch>
            <a:fillRect/>
          </a:stretch>
        </p:blipFill>
        <p:spPr>
          <a:xfrm>
            <a:off x="1057774" y="640080"/>
            <a:ext cx="10076146"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2, Tabla 2.3; Subdocumento 3, apartados 3.1 y 3.2 y Tabla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Arquitectura lógica (1/3): las ocho capas</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8</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4-22_logica-1-capas.png"/>
          <p:cNvPicPr>
            <a:picLocks noChangeAspect="1"/>
          </p:cNvPicPr>
          <p:nvPr/>
        </p:nvPicPr>
        <p:blipFill>
          <a:blip r:embed="rId2"/>
          <a:stretch>
            <a:fillRect/>
          </a:stretch>
        </p:blipFill>
        <p:spPr>
          <a:xfrm>
            <a:off x="871231" y="640080"/>
            <a:ext cx="10449232"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4, apartado 4.1; Subdocumento 3, apartado 3.3; Bases Transversales, RT-02.01.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Arquitectura lógica (2/3): servicios de negocio y sus flujos</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9</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4-22_logica-2-servicios.png"/>
          <p:cNvPicPr>
            <a:picLocks noChangeAspect="1"/>
          </p:cNvPicPr>
          <p:nvPr/>
        </p:nvPicPr>
        <p:blipFill>
          <a:blip r:embed="rId2"/>
          <a:stretch>
            <a:fillRect/>
          </a:stretch>
        </p:blipFill>
        <p:spPr>
          <a:xfrm>
            <a:off x="976689" y="640080"/>
            <a:ext cx="10238317"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3, apartado 3.3.2; Subdocumento 4, Tabla 4.13.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Arquitectura lógica (3/3): integración y resiliencia</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10</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4-22_logica-3-integracion.png"/>
          <p:cNvPicPr>
            <a:picLocks noChangeAspect="1"/>
          </p:cNvPicPr>
          <p:nvPr/>
        </p:nvPicPr>
        <p:blipFill>
          <a:blip r:embed="rId2"/>
          <a:stretch>
            <a:fillRect/>
          </a:stretch>
        </p:blipFill>
        <p:spPr>
          <a:xfrm>
            <a:off x="1274902" y="640080"/>
            <a:ext cx="9641890"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4, apartado 4.1; Bases Transversales, RT-02.06 a RT-02.09.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Arquitectura física (1/3): zonas de red, capacidad y alcance</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11</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4-21_fisica-1-vista-general.png"/>
          <p:cNvPicPr>
            <a:picLocks noChangeAspect="1"/>
          </p:cNvPicPr>
          <p:nvPr/>
        </p:nvPicPr>
        <p:blipFill>
          <a:blip r:embed="rId2"/>
          <a:stretch>
            <a:fillRect/>
          </a:stretch>
        </p:blipFill>
        <p:spPr>
          <a:xfrm>
            <a:off x="912813" y="640080"/>
            <a:ext cx="10366069"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4, apartados 4.2 y 4.3, Tablas 4.10, 4.13 y 4.14; Formulario 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Arquitectura física (2/3): CLD-01 por zona de disponibilidad</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12</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4-21_fisica-2-zonas-cld01.png"/>
          <p:cNvPicPr>
            <a:picLocks noChangeAspect="1"/>
          </p:cNvPicPr>
          <p:nvPr/>
        </p:nvPicPr>
        <p:blipFill>
          <a:blip r:embed="rId2"/>
          <a:stretch>
            <a:fillRect/>
          </a:stretch>
        </p:blipFill>
        <p:spPr>
          <a:xfrm>
            <a:off x="1576427" y="640080"/>
            <a:ext cx="9038841"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4, Tabla 4.13; memoria de dimensionamiento de nodos.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
            <a:ext cx="10058400" cy="365760"/>
          </a:xfrm>
          <a:prstGeom prst="rect">
            <a:avLst/>
          </a:prstGeom>
          <a:noFill/>
        </p:spPr>
        <p:txBody>
          <a:bodyPr wrap="square" lIns="0" rIns="0" tIns="0" bIns="0" anchor="t">
            <a:spAutoFit/>
          </a:bodyPr>
          <a:lstStyle/>
          <a:p>
            <a:pPr algn="l"/>
            <a:r>
              <a:rPr sz="2000" b="1" i="0">
                <a:solidFill>
                  <a:srgbClr val="196197"/>
                </a:solidFill>
                <a:latin typeface="Arial"/>
              </a:rPr>
              <a:t>Arquitectura física (3/3): sitios, enlaces y recuperación</a:t>
            </a:r>
          </a:p>
        </p:txBody>
      </p:sp>
      <p:sp>
        <p:nvSpPr>
          <p:cNvPr id="3" name="TextBox 2"/>
          <p:cNvSpPr txBox="1"/>
          <p:nvPr/>
        </p:nvSpPr>
        <p:spPr>
          <a:xfrm>
            <a:off x="10728655" y="201168"/>
            <a:ext cx="914400" cy="274320"/>
          </a:xfrm>
          <a:prstGeom prst="rect">
            <a:avLst/>
          </a:prstGeom>
          <a:noFill/>
        </p:spPr>
        <p:txBody>
          <a:bodyPr wrap="square" lIns="0" rIns="0" tIns="0" bIns="0" anchor="t">
            <a:spAutoFit/>
          </a:bodyPr>
          <a:lstStyle/>
          <a:p>
            <a:pPr algn="r"/>
            <a:r>
              <a:rPr sz="1100" b="0" i="0">
                <a:solidFill>
                  <a:srgbClr val="17324D"/>
                </a:solidFill>
                <a:latin typeface="Arial"/>
              </a:rPr>
              <a:t>13</a:t>
            </a:r>
          </a:p>
        </p:txBody>
      </p:sp>
      <p:cxnSp>
        <p:nvCxnSpPr>
          <p:cNvPr id="4" name="Connector 3"/>
          <p:cNvCxnSpPr/>
          <p:nvPr/>
        </p:nvCxnSpPr>
        <p:spPr>
          <a:xfrm>
            <a:off x="548640" y="566928"/>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pic>
        <p:nvPicPr>
          <p:cNvPr id="5" name="Picture 4" descr="diag-04-21_fisica-3-sitios-y-recuperacion.png"/>
          <p:cNvPicPr>
            <a:picLocks noChangeAspect="1"/>
          </p:cNvPicPr>
          <p:nvPr/>
        </p:nvPicPr>
        <p:blipFill>
          <a:blip r:embed="rId2"/>
          <a:stretch>
            <a:fillRect/>
          </a:stretch>
        </p:blipFill>
        <p:spPr>
          <a:xfrm>
            <a:off x="1331563" y="640080"/>
            <a:ext cx="9528569" cy="5943600"/>
          </a:xfrm>
          <a:prstGeom prst="rect">
            <a:avLst/>
          </a:prstGeom>
        </p:spPr>
      </p:pic>
      <p:sp>
        <p:nvSpPr>
          <p:cNvPr id="6" name="TextBox 5"/>
          <p:cNvSpPr txBox="1"/>
          <p:nvPr/>
        </p:nvSpPr>
        <p:spPr>
          <a:xfrm>
            <a:off x="548640" y="6647688"/>
            <a:ext cx="11094415" cy="182880"/>
          </a:xfrm>
          <a:prstGeom prst="rect">
            <a:avLst/>
          </a:prstGeom>
          <a:noFill/>
        </p:spPr>
        <p:txBody>
          <a:bodyPr wrap="square" lIns="0" rIns="0" tIns="0" bIns="0" anchor="t">
            <a:spAutoFit/>
          </a:bodyPr>
          <a:lstStyle/>
          <a:p>
            <a:pPr algn="l"/>
            <a:r>
              <a:rPr sz="900" b="0" i="1">
                <a:solidFill>
                  <a:srgbClr val="6B7A89"/>
                </a:solidFill>
                <a:latin typeface="Arial"/>
              </a:rPr>
              <a:t>Fuente: Subdocumento 4, apartados 4.2.1, 4.3.1 y 4.3.2; Formulario T-11, Tablas T-11.5 y T-11.6.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Subdocumento 13: cartera de innovaciones</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Informe 1, Subdocumento 13; Informe 2, Subdocumento 13 y Formulario T-19.</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14</a:t>
            </a:r>
          </a:p>
        </p:txBody>
      </p:sp>
      <p:sp>
        <p:nvSpPr>
          <p:cNvPr id="9" name="Rectangle 8"/>
          <p:cNvSpPr/>
          <p:nvPr/>
        </p:nvSpPr>
        <p:spPr>
          <a:xfrm>
            <a:off x="548640" y="1417320"/>
            <a:ext cx="5440680" cy="411480"/>
          </a:xfrm>
          <a:prstGeom prst="rect">
            <a:avLst/>
          </a:prstGeom>
          <a:solidFill>
            <a:srgbClr val="6B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212080" cy="411480"/>
          </a:xfrm>
          <a:prstGeom prst="rect">
            <a:avLst/>
          </a:prstGeom>
          <a:noFill/>
        </p:spPr>
        <p:txBody>
          <a:bodyPr wrap="square" lIns="0" rIns="0" tIns="0" bIns="0" anchor="ctr">
            <a:spAutoFit/>
          </a:bodyPr>
          <a:lstStyle/>
          <a:p>
            <a:pPr algn="l"/>
            <a:r>
              <a:rPr sz="1500" b="1" i="0">
                <a:solidFill>
                  <a:srgbClr val="FFFFFF"/>
                </a:solidFill>
                <a:latin typeface="Arial"/>
              </a:rPr>
              <a:t>Informe 1: decisiones de arquitectura</a:t>
            </a:r>
          </a:p>
        </p:txBody>
      </p:sp>
      <p:sp>
        <p:nvSpPr>
          <p:cNvPr id="11" name="TextBox 10"/>
          <p:cNvSpPr txBox="1"/>
          <p:nvPr/>
        </p:nvSpPr>
        <p:spPr>
          <a:xfrm>
            <a:off x="685800" y="1920240"/>
            <a:ext cx="457200" cy="685800"/>
          </a:xfrm>
          <a:prstGeom prst="rect">
            <a:avLst/>
          </a:prstGeom>
          <a:noFill/>
        </p:spPr>
        <p:txBody>
          <a:bodyPr wrap="square" lIns="0" rIns="0" tIns="0" bIns="0" anchor="ctr">
            <a:spAutoFit/>
          </a:bodyPr>
          <a:lstStyle/>
          <a:p>
            <a:pPr algn="l"/>
            <a:r>
              <a:rPr sz="1800" b="1" i="0">
                <a:solidFill>
                  <a:srgbClr val="6B7A89"/>
                </a:solidFill>
                <a:latin typeface="Arial"/>
              </a:rPr>
              <a:t>1</a:t>
            </a:r>
          </a:p>
        </p:txBody>
      </p:sp>
      <p:sp>
        <p:nvSpPr>
          <p:cNvPr id="12" name="TextBox 11"/>
          <p:cNvSpPr txBox="1"/>
          <p:nvPr/>
        </p:nvSpPr>
        <p:spPr>
          <a:xfrm>
            <a:off x="1143000" y="1920240"/>
            <a:ext cx="4754880" cy="685800"/>
          </a:xfrm>
          <a:prstGeom prst="rect">
            <a:avLst/>
          </a:prstGeom>
          <a:noFill/>
        </p:spPr>
        <p:txBody>
          <a:bodyPr wrap="square" lIns="0" rIns="0" tIns="0" bIns="0" anchor="ctr">
            <a:spAutoFit/>
          </a:bodyPr>
          <a:lstStyle/>
          <a:p>
            <a:pPr algn="l"/>
            <a:r>
              <a:rPr sz="1600" b="0" i="0">
                <a:solidFill>
                  <a:srgbClr val="17324D"/>
                </a:solidFill>
                <a:latin typeface="Arial"/>
              </a:rPr>
              <a:t>Resolución de identidad federada de cliente</a:t>
            </a:r>
          </a:p>
        </p:txBody>
      </p:sp>
      <p:cxnSp>
        <p:nvCxnSpPr>
          <p:cNvPr id="13" name="Connector 12"/>
          <p:cNvCxnSpPr/>
          <p:nvPr/>
        </p:nvCxnSpPr>
        <p:spPr>
          <a:xfrm>
            <a:off x="548640" y="265176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2697480"/>
            <a:ext cx="457200" cy="685800"/>
          </a:xfrm>
          <a:prstGeom prst="rect">
            <a:avLst/>
          </a:prstGeom>
          <a:noFill/>
        </p:spPr>
        <p:txBody>
          <a:bodyPr wrap="square" lIns="0" rIns="0" tIns="0" bIns="0" anchor="ctr">
            <a:spAutoFit/>
          </a:bodyPr>
          <a:lstStyle/>
          <a:p>
            <a:pPr algn="l"/>
            <a:r>
              <a:rPr sz="1800" b="1" i="0">
                <a:solidFill>
                  <a:srgbClr val="6B7A89"/>
                </a:solidFill>
                <a:latin typeface="Arial"/>
              </a:rPr>
              <a:t>2</a:t>
            </a:r>
          </a:p>
        </p:txBody>
      </p:sp>
      <p:sp>
        <p:nvSpPr>
          <p:cNvPr id="15" name="TextBox 14"/>
          <p:cNvSpPr txBox="1"/>
          <p:nvPr/>
        </p:nvSpPr>
        <p:spPr>
          <a:xfrm>
            <a:off x="1143000" y="2697480"/>
            <a:ext cx="4754880" cy="685800"/>
          </a:xfrm>
          <a:prstGeom prst="rect">
            <a:avLst/>
          </a:prstGeom>
          <a:noFill/>
        </p:spPr>
        <p:txBody>
          <a:bodyPr wrap="square" lIns="0" rIns="0" tIns="0" bIns="0" anchor="ctr">
            <a:spAutoFit/>
          </a:bodyPr>
          <a:lstStyle/>
          <a:p>
            <a:pPr algn="l"/>
            <a:r>
              <a:rPr sz="1600" b="0" i="0">
                <a:solidFill>
                  <a:srgbClr val="17324D"/>
                </a:solidFill>
                <a:latin typeface="Arial"/>
              </a:rPr>
              <a:t>Migración por patrón estrangulador del núcleo legado</a:t>
            </a:r>
          </a:p>
        </p:txBody>
      </p:sp>
      <p:cxnSp>
        <p:nvCxnSpPr>
          <p:cNvPr id="16" name="Connector 15"/>
          <p:cNvCxnSpPr/>
          <p:nvPr/>
        </p:nvCxnSpPr>
        <p:spPr>
          <a:xfrm>
            <a:off x="548640" y="342900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474720"/>
            <a:ext cx="457200" cy="685800"/>
          </a:xfrm>
          <a:prstGeom prst="rect">
            <a:avLst/>
          </a:prstGeom>
          <a:noFill/>
        </p:spPr>
        <p:txBody>
          <a:bodyPr wrap="square" lIns="0" rIns="0" tIns="0" bIns="0" anchor="ctr">
            <a:spAutoFit/>
          </a:bodyPr>
          <a:lstStyle/>
          <a:p>
            <a:pPr algn="l"/>
            <a:r>
              <a:rPr sz="1800" b="1" i="0">
                <a:solidFill>
                  <a:srgbClr val="6B7A89"/>
                </a:solidFill>
                <a:latin typeface="Arial"/>
              </a:rPr>
              <a:t>3</a:t>
            </a:r>
          </a:p>
        </p:txBody>
      </p:sp>
      <p:sp>
        <p:nvSpPr>
          <p:cNvPr id="18" name="TextBox 17"/>
          <p:cNvSpPr txBox="1"/>
          <p:nvPr/>
        </p:nvSpPr>
        <p:spPr>
          <a:xfrm>
            <a:off x="1143000" y="3474720"/>
            <a:ext cx="4754880" cy="685800"/>
          </a:xfrm>
          <a:prstGeom prst="rect">
            <a:avLst/>
          </a:prstGeom>
          <a:noFill/>
        </p:spPr>
        <p:txBody>
          <a:bodyPr wrap="square" lIns="0" rIns="0" tIns="0" bIns="0" anchor="ctr">
            <a:spAutoFit/>
          </a:bodyPr>
          <a:lstStyle/>
          <a:p>
            <a:pPr algn="l"/>
            <a:r>
              <a:rPr sz="1600" b="0" i="0">
                <a:solidFill>
                  <a:srgbClr val="17324D"/>
                </a:solidFill>
                <a:latin typeface="Arial"/>
              </a:rPr>
              <a:t>Separación por teorema CAP de la verdad del precio</a:t>
            </a:r>
          </a:p>
        </p:txBody>
      </p:sp>
      <p:cxnSp>
        <p:nvCxnSpPr>
          <p:cNvPr id="19" name="Connector 18"/>
          <p:cNvCxnSpPr/>
          <p:nvPr/>
        </p:nvCxnSpPr>
        <p:spPr>
          <a:xfrm>
            <a:off x="548640" y="420624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4251960"/>
            <a:ext cx="457200" cy="685800"/>
          </a:xfrm>
          <a:prstGeom prst="rect">
            <a:avLst/>
          </a:prstGeom>
          <a:noFill/>
        </p:spPr>
        <p:txBody>
          <a:bodyPr wrap="square" lIns="0" rIns="0" tIns="0" bIns="0" anchor="ctr">
            <a:spAutoFit/>
          </a:bodyPr>
          <a:lstStyle/>
          <a:p>
            <a:pPr algn="l"/>
            <a:r>
              <a:rPr sz="1800" b="1" i="0">
                <a:solidFill>
                  <a:srgbClr val="6B7A89"/>
                </a:solidFill>
                <a:latin typeface="Arial"/>
              </a:rPr>
              <a:t>4</a:t>
            </a:r>
          </a:p>
        </p:txBody>
      </p:sp>
      <p:sp>
        <p:nvSpPr>
          <p:cNvPr id="21" name="TextBox 20"/>
          <p:cNvSpPr txBox="1"/>
          <p:nvPr/>
        </p:nvSpPr>
        <p:spPr>
          <a:xfrm>
            <a:off x="1143000" y="4251960"/>
            <a:ext cx="4754880" cy="685800"/>
          </a:xfrm>
          <a:prstGeom prst="rect">
            <a:avLst/>
          </a:prstGeom>
          <a:noFill/>
        </p:spPr>
        <p:txBody>
          <a:bodyPr wrap="square" lIns="0" rIns="0" tIns="0" bIns="0" anchor="ctr">
            <a:spAutoFit/>
          </a:bodyPr>
          <a:lstStyle/>
          <a:p>
            <a:pPr algn="l"/>
            <a:r>
              <a:rPr sz="1600" b="0" i="0">
                <a:solidFill>
                  <a:srgbClr val="17324D"/>
                </a:solidFill>
                <a:latin typeface="Arial"/>
              </a:rPr>
              <a:t>Modelo híbrido de aprovisionamiento por dominio</a:t>
            </a:r>
          </a:p>
        </p:txBody>
      </p:sp>
      <p:cxnSp>
        <p:nvCxnSpPr>
          <p:cNvPr id="22" name="Connector 21"/>
          <p:cNvCxnSpPr/>
          <p:nvPr/>
        </p:nvCxnSpPr>
        <p:spPr>
          <a:xfrm>
            <a:off x="548640" y="498348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5029200"/>
            <a:ext cx="457200" cy="685800"/>
          </a:xfrm>
          <a:prstGeom prst="rect">
            <a:avLst/>
          </a:prstGeom>
          <a:noFill/>
        </p:spPr>
        <p:txBody>
          <a:bodyPr wrap="square" lIns="0" rIns="0" tIns="0" bIns="0" anchor="ctr">
            <a:spAutoFit/>
          </a:bodyPr>
          <a:lstStyle/>
          <a:p>
            <a:pPr algn="l"/>
            <a:r>
              <a:rPr sz="1800" b="1" i="0">
                <a:solidFill>
                  <a:srgbClr val="6B7A89"/>
                </a:solidFill>
                <a:latin typeface="Arial"/>
              </a:rPr>
              <a:t>5</a:t>
            </a:r>
          </a:p>
        </p:txBody>
      </p:sp>
      <p:sp>
        <p:nvSpPr>
          <p:cNvPr id="24" name="TextBox 23"/>
          <p:cNvSpPr txBox="1"/>
          <p:nvPr/>
        </p:nvSpPr>
        <p:spPr>
          <a:xfrm>
            <a:off x="1143000" y="5029200"/>
            <a:ext cx="4754880" cy="685800"/>
          </a:xfrm>
          <a:prstGeom prst="rect">
            <a:avLst/>
          </a:prstGeom>
          <a:noFill/>
        </p:spPr>
        <p:txBody>
          <a:bodyPr wrap="square" lIns="0" rIns="0" tIns="0" bIns="0" anchor="ctr">
            <a:spAutoFit/>
          </a:bodyPr>
          <a:lstStyle/>
          <a:p>
            <a:pPr algn="l"/>
            <a:r>
              <a:rPr sz="1600" b="0" i="0">
                <a:solidFill>
                  <a:srgbClr val="17324D"/>
                </a:solidFill>
                <a:latin typeface="Arial"/>
              </a:rPr>
              <a:t>Continuidad operativa en tienda (borde y satélite)</a:t>
            </a:r>
          </a:p>
        </p:txBody>
      </p:sp>
      <p:cxnSp>
        <p:nvCxnSpPr>
          <p:cNvPr id="25" name="Connector 24"/>
          <p:cNvCxnSpPr/>
          <p:nvPr/>
        </p:nvCxnSpPr>
        <p:spPr>
          <a:xfrm>
            <a:off x="548640" y="576072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172200" y="1417320"/>
            <a:ext cx="5440680" cy="411480"/>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1417320"/>
            <a:ext cx="5212080" cy="411480"/>
          </a:xfrm>
          <a:prstGeom prst="rect">
            <a:avLst/>
          </a:prstGeom>
          <a:noFill/>
        </p:spPr>
        <p:txBody>
          <a:bodyPr wrap="square" lIns="0" rIns="0" tIns="0" bIns="0" anchor="ctr">
            <a:spAutoFit/>
          </a:bodyPr>
          <a:lstStyle/>
          <a:p>
            <a:pPr algn="l"/>
            <a:r>
              <a:rPr sz="1500" b="1" i="0">
                <a:solidFill>
                  <a:srgbClr val="FFFFFF"/>
                </a:solidFill>
                <a:latin typeface="Arial"/>
              </a:rPr>
              <a:t>Informe 2: innovaciones</a:t>
            </a:r>
          </a:p>
        </p:txBody>
      </p:sp>
      <p:sp>
        <p:nvSpPr>
          <p:cNvPr id="28" name="TextBox 27"/>
          <p:cNvSpPr txBox="1"/>
          <p:nvPr/>
        </p:nvSpPr>
        <p:spPr>
          <a:xfrm>
            <a:off x="6309360" y="1920240"/>
            <a:ext cx="457200" cy="685800"/>
          </a:xfrm>
          <a:prstGeom prst="rect">
            <a:avLst/>
          </a:prstGeom>
          <a:noFill/>
        </p:spPr>
        <p:txBody>
          <a:bodyPr wrap="square" lIns="0" rIns="0" tIns="0" bIns="0" anchor="ctr">
            <a:spAutoFit/>
          </a:bodyPr>
          <a:lstStyle/>
          <a:p>
            <a:pPr algn="l"/>
            <a:r>
              <a:rPr sz="1800" b="1" i="0">
                <a:solidFill>
                  <a:srgbClr val="196197"/>
                </a:solidFill>
                <a:latin typeface="Arial"/>
              </a:rPr>
              <a:t>1</a:t>
            </a:r>
          </a:p>
        </p:txBody>
      </p:sp>
      <p:sp>
        <p:nvSpPr>
          <p:cNvPr id="29" name="TextBox 28"/>
          <p:cNvSpPr txBox="1"/>
          <p:nvPr/>
        </p:nvSpPr>
        <p:spPr>
          <a:xfrm>
            <a:off x="6766560" y="1920240"/>
            <a:ext cx="4754880" cy="685800"/>
          </a:xfrm>
          <a:prstGeom prst="rect">
            <a:avLst/>
          </a:prstGeom>
          <a:noFill/>
        </p:spPr>
        <p:txBody>
          <a:bodyPr wrap="square" lIns="0" rIns="0" tIns="0" bIns="0" anchor="ctr">
            <a:spAutoFit/>
          </a:bodyPr>
          <a:lstStyle/>
          <a:p>
            <a:pPr algn="l"/>
            <a:r>
              <a:rPr sz="1600" b="0" i="0">
                <a:solidFill>
                  <a:srgbClr val="17324D"/>
                </a:solidFill>
                <a:latin typeface="Arial"/>
              </a:rPr>
              <a:t>Lockers Ancoa 24/7</a:t>
            </a:r>
          </a:p>
        </p:txBody>
      </p:sp>
      <p:cxnSp>
        <p:nvCxnSpPr>
          <p:cNvPr id="30" name="Connector 29"/>
          <p:cNvCxnSpPr/>
          <p:nvPr/>
        </p:nvCxnSpPr>
        <p:spPr>
          <a:xfrm>
            <a:off x="6172200" y="265176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09360" y="2697480"/>
            <a:ext cx="457200" cy="685800"/>
          </a:xfrm>
          <a:prstGeom prst="rect">
            <a:avLst/>
          </a:prstGeom>
          <a:noFill/>
        </p:spPr>
        <p:txBody>
          <a:bodyPr wrap="square" lIns="0" rIns="0" tIns="0" bIns="0" anchor="ctr">
            <a:spAutoFit/>
          </a:bodyPr>
          <a:lstStyle/>
          <a:p>
            <a:pPr algn="l"/>
            <a:r>
              <a:rPr sz="1800" b="1" i="0">
                <a:solidFill>
                  <a:srgbClr val="196197"/>
                </a:solidFill>
                <a:latin typeface="Arial"/>
              </a:rPr>
              <a:t>2</a:t>
            </a:r>
          </a:p>
        </p:txBody>
      </p:sp>
      <p:sp>
        <p:nvSpPr>
          <p:cNvPr id="32" name="TextBox 31"/>
          <p:cNvSpPr txBox="1"/>
          <p:nvPr/>
        </p:nvSpPr>
        <p:spPr>
          <a:xfrm>
            <a:off x="6766560" y="2697480"/>
            <a:ext cx="4754880" cy="685800"/>
          </a:xfrm>
          <a:prstGeom prst="rect">
            <a:avLst/>
          </a:prstGeom>
          <a:noFill/>
        </p:spPr>
        <p:txBody>
          <a:bodyPr wrap="square" lIns="0" rIns="0" tIns="0" bIns="0" anchor="ctr">
            <a:spAutoFit/>
          </a:bodyPr>
          <a:lstStyle/>
          <a:p>
            <a:pPr algn="l"/>
            <a:r>
              <a:rPr sz="1600" b="0" i="0">
                <a:solidFill>
                  <a:srgbClr val="17324D"/>
                </a:solidFill>
                <a:latin typeface="Arial"/>
              </a:rPr>
              <a:t>Conteo cíclico predictivo</a:t>
            </a:r>
          </a:p>
        </p:txBody>
      </p:sp>
      <p:cxnSp>
        <p:nvCxnSpPr>
          <p:cNvPr id="33" name="Connector 32"/>
          <p:cNvCxnSpPr/>
          <p:nvPr/>
        </p:nvCxnSpPr>
        <p:spPr>
          <a:xfrm>
            <a:off x="6172200" y="342900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09360" y="3474720"/>
            <a:ext cx="457200" cy="685800"/>
          </a:xfrm>
          <a:prstGeom prst="rect">
            <a:avLst/>
          </a:prstGeom>
          <a:noFill/>
        </p:spPr>
        <p:txBody>
          <a:bodyPr wrap="square" lIns="0" rIns="0" tIns="0" bIns="0" anchor="ctr">
            <a:spAutoFit/>
          </a:bodyPr>
          <a:lstStyle/>
          <a:p>
            <a:pPr algn="l"/>
            <a:r>
              <a:rPr sz="1800" b="1" i="0">
                <a:solidFill>
                  <a:srgbClr val="196197"/>
                </a:solidFill>
                <a:latin typeface="Arial"/>
              </a:rPr>
              <a:t>3</a:t>
            </a:r>
          </a:p>
        </p:txBody>
      </p:sp>
      <p:sp>
        <p:nvSpPr>
          <p:cNvPr id="35" name="TextBox 34"/>
          <p:cNvSpPr txBox="1"/>
          <p:nvPr/>
        </p:nvSpPr>
        <p:spPr>
          <a:xfrm>
            <a:off x="6766560" y="3474720"/>
            <a:ext cx="4754880" cy="685800"/>
          </a:xfrm>
          <a:prstGeom prst="rect">
            <a:avLst/>
          </a:prstGeom>
          <a:noFill/>
        </p:spPr>
        <p:txBody>
          <a:bodyPr wrap="square" lIns="0" rIns="0" tIns="0" bIns="0" anchor="ctr">
            <a:spAutoFit/>
          </a:bodyPr>
          <a:lstStyle/>
          <a:p>
            <a:pPr algn="l"/>
            <a:r>
              <a:rPr sz="1600" b="0" i="0">
                <a:solidFill>
                  <a:srgbClr val="17324D"/>
                </a:solidFill>
                <a:latin typeface="Arial"/>
              </a:rPr>
              <a:t>Búsqueda vectorial multimodal</a:t>
            </a:r>
          </a:p>
        </p:txBody>
      </p:sp>
      <p:cxnSp>
        <p:nvCxnSpPr>
          <p:cNvPr id="36" name="Connector 35"/>
          <p:cNvCxnSpPr/>
          <p:nvPr/>
        </p:nvCxnSpPr>
        <p:spPr>
          <a:xfrm>
            <a:off x="6172200" y="420624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309360" y="4251960"/>
            <a:ext cx="457200" cy="685800"/>
          </a:xfrm>
          <a:prstGeom prst="rect">
            <a:avLst/>
          </a:prstGeom>
          <a:noFill/>
        </p:spPr>
        <p:txBody>
          <a:bodyPr wrap="square" lIns="0" rIns="0" tIns="0" bIns="0" anchor="ctr">
            <a:spAutoFit/>
          </a:bodyPr>
          <a:lstStyle/>
          <a:p>
            <a:pPr algn="l"/>
            <a:r>
              <a:rPr sz="1800" b="1" i="0">
                <a:solidFill>
                  <a:srgbClr val="196197"/>
                </a:solidFill>
                <a:latin typeface="Arial"/>
              </a:rPr>
              <a:t>4</a:t>
            </a:r>
          </a:p>
        </p:txBody>
      </p:sp>
      <p:sp>
        <p:nvSpPr>
          <p:cNvPr id="38" name="TextBox 37"/>
          <p:cNvSpPr txBox="1"/>
          <p:nvPr/>
        </p:nvSpPr>
        <p:spPr>
          <a:xfrm>
            <a:off x="6766560" y="4251960"/>
            <a:ext cx="4754880" cy="685800"/>
          </a:xfrm>
          <a:prstGeom prst="rect">
            <a:avLst/>
          </a:prstGeom>
          <a:noFill/>
        </p:spPr>
        <p:txBody>
          <a:bodyPr wrap="square" lIns="0" rIns="0" tIns="0" bIns="0" anchor="ctr">
            <a:spAutoFit/>
          </a:bodyPr>
          <a:lstStyle/>
          <a:p>
            <a:pPr algn="l"/>
            <a:r>
              <a:rPr sz="1600" b="0" i="0">
                <a:solidFill>
                  <a:srgbClr val="17324D"/>
                </a:solidFill>
                <a:latin typeface="Arial"/>
              </a:rPr>
              <a:t>Retail Media Network</a:t>
            </a:r>
          </a:p>
        </p:txBody>
      </p:sp>
      <p:cxnSp>
        <p:nvCxnSpPr>
          <p:cNvPr id="39" name="Connector 38"/>
          <p:cNvCxnSpPr/>
          <p:nvPr/>
        </p:nvCxnSpPr>
        <p:spPr>
          <a:xfrm>
            <a:off x="6172200" y="498348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09360" y="5029200"/>
            <a:ext cx="457200" cy="685800"/>
          </a:xfrm>
          <a:prstGeom prst="rect">
            <a:avLst/>
          </a:prstGeom>
          <a:noFill/>
        </p:spPr>
        <p:txBody>
          <a:bodyPr wrap="square" lIns="0" rIns="0" tIns="0" bIns="0" anchor="ctr">
            <a:spAutoFit/>
          </a:bodyPr>
          <a:lstStyle/>
          <a:p>
            <a:pPr algn="l"/>
            <a:r>
              <a:rPr sz="1800" b="1" i="0">
                <a:solidFill>
                  <a:srgbClr val="196197"/>
                </a:solidFill>
                <a:latin typeface="Arial"/>
              </a:rPr>
              <a:t>5</a:t>
            </a:r>
          </a:p>
        </p:txBody>
      </p:sp>
      <p:sp>
        <p:nvSpPr>
          <p:cNvPr id="41" name="TextBox 40"/>
          <p:cNvSpPr txBox="1"/>
          <p:nvPr/>
        </p:nvSpPr>
        <p:spPr>
          <a:xfrm>
            <a:off x="6766560" y="5029200"/>
            <a:ext cx="4754880" cy="685800"/>
          </a:xfrm>
          <a:prstGeom prst="rect">
            <a:avLst/>
          </a:prstGeom>
          <a:noFill/>
        </p:spPr>
        <p:txBody>
          <a:bodyPr wrap="square" lIns="0" rIns="0" tIns="0" bIns="0" anchor="ctr">
            <a:spAutoFit/>
          </a:bodyPr>
          <a:lstStyle/>
          <a:p>
            <a:pPr algn="l"/>
            <a:r>
              <a:rPr sz="1600" b="0" i="0">
                <a:solidFill>
                  <a:srgbClr val="17324D"/>
                </a:solidFill>
                <a:latin typeface="Arial"/>
              </a:rPr>
              <a:t>Modo Tienda con fila virtual de probadores</a:t>
            </a:r>
          </a:p>
        </p:txBody>
      </p:sp>
      <p:cxnSp>
        <p:nvCxnSpPr>
          <p:cNvPr id="42" name="Connector 41"/>
          <p:cNvCxnSpPr/>
          <p:nvPr/>
        </p:nvCxnSpPr>
        <p:spPr>
          <a:xfrm>
            <a:off x="6172200" y="5760720"/>
            <a:ext cx="544068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8640" y="5852160"/>
            <a:ext cx="11094415" cy="274320"/>
          </a:xfrm>
          <a:prstGeom prst="rect">
            <a:avLst/>
          </a:prstGeom>
          <a:noFill/>
        </p:spPr>
        <p:txBody>
          <a:bodyPr wrap="square" lIns="0" rIns="0" tIns="0" bIns="0" anchor="t">
            <a:spAutoFit/>
          </a:bodyPr>
          <a:lstStyle/>
          <a:p>
            <a:pPr algn="l"/>
            <a:r>
              <a:rPr sz="1200" b="0" i="1">
                <a:solidFill>
                  <a:srgbClr val="6B7A89"/>
                </a:solidFill>
                <a:latin typeface="Arial"/>
              </a:rPr>
              <a:t>Las innovaciones del Informe 2 no se emparejan con las del Informe 1: la cartera se reemplazó completa.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Estructura de desglose del trabajo: quince ramas</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7, Figura 7.1 y Tabla 7.1; Formulario T-14.</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15</a:t>
            </a:r>
          </a:p>
        </p:txBody>
      </p:sp>
      <p:sp>
        <p:nvSpPr>
          <p:cNvPr id="9" name="Rectangle 8"/>
          <p:cNvSpPr/>
          <p:nvPr/>
        </p:nvSpPr>
        <p:spPr>
          <a:xfrm>
            <a:off x="4270248" y="1325880"/>
            <a:ext cx="3657600" cy="566928"/>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1325880"/>
            <a:ext cx="3657600" cy="566928"/>
          </a:xfrm>
          <a:prstGeom prst="rect">
            <a:avLst/>
          </a:prstGeom>
          <a:noFill/>
        </p:spPr>
        <p:txBody>
          <a:bodyPr wrap="square" lIns="0" rIns="0" tIns="0" bIns="0" anchor="ctr">
            <a:spAutoFit/>
          </a:bodyPr>
          <a:lstStyle/>
          <a:p>
            <a:pPr algn="ctr"/>
            <a:r>
              <a:rPr sz="1500" b="1" i="0">
                <a:solidFill>
                  <a:srgbClr val="FFFFFF"/>
                </a:solidFill>
                <a:latin typeface="Arial"/>
              </a:rPr>
              <a:t>1  Solución completa</a:t>
            </a:r>
          </a:p>
          <a:p>
            <a:pPr algn="ctr"/>
            <a:r>
              <a:rPr sz="1200" b="0" i="0">
                <a:solidFill>
                  <a:srgbClr val="FFFFFF"/>
                </a:solidFill>
                <a:latin typeface="Arial"/>
              </a:rPr>
              <a:t>164 cuentas de control · 40.946 HH</a:t>
            </a:r>
          </a:p>
        </p:txBody>
      </p:sp>
      <p:cxnSp>
        <p:nvCxnSpPr>
          <p:cNvPr id="11" name="Connector 10"/>
          <p:cNvCxnSpPr/>
          <p:nvPr/>
        </p:nvCxnSpPr>
        <p:spPr>
          <a:xfrm>
            <a:off x="6099048" y="1892807"/>
            <a:ext cx="0" cy="210313"/>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00200" y="2103120"/>
            <a:ext cx="8986723"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00200" y="2103120"/>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48640" y="2240280"/>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95144"/>
            <a:ext cx="1920239" cy="640080"/>
          </a:xfrm>
          <a:prstGeom prst="rect">
            <a:avLst/>
          </a:prstGeom>
          <a:noFill/>
        </p:spPr>
        <p:txBody>
          <a:bodyPr wrap="square" lIns="0" rIns="0" tIns="0" bIns="0" anchor="t">
            <a:spAutoFit/>
          </a:bodyPr>
          <a:lstStyle/>
          <a:p>
            <a:pPr algn="l"/>
            <a:r>
              <a:rPr sz="1200" b="1" i="0">
                <a:solidFill>
                  <a:srgbClr val="196197"/>
                </a:solidFill>
                <a:latin typeface="Arial"/>
              </a:rPr>
              <a:t>1.1  </a:t>
            </a:r>
            <a:r>
              <a:rPr sz="1200" b="0" i="0">
                <a:solidFill>
                  <a:srgbClr val="17324D"/>
                </a:solidFill>
                <a:latin typeface="Arial"/>
              </a:rPr>
              <a:t>Dirección, gobierno y control del proyecto</a:t>
            </a:r>
          </a:p>
        </p:txBody>
      </p:sp>
      <p:sp>
        <p:nvSpPr>
          <p:cNvPr id="16" name="TextBox 15"/>
          <p:cNvSpPr txBox="1"/>
          <p:nvPr/>
        </p:nvSpPr>
        <p:spPr>
          <a:xfrm>
            <a:off x="640080" y="2999232"/>
            <a:ext cx="1920239" cy="256032"/>
          </a:xfrm>
          <a:prstGeom prst="rect">
            <a:avLst/>
          </a:prstGeom>
          <a:noFill/>
        </p:spPr>
        <p:txBody>
          <a:bodyPr wrap="square" lIns="0" rIns="0" tIns="0" bIns="0" anchor="t">
            <a:spAutoFit/>
          </a:bodyPr>
          <a:lstStyle/>
          <a:p>
            <a:pPr algn="l"/>
            <a:r>
              <a:rPr sz="1100" b="0" i="0">
                <a:solidFill>
                  <a:srgbClr val="6B7A89"/>
                </a:solidFill>
                <a:latin typeface="Arial"/>
              </a:rPr>
              <a:t>12 cuentas</a:t>
            </a:r>
          </a:p>
        </p:txBody>
      </p:sp>
      <p:cxnSp>
        <p:nvCxnSpPr>
          <p:cNvPr id="17" name="Connector 16"/>
          <p:cNvCxnSpPr/>
          <p:nvPr/>
        </p:nvCxnSpPr>
        <p:spPr>
          <a:xfrm>
            <a:off x="3846880" y="2103120"/>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795320" y="2240280"/>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6760" y="2295144"/>
            <a:ext cx="1920239" cy="640080"/>
          </a:xfrm>
          <a:prstGeom prst="rect">
            <a:avLst/>
          </a:prstGeom>
          <a:noFill/>
        </p:spPr>
        <p:txBody>
          <a:bodyPr wrap="square" lIns="0" rIns="0" tIns="0" bIns="0" anchor="t">
            <a:spAutoFit/>
          </a:bodyPr>
          <a:lstStyle/>
          <a:p>
            <a:pPr algn="l"/>
            <a:r>
              <a:rPr sz="1200" b="1" i="0">
                <a:solidFill>
                  <a:srgbClr val="196197"/>
                </a:solidFill>
                <a:latin typeface="Arial"/>
              </a:rPr>
              <a:t>1.2  </a:t>
            </a:r>
            <a:r>
              <a:rPr sz="1200" b="0" i="0">
                <a:solidFill>
                  <a:srgbClr val="17324D"/>
                </a:solidFill>
                <a:latin typeface="Arial"/>
              </a:rPr>
              <a:t>Levantamiento y línea base de alcance</a:t>
            </a:r>
          </a:p>
        </p:txBody>
      </p:sp>
      <p:sp>
        <p:nvSpPr>
          <p:cNvPr id="20" name="TextBox 19"/>
          <p:cNvSpPr txBox="1"/>
          <p:nvPr/>
        </p:nvSpPr>
        <p:spPr>
          <a:xfrm>
            <a:off x="2886760" y="2999232"/>
            <a:ext cx="1920239" cy="256032"/>
          </a:xfrm>
          <a:prstGeom prst="rect">
            <a:avLst/>
          </a:prstGeom>
          <a:noFill/>
        </p:spPr>
        <p:txBody>
          <a:bodyPr wrap="square" lIns="0" rIns="0" tIns="0" bIns="0" anchor="t">
            <a:spAutoFit/>
          </a:bodyPr>
          <a:lstStyle/>
          <a:p>
            <a:pPr algn="l"/>
            <a:r>
              <a:rPr sz="1100" b="0" i="0">
                <a:solidFill>
                  <a:srgbClr val="6B7A89"/>
                </a:solidFill>
                <a:latin typeface="Arial"/>
              </a:rPr>
              <a:t>8 cuentas</a:t>
            </a:r>
          </a:p>
        </p:txBody>
      </p:sp>
      <p:cxnSp>
        <p:nvCxnSpPr>
          <p:cNvPr id="21" name="Connector 20"/>
          <p:cNvCxnSpPr/>
          <p:nvPr/>
        </p:nvCxnSpPr>
        <p:spPr>
          <a:xfrm>
            <a:off x="6093561" y="2103120"/>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042001" y="2240280"/>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3441" y="2295144"/>
            <a:ext cx="1920239" cy="640080"/>
          </a:xfrm>
          <a:prstGeom prst="rect">
            <a:avLst/>
          </a:prstGeom>
          <a:noFill/>
        </p:spPr>
        <p:txBody>
          <a:bodyPr wrap="square" lIns="0" rIns="0" tIns="0" bIns="0" anchor="t">
            <a:spAutoFit/>
          </a:bodyPr>
          <a:lstStyle/>
          <a:p>
            <a:pPr algn="l"/>
            <a:r>
              <a:rPr sz="1200" b="1" i="0">
                <a:solidFill>
                  <a:srgbClr val="196197"/>
                </a:solidFill>
                <a:latin typeface="Arial"/>
              </a:rPr>
              <a:t>1.3  </a:t>
            </a:r>
            <a:r>
              <a:rPr sz="1200" b="0" i="0">
                <a:solidFill>
                  <a:srgbClr val="17324D"/>
                </a:solidFill>
                <a:latin typeface="Arial"/>
              </a:rPr>
              <a:t>Arquitectura y diseño</a:t>
            </a:r>
          </a:p>
        </p:txBody>
      </p:sp>
      <p:sp>
        <p:nvSpPr>
          <p:cNvPr id="24" name="TextBox 23"/>
          <p:cNvSpPr txBox="1"/>
          <p:nvPr/>
        </p:nvSpPr>
        <p:spPr>
          <a:xfrm>
            <a:off x="5133441" y="2999232"/>
            <a:ext cx="1920239" cy="256032"/>
          </a:xfrm>
          <a:prstGeom prst="rect">
            <a:avLst/>
          </a:prstGeom>
          <a:noFill/>
        </p:spPr>
        <p:txBody>
          <a:bodyPr wrap="square" lIns="0" rIns="0" tIns="0" bIns="0" anchor="t">
            <a:spAutoFit/>
          </a:bodyPr>
          <a:lstStyle/>
          <a:p>
            <a:pPr algn="l"/>
            <a:r>
              <a:rPr sz="1100" b="0" i="0">
                <a:solidFill>
                  <a:srgbClr val="6B7A89"/>
                </a:solidFill>
                <a:latin typeface="Arial"/>
              </a:rPr>
              <a:t>7 cuentas</a:t>
            </a:r>
          </a:p>
        </p:txBody>
      </p:sp>
      <p:cxnSp>
        <p:nvCxnSpPr>
          <p:cNvPr id="25" name="Connector 24"/>
          <p:cNvCxnSpPr/>
          <p:nvPr/>
        </p:nvCxnSpPr>
        <p:spPr>
          <a:xfrm>
            <a:off x="8340242" y="2103120"/>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288682" y="2240280"/>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80122" y="2295144"/>
            <a:ext cx="1920239" cy="640080"/>
          </a:xfrm>
          <a:prstGeom prst="rect">
            <a:avLst/>
          </a:prstGeom>
          <a:noFill/>
        </p:spPr>
        <p:txBody>
          <a:bodyPr wrap="square" lIns="0" rIns="0" tIns="0" bIns="0" anchor="t">
            <a:spAutoFit/>
          </a:bodyPr>
          <a:lstStyle/>
          <a:p>
            <a:pPr algn="l"/>
            <a:r>
              <a:rPr sz="1200" b="1" i="0">
                <a:solidFill>
                  <a:srgbClr val="196197"/>
                </a:solidFill>
                <a:latin typeface="Arial"/>
              </a:rPr>
              <a:t>1.4  </a:t>
            </a:r>
            <a:r>
              <a:rPr sz="1200" b="0" i="0">
                <a:solidFill>
                  <a:srgbClr val="17324D"/>
                </a:solidFill>
                <a:latin typeface="Arial"/>
              </a:rPr>
              <a:t>Infraestructura híbrida y plataforma base</a:t>
            </a:r>
          </a:p>
        </p:txBody>
      </p:sp>
      <p:sp>
        <p:nvSpPr>
          <p:cNvPr id="28" name="TextBox 27"/>
          <p:cNvSpPr txBox="1"/>
          <p:nvPr/>
        </p:nvSpPr>
        <p:spPr>
          <a:xfrm>
            <a:off x="7380122" y="2999232"/>
            <a:ext cx="1920239" cy="256032"/>
          </a:xfrm>
          <a:prstGeom prst="rect">
            <a:avLst/>
          </a:prstGeom>
          <a:noFill/>
        </p:spPr>
        <p:txBody>
          <a:bodyPr wrap="square" lIns="0" rIns="0" tIns="0" bIns="0" anchor="t">
            <a:spAutoFit/>
          </a:bodyPr>
          <a:lstStyle/>
          <a:p>
            <a:pPr algn="l"/>
            <a:r>
              <a:rPr sz="1100" b="0" i="0">
                <a:solidFill>
                  <a:srgbClr val="6B7A89"/>
                </a:solidFill>
                <a:latin typeface="Arial"/>
              </a:rPr>
              <a:t>13 cuentas</a:t>
            </a:r>
          </a:p>
        </p:txBody>
      </p:sp>
      <p:cxnSp>
        <p:nvCxnSpPr>
          <p:cNvPr id="29" name="Connector 28"/>
          <p:cNvCxnSpPr/>
          <p:nvPr/>
        </p:nvCxnSpPr>
        <p:spPr>
          <a:xfrm>
            <a:off x="10586923" y="2103120"/>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9535363" y="2240280"/>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26803" y="2295144"/>
            <a:ext cx="1920239" cy="640080"/>
          </a:xfrm>
          <a:prstGeom prst="rect">
            <a:avLst/>
          </a:prstGeom>
          <a:noFill/>
        </p:spPr>
        <p:txBody>
          <a:bodyPr wrap="square" lIns="0" rIns="0" tIns="0" bIns="0" anchor="t">
            <a:spAutoFit/>
          </a:bodyPr>
          <a:lstStyle/>
          <a:p>
            <a:pPr algn="l"/>
            <a:r>
              <a:rPr sz="1200" b="1" i="0">
                <a:solidFill>
                  <a:srgbClr val="196197"/>
                </a:solidFill>
                <a:latin typeface="Arial"/>
              </a:rPr>
              <a:t>1.5  </a:t>
            </a:r>
            <a:r>
              <a:rPr sz="1200" b="0" i="0">
                <a:solidFill>
                  <a:srgbClr val="17324D"/>
                </a:solidFill>
                <a:latin typeface="Arial"/>
              </a:rPr>
              <a:t>Desarrollo de software</a:t>
            </a:r>
          </a:p>
        </p:txBody>
      </p:sp>
      <p:sp>
        <p:nvSpPr>
          <p:cNvPr id="32" name="TextBox 31"/>
          <p:cNvSpPr txBox="1"/>
          <p:nvPr/>
        </p:nvSpPr>
        <p:spPr>
          <a:xfrm>
            <a:off x="9626803" y="2999232"/>
            <a:ext cx="1920239" cy="256032"/>
          </a:xfrm>
          <a:prstGeom prst="rect">
            <a:avLst/>
          </a:prstGeom>
          <a:noFill/>
        </p:spPr>
        <p:txBody>
          <a:bodyPr wrap="square" lIns="0" rIns="0" tIns="0" bIns="0" anchor="t">
            <a:spAutoFit/>
          </a:bodyPr>
          <a:lstStyle/>
          <a:p>
            <a:pPr algn="l"/>
            <a:r>
              <a:rPr sz="1100" b="0" i="0">
                <a:solidFill>
                  <a:srgbClr val="6B7A89"/>
                </a:solidFill>
                <a:latin typeface="Arial"/>
              </a:rPr>
              <a:t>51 cuentas · 127 paquetes</a:t>
            </a:r>
          </a:p>
        </p:txBody>
      </p:sp>
      <p:cxnSp>
        <p:nvCxnSpPr>
          <p:cNvPr id="33" name="Connector 32"/>
          <p:cNvCxnSpPr/>
          <p:nvPr/>
        </p:nvCxnSpPr>
        <p:spPr>
          <a:xfrm>
            <a:off x="1600200" y="3401568"/>
            <a:ext cx="8986723"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99048" y="2103120"/>
            <a:ext cx="0" cy="0"/>
          </a:xfrm>
          <a:prstGeom prst="line">
            <a:avLst/>
          </a:prstGeom>
          <a:ln w="9525">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600200" y="3401568"/>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48640" y="3538728"/>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3593592"/>
            <a:ext cx="1920239" cy="640080"/>
          </a:xfrm>
          <a:prstGeom prst="rect">
            <a:avLst/>
          </a:prstGeom>
          <a:noFill/>
        </p:spPr>
        <p:txBody>
          <a:bodyPr wrap="square" lIns="0" rIns="0" tIns="0" bIns="0" anchor="t">
            <a:spAutoFit/>
          </a:bodyPr>
          <a:lstStyle/>
          <a:p>
            <a:pPr algn="l"/>
            <a:r>
              <a:rPr sz="1200" b="1" i="0">
                <a:solidFill>
                  <a:srgbClr val="196197"/>
                </a:solidFill>
                <a:latin typeface="Arial"/>
              </a:rPr>
              <a:t>1.6  </a:t>
            </a:r>
            <a:r>
              <a:rPr sz="1200" b="0" i="0">
                <a:solidFill>
                  <a:srgbClr val="17324D"/>
                </a:solidFill>
                <a:latin typeface="Arial"/>
              </a:rPr>
              <a:t>Integraciones</a:t>
            </a:r>
          </a:p>
        </p:txBody>
      </p:sp>
      <p:sp>
        <p:nvSpPr>
          <p:cNvPr id="38" name="TextBox 37"/>
          <p:cNvSpPr txBox="1"/>
          <p:nvPr/>
        </p:nvSpPr>
        <p:spPr>
          <a:xfrm>
            <a:off x="640080" y="4297679"/>
            <a:ext cx="1920239" cy="256032"/>
          </a:xfrm>
          <a:prstGeom prst="rect">
            <a:avLst/>
          </a:prstGeom>
          <a:noFill/>
        </p:spPr>
        <p:txBody>
          <a:bodyPr wrap="square" lIns="0" rIns="0" tIns="0" bIns="0" anchor="t">
            <a:spAutoFit/>
          </a:bodyPr>
          <a:lstStyle/>
          <a:p>
            <a:pPr algn="l"/>
            <a:r>
              <a:rPr sz="1100" b="0" i="0">
                <a:solidFill>
                  <a:srgbClr val="6B7A89"/>
                </a:solidFill>
                <a:latin typeface="Arial"/>
              </a:rPr>
              <a:t>7 cuentas</a:t>
            </a:r>
          </a:p>
        </p:txBody>
      </p:sp>
      <p:cxnSp>
        <p:nvCxnSpPr>
          <p:cNvPr id="39" name="Connector 38"/>
          <p:cNvCxnSpPr/>
          <p:nvPr/>
        </p:nvCxnSpPr>
        <p:spPr>
          <a:xfrm>
            <a:off x="3846880" y="3401568"/>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795320" y="3538728"/>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86760" y="3593592"/>
            <a:ext cx="1920239" cy="640080"/>
          </a:xfrm>
          <a:prstGeom prst="rect">
            <a:avLst/>
          </a:prstGeom>
          <a:noFill/>
        </p:spPr>
        <p:txBody>
          <a:bodyPr wrap="square" lIns="0" rIns="0" tIns="0" bIns="0" anchor="t">
            <a:spAutoFit/>
          </a:bodyPr>
          <a:lstStyle/>
          <a:p>
            <a:pPr algn="l"/>
            <a:r>
              <a:rPr sz="1200" b="1" i="0">
                <a:solidFill>
                  <a:srgbClr val="196197"/>
                </a:solidFill>
                <a:latin typeface="Arial"/>
              </a:rPr>
              <a:t>1.7  </a:t>
            </a:r>
            <a:r>
              <a:rPr sz="1200" b="0" i="0">
                <a:solidFill>
                  <a:srgbClr val="17324D"/>
                </a:solidFill>
                <a:latin typeface="Arial"/>
              </a:rPr>
              <a:t>Migración y saneamiento de datos</a:t>
            </a:r>
          </a:p>
        </p:txBody>
      </p:sp>
      <p:sp>
        <p:nvSpPr>
          <p:cNvPr id="42" name="TextBox 41"/>
          <p:cNvSpPr txBox="1"/>
          <p:nvPr/>
        </p:nvSpPr>
        <p:spPr>
          <a:xfrm>
            <a:off x="2886760" y="4297679"/>
            <a:ext cx="1920239" cy="256032"/>
          </a:xfrm>
          <a:prstGeom prst="rect">
            <a:avLst/>
          </a:prstGeom>
          <a:noFill/>
        </p:spPr>
        <p:txBody>
          <a:bodyPr wrap="square" lIns="0" rIns="0" tIns="0" bIns="0" anchor="t">
            <a:spAutoFit/>
          </a:bodyPr>
          <a:lstStyle/>
          <a:p>
            <a:pPr algn="l"/>
            <a:r>
              <a:rPr sz="1100" b="0" i="0">
                <a:solidFill>
                  <a:srgbClr val="6B7A89"/>
                </a:solidFill>
                <a:latin typeface="Arial"/>
              </a:rPr>
              <a:t>12 cuentas</a:t>
            </a:r>
          </a:p>
        </p:txBody>
      </p:sp>
      <p:cxnSp>
        <p:nvCxnSpPr>
          <p:cNvPr id="43" name="Connector 42"/>
          <p:cNvCxnSpPr/>
          <p:nvPr/>
        </p:nvCxnSpPr>
        <p:spPr>
          <a:xfrm>
            <a:off x="6093561" y="3401568"/>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042001" y="3538728"/>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33441" y="3593592"/>
            <a:ext cx="1920239" cy="640080"/>
          </a:xfrm>
          <a:prstGeom prst="rect">
            <a:avLst/>
          </a:prstGeom>
          <a:noFill/>
        </p:spPr>
        <p:txBody>
          <a:bodyPr wrap="square" lIns="0" rIns="0" tIns="0" bIns="0" anchor="t">
            <a:spAutoFit/>
          </a:bodyPr>
          <a:lstStyle/>
          <a:p>
            <a:pPr algn="l"/>
            <a:r>
              <a:rPr sz="1200" b="1" i="0">
                <a:solidFill>
                  <a:srgbClr val="196197"/>
                </a:solidFill>
                <a:latin typeface="Arial"/>
              </a:rPr>
              <a:t>1.8  </a:t>
            </a:r>
            <a:r>
              <a:rPr sz="1200" b="0" i="0">
                <a:solidFill>
                  <a:srgbClr val="17324D"/>
                </a:solidFill>
                <a:latin typeface="Arial"/>
              </a:rPr>
              <a:t>Seguridad, identidad y cumplimiento</a:t>
            </a:r>
          </a:p>
        </p:txBody>
      </p:sp>
      <p:sp>
        <p:nvSpPr>
          <p:cNvPr id="46" name="TextBox 45"/>
          <p:cNvSpPr txBox="1"/>
          <p:nvPr/>
        </p:nvSpPr>
        <p:spPr>
          <a:xfrm>
            <a:off x="5133441" y="4297679"/>
            <a:ext cx="1920239" cy="256032"/>
          </a:xfrm>
          <a:prstGeom prst="rect">
            <a:avLst/>
          </a:prstGeom>
          <a:noFill/>
        </p:spPr>
        <p:txBody>
          <a:bodyPr wrap="square" lIns="0" rIns="0" tIns="0" bIns="0" anchor="t">
            <a:spAutoFit/>
          </a:bodyPr>
          <a:lstStyle/>
          <a:p>
            <a:pPr algn="l"/>
            <a:r>
              <a:rPr sz="1100" b="0" i="0">
                <a:solidFill>
                  <a:srgbClr val="6B7A89"/>
                </a:solidFill>
                <a:latin typeface="Arial"/>
              </a:rPr>
              <a:t>8 cuentas</a:t>
            </a:r>
          </a:p>
        </p:txBody>
      </p:sp>
      <p:cxnSp>
        <p:nvCxnSpPr>
          <p:cNvPr id="47" name="Connector 46"/>
          <p:cNvCxnSpPr/>
          <p:nvPr/>
        </p:nvCxnSpPr>
        <p:spPr>
          <a:xfrm>
            <a:off x="8340242" y="3401568"/>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7288682" y="3538728"/>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80122" y="3593592"/>
            <a:ext cx="1920239" cy="640080"/>
          </a:xfrm>
          <a:prstGeom prst="rect">
            <a:avLst/>
          </a:prstGeom>
          <a:noFill/>
        </p:spPr>
        <p:txBody>
          <a:bodyPr wrap="square" lIns="0" rIns="0" tIns="0" bIns="0" anchor="t">
            <a:spAutoFit/>
          </a:bodyPr>
          <a:lstStyle/>
          <a:p>
            <a:pPr algn="l"/>
            <a:r>
              <a:rPr sz="1200" b="1" i="0">
                <a:solidFill>
                  <a:srgbClr val="196197"/>
                </a:solidFill>
                <a:latin typeface="Arial"/>
              </a:rPr>
              <a:t>1.9  </a:t>
            </a:r>
            <a:r>
              <a:rPr sz="1200" b="0" i="0">
                <a:solidFill>
                  <a:srgbClr val="17324D"/>
                </a:solidFill>
                <a:latin typeface="Arial"/>
              </a:rPr>
              <a:t>Calidad, pruebas y certificación</a:t>
            </a:r>
          </a:p>
        </p:txBody>
      </p:sp>
      <p:sp>
        <p:nvSpPr>
          <p:cNvPr id="50" name="TextBox 49"/>
          <p:cNvSpPr txBox="1"/>
          <p:nvPr/>
        </p:nvSpPr>
        <p:spPr>
          <a:xfrm>
            <a:off x="7380122" y="4297679"/>
            <a:ext cx="1920239" cy="256032"/>
          </a:xfrm>
          <a:prstGeom prst="rect">
            <a:avLst/>
          </a:prstGeom>
          <a:noFill/>
        </p:spPr>
        <p:txBody>
          <a:bodyPr wrap="square" lIns="0" rIns="0" tIns="0" bIns="0" anchor="t">
            <a:spAutoFit/>
          </a:bodyPr>
          <a:lstStyle/>
          <a:p>
            <a:pPr algn="l"/>
            <a:r>
              <a:rPr sz="1100" b="0" i="0">
                <a:solidFill>
                  <a:srgbClr val="6B7A89"/>
                </a:solidFill>
                <a:latin typeface="Arial"/>
              </a:rPr>
              <a:t>12 cuentas</a:t>
            </a:r>
          </a:p>
        </p:txBody>
      </p:sp>
      <p:cxnSp>
        <p:nvCxnSpPr>
          <p:cNvPr id="51" name="Connector 50"/>
          <p:cNvCxnSpPr/>
          <p:nvPr/>
        </p:nvCxnSpPr>
        <p:spPr>
          <a:xfrm>
            <a:off x="10586923" y="3401568"/>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9535363" y="3538728"/>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26803" y="3593592"/>
            <a:ext cx="1920239" cy="640080"/>
          </a:xfrm>
          <a:prstGeom prst="rect">
            <a:avLst/>
          </a:prstGeom>
          <a:noFill/>
        </p:spPr>
        <p:txBody>
          <a:bodyPr wrap="square" lIns="0" rIns="0" tIns="0" bIns="0" anchor="t">
            <a:spAutoFit/>
          </a:bodyPr>
          <a:lstStyle/>
          <a:p>
            <a:pPr algn="l"/>
            <a:r>
              <a:rPr sz="1200" b="1" i="0">
                <a:solidFill>
                  <a:srgbClr val="196197"/>
                </a:solidFill>
                <a:latin typeface="Arial"/>
              </a:rPr>
              <a:t>1.10  </a:t>
            </a:r>
            <a:r>
              <a:rPr sz="1200" b="0" i="0">
                <a:solidFill>
                  <a:srgbClr val="17324D"/>
                </a:solidFill>
                <a:latin typeface="Arial"/>
              </a:rPr>
              <a:t>Innovaciones</a:t>
            </a:r>
          </a:p>
        </p:txBody>
      </p:sp>
      <p:sp>
        <p:nvSpPr>
          <p:cNvPr id="54" name="TextBox 53"/>
          <p:cNvSpPr txBox="1"/>
          <p:nvPr/>
        </p:nvSpPr>
        <p:spPr>
          <a:xfrm>
            <a:off x="9626803" y="4297679"/>
            <a:ext cx="1920239" cy="256032"/>
          </a:xfrm>
          <a:prstGeom prst="rect">
            <a:avLst/>
          </a:prstGeom>
          <a:noFill/>
        </p:spPr>
        <p:txBody>
          <a:bodyPr wrap="square" lIns="0" rIns="0" tIns="0" bIns="0" anchor="t">
            <a:spAutoFit/>
          </a:bodyPr>
          <a:lstStyle/>
          <a:p>
            <a:pPr algn="l"/>
            <a:r>
              <a:rPr sz="1100" b="0" i="0">
                <a:solidFill>
                  <a:srgbClr val="6B7A89"/>
                </a:solidFill>
                <a:latin typeface="Arial"/>
              </a:rPr>
              <a:t>5 cuentas</a:t>
            </a:r>
          </a:p>
        </p:txBody>
      </p:sp>
      <p:cxnSp>
        <p:nvCxnSpPr>
          <p:cNvPr id="55" name="Connector 54"/>
          <p:cNvCxnSpPr/>
          <p:nvPr/>
        </p:nvCxnSpPr>
        <p:spPr>
          <a:xfrm>
            <a:off x="1600200" y="4700016"/>
            <a:ext cx="8986723"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099048" y="2103120"/>
            <a:ext cx="0" cy="0"/>
          </a:xfrm>
          <a:prstGeom prst="line">
            <a:avLst/>
          </a:prstGeom>
          <a:ln w="9525">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600200" y="4700016"/>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48640" y="4837176"/>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4892040"/>
            <a:ext cx="1920239" cy="640080"/>
          </a:xfrm>
          <a:prstGeom prst="rect">
            <a:avLst/>
          </a:prstGeom>
          <a:noFill/>
        </p:spPr>
        <p:txBody>
          <a:bodyPr wrap="square" lIns="0" rIns="0" tIns="0" bIns="0" anchor="t">
            <a:spAutoFit/>
          </a:bodyPr>
          <a:lstStyle/>
          <a:p>
            <a:pPr algn="l"/>
            <a:r>
              <a:rPr sz="1200" b="1" i="0">
                <a:solidFill>
                  <a:srgbClr val="196197"/>
                </a:solidFill>
                <a:latin typeface="Arial"/>
              </a:rPr>
              <a:t>1.11  </a:t>
            </a:r>
            <a:r>
              <a:rPr sz="1200" b="0" i="0">
                <a:solidFill>
                  <a:srgbClr val="17324D"/>
                </a:solidFill>
                <a:latin typeface="Arial"/>
              </a:rPr>
              <a:t>Implantación y despliegue</a:t>
            </a:r>
          </a:p>
        </p:txBody>
      </p:sp>
      <p:sp>
        <p:nvSpPr>
          <p:cNvPr id="60" name="TextBox 59"/>
          <p:cNvSpPr txBox="1"/>
          <p:nvPr/>
        </p:nvSpPr>
        <p:spPr>
          <a:xfrm>
            <a:off x="640080" y="5596127"/>
            <a:ext cx="1920239" cy="256032"/>
          </a:xfrm>
          <a:prstGeom prst="rect">
            <a:avLst/>
          </a:prstGeom>
          <a:noFill/>
        </p:spPr>
        <p:txBody>
          <a:bodyPr wrap="square" lIns="0" rIns="0" tIns="0" bIns="0" anchor="t">
            <a:spAutoFit/>
          </a:bodyPr>
          <a:lstStyle/>
          <a:p>
            <a:pPr algn="l"/>
            <a:r>
              <a:rPr sz="1100" b="0" i="0">
                <a:solidFill>
                  <a:srgbClr val="6B7A89"/>
                </a:solidFill>
                <a:latin typeface="Arial"/>
              </a:rPr>
              <a:t>4 cuentas</a:t>
            </a:r>
          </a:p>
        </p:txBody>
      </p:sp>
      <p:cxnSp>
        <p:nvCxnSpPr>
          <p:cNvPr id="61" name="Connector 60"/>
          <p:cNvCxnSpPr/>
          <p:nvPr/>
        </p:nvCxnSpPr>
        <p:spPr>
          <a:xfrm>
            <a:off x="3846880" y="4700016"/>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795320" y="4837176"/>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86760" y="4892040"/>
            <a:ext cx="1920239" cy="640080"/>
          </a:xfrm>
          <a:prstGeom prst="rect">
            <a:avLst/>
          </a:prstGeom>
          <a:noFill/>
        </p:spPr>
        <p:txBody>
          <a:bodyPr wrap="square" lIns="0" rIns="0" tIns="0" bIns="0" anchor="t">
            <a:spAutoFit/>
          </a:bodyPr>
          <a:lstStyle/>
          <a:p>
            <a:pPr algn="l"/>
            <a:r>
              <a:rPr sz="1200" b="1" i="0">
                <a:solidFill>
                  <a:srgbClr val="196197"/>
                </a:solidFill>
                <a:latin typeface="Arial"/>
              </a:rPr>
              <a:t>1.12  </a:t>
            </a:r>
            <a:r>
              <a:rPr sz="1200" b="0" i="0">
                <a:solidFill>
                  <a:srgbClr val="17324D"/>
                </a:solidFill>
                <a:latin typeface="Arial"/>
              </a:rPr>
              <a:t>Marchas blancas y aceptación por etapa</a:t>
            </a:r>
          </a:p>
        </p:txBody>
      </p:sp>
      <p:sp>
        <p:nvSpPr>
          <p:cNvPr id="64" name="TextBox 63"/>
          <p:cNvSpPr txBox="1"/>
          <p:nvPr/>
        </p:nvSpPr>
        <p:spPr>
          <a:xfrm>
            <a:off x="2886760" y="5596127"/>
            <a:ext cx="1920239" cy="256032"/>
          </a:xfrm>
          <a:prstGeom prst="rect">
            <a:avLst/>
          </a:prstGeom>
          <a:noFill/>
        </p:spPr>
        <p:txBody>
          <a:bodyPr wrap="square" lIns="0" rIns="0" tIns="0" bIns="0" anchor="t">
            <a:spAutoFit/>
          </a:bodyPr>
          <a:lstStyle/>
          <a:p>
            <a:pPr algn="l"/>
            <a:r>
              <a:rPr sz="1100" b="0" i="0">
                <a:solidFill>
                  <a:srgbClr val="6B7A89"/>
                </a:solidFill>
                <a:latin typeface="Arial"/>
              </a:rPr>
              <a:t>7 cuentas</a:t>
            </a:r>
          </a:p>
        </p:txBody>
      </p:sp>
      <p:cxnSp>
        <p:nvCxnSpPr>
          <p:cNvPr id="65" name="Connector 64"/>
          <p:cNvCxnSpPr/>
          <p:nvPr/>
        </p:nvCxnSpPr>
        <p:spPr>
          <a:xfrm>
            <a:off x="6093561" y="4700016"/>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5042001" y="4837176"/>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133441" y="4892040"/>
            <a:ext cx="1920239" cy="640080"/>
          </a:xfrm>
          <a:prstGeom prst="rect">
            <a:avLst/>
          </a:prstGeom>
          <a:noFill/>
        </p:spPr>
        <p:txBody>
          <a:bodyPr wrap="square" lIns="0" rIns="0" tIns="0" bIns="0" anchor="t">
            <a:spAutoFit/>
          </a:bodyPr>
          <a:lstStyle/>
          <a:p>
            <a:pPr algn="l"/>
            <a:r>
              <a:rPr sz="1200" b="1" i="0">
                <a:solidFill>
                  <a:srgbClr val="196197"/>
                </a:solidFill>
                <a:latin typeface="Arial"/>
              </a:rPr>
              <a:t>1.13  </a:t>
            </a:r>
            <a:r>
              <a:rPr sz="1200" b="0" i="0">
                <a:solidFill>
                  <a:srgbClr val="17324D"/>
                </a:solidFill>
                <a:latin typeface="Arial"/>
              </a:rPr>
              <a:t>Gestión del cambio y capacitación</a:t>
            </a:r>
          </a:p>
        </p:txBody>
      </p:sp>
      <p:sp>
        <p:nvSpPr>
          <p:cNvPr id="68" name="TextBox 67"/>
          <p:cNvSpPr txBox="1"/>
          <p:nvPr/>
        </p:nvSpPr>
        <p:spPr>
          <a:xfrm>
            <a:off x="5133441" y="5596127"/>
            <a:ext cx="1920239" cy="256032"/>
          </a:xfrm>
          <a:prstGeom prst="rect">
            <a:avLst/>
          </a:prstGeom>
          <a:noFill/>
        </p:spPr>
        <p:txBody>
          <a:bodyPr wrap="square" lIns="0" rIns="0" tIns="0" bIns="0" anchor="t">
            <a:spAutoFit/>
          </a:bodyPr>
          <a:lstStyle/>
          <a:p>
            <a:pPr algn="l"/>
            <a:r>
              <a:rPr sz="1100" b="0" i="0">
                <a:solidFill>
                  <a:srgbClr val="6B7A89"/>
                </a:solidFill>
                <a:latin typeface="Arial"/>
              </a:rPr>
              <a:t>5 cuentas</a:t>
            </a:r>
          </a:p>
        </p:txBody>
      </p:sp>
      <p:cxnSp>
        <p:nvCxnSpPr>
          <p:cNvPr id="69" name="Connector 68"/>
          <p:cNvCxnSpPr/>
          <p:nvPr/>
        </p:nvCxnSpPr>
        <p:spPr>
          <a:xfrm>
            <a:off x="8340242" y="4700016"/>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7288682" y="4837176"/>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80122" y="4892040"/>
            <a:ext cx="1920239" cy="640080"/>
          </a:xfrm>
          <a:prstGeom prst="rect">
            <a:avLst/>
          </a:prstGeom>
          <a:noFill/>
        </p:spPr>
        <p:txBody>
          <a:bodyPr wrap="square" lIns="0" rIns="0" tIns="0" bIns="0" anchor="t">
            <a:spAutoFit/>
          </a:bodyPr>
          <a:lstStyle/>
          <a:p>
            <a:pPr algn="l"/>
            <a:r>
              <a:rPr sz="1200" b="1" i="0">
                <a:solidFill>
                  <a:srgbClr val="196197"/>
                </a:solidFill>
                <a:latin typeface="Arial"/>
              </a:rPr>
              <a:t>1.14  </a:t>
            </a:r>
            <a:r>
              <a:rPr sz="1200" b="0" i="0">
                <a:solidFill>
                  <a:srgbClr val="17324D"/>
                </a:solidFill>
                <a:latin typeface="Arial"/>
              </a:rPr>
              <a:t>Documentación, transferencia y reversibilidad</a:t>
            </a:r>
          </a:p>
        </p:txBody>
      </p:sp>
      <p:sp>
        <p:nvSpPr>
          <p:cNvPr id="72" name="TextBox 71"/>
          <p:cNvSpPr txBox="1"/>
          <p:nvPr/>
        </p:nvSpPr>
        <p:spPr>
          <a:xfrm>
            <a:off x="7380122" y="5596127"/>
            <a:ext cx="1920239" cy="256032"/>
          </a:xfrm>
          <a:prstGeom prst="rect">
            <a:avLst/>
          </a:prstGeom>
          <a:noFill/>
        </p:spPr>
        <p:txBody>
          <a:bodyPr wrap="square" lIns="0" rIns="0" tIns="0" bIns="0" anchor="t">
            <a:spAutoFit/>
          </a:bodyPr>
          <a:lstStyle/>
          <a:p>
            <a:pPr algn="l"/>
            <a:r>
              <a:rPr sz="1100" b="0" i="0">
                <a:solidFill>
                  <a:srgbClr val="6B7A89"/>
                </a:solidFill>
                <a:latin typeface="Arial"/>
              </a:rPr>
              <a:t>7 cuentas</a:t>
            </a:r>
          </a:p>
        </p:txBody>
      </p:sp>
      <p:cxnSp>
        <p:nvCxnSpPr>
          <p:cNvPr id="73" name="Connector 72"/>
          <p:cNvCxnSpPr/>
          <p:nvPr/>
        </p:nvCxnSpPr>
        <p:spPr>
          <a:xfrm>
            <a:off x="10586923" y="4700016"/>
            <a:ext cx="0" cy="13716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9535363" y="4837176"/>
            <a:ext cx="2103120" cy="1051560"/>
          </a:xfrm>
          <a:prstGeom prst="rect">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626803" y="4892040"/>
            <a:ext cx="1920239" cy="640080"/>
          </a:xfrm>
          <a:prstGeom prst="rect">
            <a:avLst/>
          </a:prstGeom>
          <a:noFill/>
        </p:spPr>
        <p:txBody>
          <a:bodyPr wrap="square" lIns="0" rIns="0" tIns="0" bIns="0" anchor="t">
            <a:spAutoFit/>
          </a:bodyPr>
          <a:lstStyle/>
          <a:p>
            <a:pPr algn="l"/>
            <a:r>
              <a:rPr sz="1200" b="1" i="0">
                <a:solidFill>
                  <a:srgbClr val="196197"/>
                </a:solidFill>
                <a:latin typeface="Arial"/>
              </a:rPr>
              <a:t>1.15  </a:t>
            </a:r>
            <a:r>
              <a:rPr sz="1200" b="0" i="0">
                <a:solidFill>
                  <a:srgbClr val="17324D"/>
                </a:solidFill>
                <a:latin typeface="Arial"/>
              </a:rPr>
              <a:t>Operación y soporte</a:t>
            </a:r>
          </a:p>
        </p:txBody>
      </p:sp>
      <p:sp>
        <p:nvSpPr>
          <p:cNvPr id="76" name="TextBox 75"/>
          <p:cNvSpPr txBox="1"/>
          <p:nvPr/>
        </p:nvSpPr>
        <p:spPr>
          <a:xfrm>
            <a:off x="9626803" y="5596127"/>
            <a:ext cx="1920239" cy="256032"/>
          </a:xfrm>
          <a:prstGeom prst="rect">
            <a:avLst/>
          </a:prstGeom>
          <a:noFill/>
        </p:spPr>
        <p:txBody>
          <a:bodyPr wrap="square" lIns="0" rIns="0" tIns="0" bIns="0" anchor="t">
            <a:spAutoFit/>
          </a:bodyPr>
          <a:lstStyle/>
          <a:p>
            <a:pPr algn="l"/>
            <a:r>
              <a:rPr sz="1100" b="0" i="0">
                <a:solidFill>
                  <a:srgbClr val="6B7A89"/>
                </a:solidFill>
                <a:latin typeface="Arial"/>
              </a:rPr>
              <a:t>6 cuentas</a:t>
            </a:r>
          </a:p>
        </p:txBody>
      </p:sp>
      <p:cxnSp>
        <p:nvCxnSpPr>
          <p:cNvPr id="77" name="Connector 76"/>
          <p:cNvCxnSpPr/>
          <p:nvPr/>
        </p:nvCxnSpPr>
        <p:spPr>
          <a:xfrm>
            <a:off x="6099048" y="2103120"/>
            <a:ext cx="0" cy="0"/>
          </a:xfrm>
          <a:prstGeom prst="line">
            <a:avLst/>
          </a:prstGeom>
          <a:ln w="9525">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11479" y="2103120"/>
            <a:ext cx="0" cy="2596896"/>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11479" y="2103120"/>
            <a:ext cx="5687569"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11479" y="2103120"/>
            <a:ext cx="1188721"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11479" y="3401568"/>
            <a:ext cx="1188721"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11479" y="4700016"/>
            <a:ext cx="1188721"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Entregables principales y responsables por rama</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7, Tabla 7.1; Formulario T-14, diccionario de la EDT.</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16</a:t>
            </a:r>
          </a:p>
        </p:txBody>
      </p:sp>
      <p:graphicFrame>
        <p:nvGraphicFramePr>
          <p:cNvPr id="9" name="Table 8"/>
          <p:cNvGraphicFramePr>
            <a:graphicFrameLocks noGrp="1"/>
          </p:cNvGraphicFramePr>
          <p:nvPr/>
        </p:nvGraphicFramePr>
        <p:xfrm>
          <a:off x="548640" y="1280160"/>
          <a:ext cx="11091672" cy="4855464"/>
        </p:xfrm>
        <a:graphic>
          <a:graphicData uri="http://schemas.openxmlformats.org/drawingml/2006/table">
            <a:tbl>
              <a:tblPr firstRow="0" bandRow="0">
                <a:tableStyleId>{5940675A-B579-460E-94D1-54222C63F5DA}</a:tableStyleId>
              </a:tblPr>
              <a:tblGrid>
                <a:gridCol w="731520"/>
                <a:gridCol w="3840480"/>
                <a:gridCol w="4114800"/>
                <a:gridCol w="2404872"/>
              </a:tblGrid>
              <a:tr h="329184">
                <a:tc>
                  <a:txBody>
                    <a:bodyPr wrap="square"/>
                    <a:lstStyle/>
                    <a:p>
                      <a:pPr algn="l"/>
                      <a:r>
                        <a:rPr sz="1200" b="1">
                          <a:solidFill>
                            <a:srgbClr val="FFFFFF"/>
                          </a:solidFill>
                          <a:latin typeface="Arial"/>
                        </a:rPr>
                        <a:t>Rama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200" b="1">
                          <a:solidFill>
                            <a:srgbClr val="FFFFFF"/>
                          </a:solidFill>
                          <a:latin typeface="Arial"/>
                        </a:rPr>
                        <a:t>Nombre</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200" b="1">
                          <a:solidFill>
                            <a:srgbClr val="FFFFFF"/>
                          </a:solidFill>
                          <a:latin typeface="Arial"/>
                        </a:rPr>
                        <a:t>Entregable principal</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200" b="1">
                          <a:solidFill>
                            <a:srgbClr val="FFFFFF"/>
                          </a:solidFill>
                          <a:latin typeface="Arial"/>
                        </a:rPr>
                        <a:t>Responsable</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01752">
                <a:tc>
                  <a:txBody>
                    <a:bodyPr wrap="square"/>
                    <a:lstStyle/>
                    <a:p>
                      <a:pPr algn="l"/>
                      <a:r>
                        <a:rPr sz="1200" b="1">
                          <a:solidFill>
                            <a:srgbClr val="196197"/>
                          </a:solidFill>
                          <a:latin typeface="Arial"/>
                        </a:rPr>
                        <a:t>1.1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Dirección, gobierno y control del proyecto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Plan de dirección integrado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Levantamiento y línea base de alcance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Línea base de alcance con matriz de trazabilidad</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Funcional</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Arquitectura y diseño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Documento de arquitectura y catálogo de decisiones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Arquitecto de Solución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Infraestructura híbrida y plataforma base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Infraestructura híbrida con ambientes habilitados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Arquitecto de Solución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Desarrollo de software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Software de cada servicio por etapa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Desarrollo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Integraciones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Catálogo de interfaces y contratos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Integración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1.7</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Migración y saneamiento de datos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Datos saneados, migrados y conciliados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Datos</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1.8</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Seguridad, identidad y cumplimiento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Plan de seguridad y matriz de controles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Encargado de Seguridad</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1.9</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Calidad, pruebas y certificación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Certificación de cada etapa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Calidad y Pruebas</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1.10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Innovaciones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Las cinco innovaciones entregadas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Arquitecto de Solución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1.11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Implantación y despliegue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Plan de implantación y canal de despliegue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Implantación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1.12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Marchas blancas y aceptación por etapa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Actas de aceptación de la Etapa 1 y de la Etapa 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Implantación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Gestión del cambio y capacitación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Personal capacitado y certificado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Líder de Implantación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1.14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Documentación, transferencia y reversibilidad</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Documentación técnica y plan de reversibilidad</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200" b="1">
                          <a:solidFill>
                            <a:srgbClr val="196197"/>
                          </a:solidFill>
                          <a:latin typeface="Arial"/>
                        </a:rPr>
                        <a:t>1.15</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200" b="0">
                          <a:solidFill>
                            <a:srgbClr val="17324D"/>
                          </a:solidFill>
                          <a:latin typeface="Arial"/>
                        </a:rPr>
                        <a:t>Operación y soporte</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200" b="0">
                          <a:solidFill>
                            <a:srgbClr val="17324D"/>
                          </a:solidFill>
                          <a:latin typeface="Arial"/>
                        </a:rPr>
                        <a:t>Operación con niveles de servicio cumplidos</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200" b="0">
                          <a:solidFill>
                            <a:srgbClr val="17324D"/>
                          </a:solidFill>
                          <a:latin typeface="Arial"/>
                        </a:rPr>
                        <a:t>Líder de Operación / SRE</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Equipo del proyecto y dotación</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1, apartado 1.5; Formulario T-15, Tabla T-15.2.</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17</a:t>
            </a:r>
          </a:p>
        </p:txBody>
      </p:sp>
      <p:sp>
        <p:nvSpPr>
          <p:cNvPr id="9" name="TextBox 8"/>
          <p:cNvSpPr txBox="1"/>
          <p:nvPr/>
        </p:nvSpPr>
        <p:spPr>
          <a:xfrm>
            <a:off x="548640" y="1280160"/>
            <a:ext cx="11094415" cy="320040"/>
          </a:xfrm>
          <a:prstGeom prst="rect">
            <a:avLst/>
          </a:prstGeom>
          <a:noFill/>
        </p:spPr>
        <p:txBody>
          <a:bodyPr wrap="square" lIns="0" rIns="0" tIns="0" bIns="0" anchor="t">
            <a:spAutoFit/>
          </a:bodyPr>
          <a:lstStyle/>
          <a:p>
            <a:pPr algn="l"/>
            <a:r>
              <a:rPr sz="1600" b="1" i="0">
                <a:solidFill>
                  <a:srgbClr val="277FA8"/>
                </a:solidFill>
                <a:latin typeface="Arial"/>
              </a:rPr>
              <a:t>Estructura de ejecución</a:t>
            </a:r>
          </a:p>
        </p:txBody>
      </p:sp>
      <p:sp>
        <p:nvSpPr>
          <p:cNvPr id="10" name="Rectangle 9"/>
          <p:cNvSpPr/>
          <p:nvPr/>
        </p:nvSpPr>
        <p:spPr>
          <a:xfrm>
            <a:off x="2103120" y="1691640"/>
            <a:ext cx="2651760" cy="594360"/>
          </a:xfrm>
          <a:prstGeom prst="rect">
            <a:avLst/>
          </a:prstGeom>
          <a:solidFill>
            <a:srgbClr val="196197"/>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76272" y="1691640"/>
            <a:ext cx="2505456" cy="594360"/>
          </a:xfrm>
          <a:prstGeom prst="rect">
            <a:avLst/>
          </a:prstGeom>
          <a:noFill/>
        </p:spPr>
        <p:txBody>
          <a:bodyPr wrap="square" lIns="0" rIns="0" tIns="0" bIns="0" anchor="ctr">
            <a:spAutoFit/>
          </a:bodyPr>
          <a:lstStyle/>
          <a:p>
            <a:pPr algn="ctr"/>
            <a:r>
              <a:rPr sz="1300" b="1" i="0">
                <a:solidFill>
                  <a:srgbClr val="FFFFFF"/>
                </a:solidFill>
                <a:latin typeface="Arial"/>
              </a:rPr>
              <a:t>Jefe de Proyecto</a:t>
            </a:r>
          </a:p>
        </p:txBody>
      </p:sp>
      <p:cxnSp>
        <p:nvCxnSpPr>
          <p:cNvPr id="12" name="Connector 11"/>
          <p:cNvCxnSpPr/>
          <p:nvPr/>
        </p:nvCxnSpPr>
        <p:spPr>
          <a:xfrm>
            <a:off x="3429000" y="2286000"/>
            <a:ext cx="0" cy="22860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54480" y="2514600"/>
            <a:ext cx="3749040" cy="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417319" y="2514600"/>
            <a:ext cx="0" cy="18288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48640" y="2697480"/>
            <a:ext cx="1737360" cy="777240"/>
          </a:xfrm>
          <a:prstGeom prst="rect">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697480"/>
            <a:ext cx="1591056" cy="777240"/>
          </a:xfrm>
          <a:prstGeom prst="rect">
            <a:avLst/>
          </a:prstGeom>
          <a:noFill/>
        </p:spPr>
        <p:txBody>
          <a:bodyPr wrap="square" lIns="0" rIns="0" tIns="0" bIns="0" anchor="ctr">
            <a:spAutoFit/>
          </a:bodyPr>
          <a:lstStyle/>
          <a:p>
            <a:pPr algn="ctr"/>
            <a:r>
              <a:rPr sz="1300" b="0" i="0">
                <a:solidFill>
                  <a:srgbClr val="17324D"/>
                </a:solidFill>
                <a:latin typeface="Arial"/>
              </a:rPr>
              <a:t>Arquitecto de Solución</a:t>
            </a:r>
          </a:p>
        </p:txBody>
      </p:sp>
      <p:cxnSp>
        <p:nvCxnSpPr>
          <p:cNvPr id="17" name="Connector 16"/>
          <p:cNvCxnSpPr/>
          <p:nvPr/>
        </p:nvCxnSpPr>
        <p:spPr>
          <a:xfrm>
            <a:off x="3246120" y="2514600"/>
            <a:ext cx="0" cy="18288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377440" y="2697480"/>
            <a:ext cx="1737360" cy="777240"/>
          </a:xfrm>
          <a:prstGeom prst="rect">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0592" y="2697480"/>
            <a:ext cx="1591056" cy="777240"/>
          </a:xfrm>
          <a:prstGeom prst="rect">
            <a:avLst/>
          </a:prstGeom>
          <a:noFill/>
        </p:spPr>
        <p:txBody>
          <a:bodyPr wrap="square" lIns="0" rIns="0" tIns="0" bIns="0" anchor="ctr">
            <a:spAutoFit/>
          </a:bodyPr>
          <a:lstStyle/>
          <a:p>
            <a:pPr algn="ctr"/>
            <a:r>
              <a:rPr sz="1300" b="0" i="0">
                <a:solidFill>
                  <a:srgbClr val="17324D"/>
                </a:solidFill>
                <a:latin typeface="Arial"/>
              </a:rPr>
              <a:t>Encargado de Seguridad de la Información</a:t>
            </a:r>
          </a:p>
        </p:txBody>
      </p:sp>
      <p:cxnSp>
        <p:nvCxnSpPr>
          <p:cNvPr id="20" name="Connector 19"/>
          <p:cNvCxnSpPr/>
          <p:nvPr/>
        </p:nvCxnSpPr>
        <p:spPr>
          <a:xfrm>
            <a:off x="5074920" y="2514600"/>
            <a:ext cx="0" cy="182880"/>
          </a:xfrm>
          <a:prstGeom prst="line">
            <a:avLst/>
          </a:prstGeom>
          <a:ln w="12700">
            <a:solidFill>
              <a:srgbClr val="17324D"/>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206240" y="2697480"/>
            <a:ext cx="1737360" cy="777240"/>
          </a:xfrm>
          <a:prstGeom prst="rect">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9392" y="2697480"/>
            <a:ext cx="1591056" cy="777240"/>
          </a:xfrm>
          <a:prstGeom prst="rect">
            <a:avLst/>
          </a:prstGeom>
          <a:noFill/>
        </p:spPr>
        <p:txBody>
          <a:bodyPr wrap="square" lIns="0" rIns="0" tIns="0" bIns="0" anchor="ctr">
            <a:spAutoFit/>
          </a:bodyPr>
          <a:lstStyle/>
          <a:p>
            <a:pPr algn="ctr"/>
            <a:r>
              <a:rPr sz="1300" b="0" i="0">
                <a:solidFill>
                  <a:srgbClr val="17324D"/>
                </a:solidFill>
                <a:latin typeface="Arial"/>
              </a:rPr>
              <a:t>Líder de Datos</a:t>
            </a:r>
          </a:p>
        </p:txBody>
      </p:sp>
      <p:sp>
        <p:nvSpPr>
          <p:cNvPr id="23" name="Rectangle 22"/>
          <p:cNvSpPr/>
          <p:nvPr/>
        </p:nvSpPr>
        <p:spPr>
          <a:xfrm>
            <a:off x="548640" y="3611880"/>
            <a:ext cx="1737360" cy="777240"/>
          </a:xfrm>
          <a:prstGeom prst="rect">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611880"/>
            <a:ext cx="1591056" cy="777240"/>
          </a:xfrm>
          <a:prstGeom prst="rect">
            <a:avLst/>
          </a:prstGeom>
          <a:noFill/>
        </p:spPr>
        <p:txBody>
          <a:bodyPr wrap="square" lIns="0" rIns="0" tIns="0" bIns="0" anchor="ctr">
            <a:spAutoFit/>
          </a:bodyPr>
          <a:lstStyle/>
          <a:p>
            <a:pPr algn="ctr"/>
            <a:r>
              <a:rPr sz="1300" b="0" i="0">
                <a:solidFill>
                  <a:srgbClr val="17324D"/>
                </a:solidFill>
                <a:latin typeface="Arial"/>
              </a:rPr>
              <a:t>Líder de Calidad</a:t>
            </a:r>
          </a:p>
        </p:txBody>
      </p:sp>
      <p:sp>
        <p:nvSpPr>
          <p:cNvPr id="25" name="Rectangle 24"/>
          <p:cNvSpPr/>
          <p:nvPr/>
        </p:nvSpPr>
        <p:spPr>
          <a:xfrm>
            <a:off x="2377440" y="3611880"/>
            <a:ext cx="1737360" cy="777240"/>
          </a:xfrm>
          <a:prstGeom prst="rect">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50592" y="3611880"/>
            <a:ext cx="1591056" cy="777240"/>
          </a:xfrm>
          <a:prstGeom prst="rect">
            <a:avLst/>
          </a:prstGeom>
          <a:noFill/>
        </p:spPr>
        <p:txBody>
          <a:bodyPr wrap="square" lIns="0" rIns="0" tIns="0" bIns="0" anchor="ctr">
            <a:spAutoFit/>
          </a:bodyPr>
          <a:lstStyle/>
          <a:p>
            <a:pPr algn="ctr"/>
            <a:r>
              <a:rPr sz="1300" b="0" i="0">
                <a:solidFill>
                  <a:srgbClr val="17324D"/>
                </a:solidFill>
                <a:latin typeface="Arial"/>
              </a:rPr>
              <a:t>Líder de Operación</a:t>
            </a:r>
          </a:p>
        </p:txBody>
      </p:sp>
      <p:sp>
        <p:nvSpPr>
          <p:cNvPr id="27" name="Rectangle 26"/>
          <p:cNvSpPr/>
          <p:nvPr/>
        </p:nvSpPr>
        <p:spPr>
          <a:xfrm>
            <a:off x="4206240" y="3611880"/>
            <a:ext cx="1737360" cy="777240"/>
          </a:xfrm>
          <a:prstGeom prst="rect">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79392" y="3611880"/>
            <a:ext cx="1591056" cy="777240"/>
          </a:xfrm>
          <a:prstGeom prst="rect">
            <a:avLst/>
          </a:prstGeom>
          <a:noFill/>
        </p:spPr>
        <p:txBody>
          <a:bodyPr wrap="square" lIns="0" rIns="0" tIns="0" bIns="0" anchor="ctr">
            <a:spAutoFit/>
          </a:bodyPr>
          <a:lstStyle/>
          <a:p>
            <a:pPr algn="ctr"/>
            <a:r>
              <a:rPr sz="1300" b="0" i="0">
                <a:solidFill>
                  <a:srgbClr val="17324D"/>
                </a:solidFill>
                <a:latin typeface="Arial"/>
              </a:rPr>
              <a:t>Líder de Implantación y Gestión del Cambio</a:t>
            </a:r>
          </a:p>
        </p:txBody>
      </p:sp>
      <p:sp>
        <p:nvSpPr>
          <p:cNvPr id="29" name="TextBox 28"/>
          <p:cNvSpPr txBox="1"/>
          <p:nvPr/>
        </p:nvSpPr>
        <p:spPr>
          <a:xfrm>
            <a:off x="548640" y="4709160"/>
            <a:ext cx="11094415" cy="320040"/>
          </a:xfrm>
          <a:prstGeom prst="rect">
            <a:avLst/>
          </a:prstGeom>
          <a:noFill/>
        </p:spPr>
        <p:txBody>
          <a:bodyPr wrap="square" lIns="0" rIns="0" tIns="0" bIns="0" anchor="t">
            <a:spAutoFit/>
          </a:bodyPr>
          <a:lstStyle/>
          <a:p>
            <a:pPr algn="l"/>
            <a:r>
              <a:rPr sz="1600" b="1" i="0">
                <a:solidFill>
                  <a:srgbClr val="277FA8"/>
                </a:solidFill>
                <a:latin typeface="Arial"/>
              </a:rPr>
              <a:t>Gobierno con el Cliente</a:t>
            </a:r>
          </a:p>
        </p:txBody>
      </p:sp>
      <p:sp>
        <p:nvSpPr>
          <p:cNvPr id="30" name="Rectangle 29"/>
          <p:cNvSpPr/>
          <p:nvPr/>
        </p:nvSpPr>
        <p:spPr>
          <a:xfrm>
            <a:off x="548640" y="5074920"/>
            <a:ext cx="2651760" cy="594360"/>
          </a:xfrm>
          <a:prstGeom prst="rect">
            <a:avLst/>
          </a:prstGeom>
          <a:solidFill>
            <a:srgbClr val="F2F5F8"/>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074920"/>
            <a:ext cx="2505456" cy="594360"/>
          </a:xfrm>
          <a:prstGeom prst="rect">
            <a:avLst/>
          </a:prstGeom>
          <a:noFill/>
        </p:spPr>
        <p:txBody>
          <a:bodyPr wrap="square" lIns="0" rIns="0" tIns="0" bIns="0" anchor="ctr">
            <a:spAutoFit/>
          </a:bodyPr>
          <a:lstStyle/>
          <a:p>
            <a:pPr algn="ctr"/>
            <a:r>
              <a:rPr sz="1300" b="0" i="0">
                <a:solidFill>
                  <a:srgbClr val="17324D"/>
                </a:solidFill>
                <a:latin typeface="Arial"/>
              </a:rPr>
              <a:t>Comité Ejecutivo · mensual</a:t>
            </a:r>
          </a:p>
        </p:txBody>
      </p:sp>
      <p:sp>
        <p:nvSpPr>
          <p:cNvPr id="32" name="Rectangle 31"/>
          <p:cNvSpPr/>
          <p:nvPr/>
        </p:nvSpPr>
        <p:spPr>
          <a:xfrm>
            <a:off x="3383280" y="5074920"/>
            <a:ext cx="2651760" cy="594360"/>
          </a:xfrm>
          <a:prstGeom prst="rect">
            <a:avLst/>
          </a:prstGeom>
          <a:solidFill>
            <a:srgbClr val="F2F5F8"/>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56432" y="5074920"/>
            <a:ext cx="2505456" cy="594360"/>
          </a:xfrm>
          <a:prstGeom prst="rect">
            <a:avLst/>
          </a:prstGeom>
          <a:noFill/>
        </p:spPr>
        <p:txBody>
          <a:bodyPr wrap="square" lIns="0" rIns="0" tIns="0" bIns="0" anchor="ctr">
            <a:spAutoFit/>
          </a:bodyPr>
          <a:lstStyle/>
          <a:p>
            <a:pPr algn="ctr"/>
            <a:r>
              <a:rPr sz="1300" b="0" i="0">
                <a:solidFill>
                  <a:srgbClr val="17324D"/>
                </a:solidFill>
                <a:latin typeface="Arial"/>
              </a:rPr>
              <a:t>Comité de Proyecto · quincenal</a:t>
            </a:r>
          </a:p>
        </p:txBody>
      </p:sp>
      <p:sp>
        <p:nvSpPr>
          <p:cNvPr id="34" name="TextBox 33"/>
          <p:cNvSpPr txBox="1"/>
          <p:nvPr/>
        </p:nvSpPr>
        <p:spPr>
          <a:xfrm>
            <a:off x="548640" y="5760720"/>
            <a:ext cx="5486400" cy="365760"/>
          </a:xfrm>
          <a:prstGeom prst="rect">
            <a:avLst/>
          </a:prstGeom>
          <a:noFill/>
        </p:spPr>
        <p:txBody>
          <a:bodyPr wrap="square" lIns="0" rIns="0" tIns="0" bIns="0" anchor="t">
            <a:spAutoFit/>
          </a:bodyPr>
          <a:lstStyle/>
          <a:p>
            <a:pPr algn="l"/>
            <a:r>
              <a:rPr sz="1100" b="0" i="0">
                <a:solidFill>
                  <a:srgbClr val="6B7A89"/>
                </a:solidFill>
                <a:latin typeface="Arial"/>
              </a:rPr>
              <a:t>En la EDT responden además por rama el Líder Funcional, el de Desarrollo y el de Integración.</a:t>
            </a:r>
          </a:p>
        </p:txBody>
      </p:sp>
      <p:sp>
        <p:nvSpPr>
          <p:cNvPr id="35" name="TextBox 34"/>
          <p:cNvSpPr txBox="1"/>
          <p:nvPr/>
        </p:nvSpPr>
        <p:spPr>
          <a:xfrm>
            <a:off x="6492240" y="1280160"/>
            <a:ext cx="5150815" cy="320040"/>
          </a:xfrm>
          <a:prstGeom prst="rect">
            <a:avLst/>
          </a:prstGeom>
          <a:noFill/>
        </p:spPr>
        <p:txBody>
          <a:bodyPr wrap="square" lIns="0" rIns="0" tIns="0" bIns="0" anchor="t">
            <a:spAutoFit/>
          </a:bodyPr>
          <a:lstStyle/>
          <a:p>
            <a:pPr algn="l"/>
            <a:r>
              <a:rPr sz="1600" b="1" i="0">
                <a:solidFill>
                  <a:srgbClr val="277FA8"/>
                </a:solidFill>
                <a:latin typeface="Arial"/>
              </a:rPr>
              <a:t>Dotación por tramo</a:t>
            </a:r>
          </a:p>
        </p:txBody>
      </p:sp>
      <p:graphicFrame>
        <p:nvGraphicFramePr>
          <p:cNvPr id="36" name="Table 35"/>
          <p:cNvGraphicFramePr>
            <a:graphicFrameLocks noGrp="1"/>
          </p:cNvGraphicFramePr>
          <p:nvPr/>
        </p:nvGraphicFramePr>
        <p:xfrm>
          <a:off x="6492240" y="1691640"/>
          <a:ext cx="5120639" cy="2267712"/>
        </p:xfrm>
        <a:graphic>
          <a:graphicData uri="http://schemas.openxmlformats.org/drawingml/2006/table">
            <a:tbl>
              <a:tblPr firstRow="0" bandRow="0">
                <a:tableStyleId>{5940675A-B579-460E-94D1-54222C63F5DA}</a:tableStyleId>
              </a:tblPr>
              <a:tblGrid>
                <a:gridCol w="1874519"/>
                <a:gridCol w="868680"/>
                <a:gridCol w="960120"/>
                <a:gridCol w="777240"/>
                <a:gridCol w="640080"/>
              </a:tblGrid>
              <a:tr h="347472">
                <a:tc>
                  <a:txBody>
                    <a:bodyPr wrap="square"/>
                    <a:lstStyle/>
                    <a:p>
                      <a:pPr algn="l"/>
                      <a:r>
                        <a:rPr sz="1200" b="1">
                          <a:solidFill>
                            <a:srgbClr val="FFFFFF"/>
                          </a:solidFill>
                          <a:latin typeface="Arial"/>
                        </a:rPr>
                        <a:t>Tramo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200" b="1">
                          <a:solidFill>
                            <a:srgbClr val="FFFFFF"/>
                          </a:solidFill>
                          <a:latin typeface="Arial"/>
                        </a:rPr>
                        <a:t>Meses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HH</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Pico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200" b="1">
                          <a:solidFill>
                            <a:srgbClr val="FFFFFF"/>
                          </a:solidFill>
                          <a:latin typeface="Arial"/>
                        </a:rPr>
                        <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84048">
                <a:tc>
                  <a:txBody>
                    <a:bodyPr wrap="square"/>
                    <a:lstStyle/>
                    <a:p>
                      <a:pPr algn="l"/>
                      <a:r>
                        <a:rPr sz="1200" b="0">
                          <a:solidFill>
                            <a:srgbClr val="17324D"/>
                          </a:solidFill>
                          <a:latin typeface="Arial"/>
                        </a:rPr>
                        <a:t>Etapa 1 · desarrollo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200" b="0">
                          <a:solidFill>
                            <a:srgbClr val="17324D"/>
                          </a:solidFill>
                          <a:latin typeface="Arial"/>
                        </a:rPr>
                        <a:t>1–12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17.080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200" b="0">
                          <a:solidFill>
                            <a:srgbClr val="17324D"/>
                          </a:solidFill>
                          <a:latin typeface="Arial"/>
                        </a:rPr>
                        <a:t>Etapa 1 · marcha blanca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200" b="0">
                          <a:solidFill>
                            <a:srgbClr val="17324D"/>
                          </a:solidFill>
                          <a:latin typeface="Arial"/>
                        </a:rPr>
                        <a:t>13–15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606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200" b="0">
                          <a:solidFill>
                            <a:srgbClr val="17324D"/>
                          </a:solidFill>
                          <a:latin typeface="Arial"/>
                        </a:rPr>
                        <a:t>Etapa 2 · desarrollo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200" b="0">
                          <a:solidFill>
                            <a:srgbClr val="17324D"/>
                          </a:solidFill>
                          <a:latin typeface="Arial"/>
                        </a:rPr>
                        <a:t>13–18</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11.403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16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200" b="0">
                          <a:solidFill>
                            <a:srgbClr val="17324D"/>
                          </a:solidFill>
                          <a:latin typeface="Arial"/>
                        </a:rPr>
                        <a:t>Etapa 2 · marcha blanca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200" b="0">
                          <a:solidFill>
                            <a:srgbClr val="17324D"/>
                          </a:solidFill>
                          <a:latin typeface="Arial"/>
                        </a:rPr>
                        <a:t>19–20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976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200" b="0">
                          <a:solidFill>
                            <a:srgbClr val="17324D"/>
                          </a:solidFill>
                          <a:latin typeface="Arial"/>
                        </a:rPr>
                        <a:t>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200" b="0">
                          <a:solidFill>
                            <a:srgbClr val="17324D"/>
                          </a:solidFill>
                          <a:latin typeface="Arial"/>
                        </a:rPr>
                        <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200" b="0">
                          <a:solidFill>
                            <a:srgbClr val="17324D"/>
                          </a:solidFill>
                          <a:latin typeface="Arial"/>
                        </a:rPr>
                        <a:t>Operación</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ctr"/>
                      <a:r>
                        <a:rPr sz="1200" b="0">
                          <a:solidFill>
                            <a:srgbClr val="17324D"/>
                          </a:solidFill>
                          <a:latin typeface="Arial"/>
                        </a:rPr>
                        <a:t>21–56</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200" b="0">
                          <a:solidFill>
                            <a:srgbClr val="17324D"/>
                          </a:solidFill>
                          <a:latin typeface="Arial"/>
                        </a:rPr>
                        <a:t>9.343</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200" b="0">
                          <a:solidFill>
                            <a:srgbClr val="17324D"/>
                          </a:solidFill>
                          <a:latin typeface="Arial"/>
                        </a:rPr>
                        <a:t>3</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200" b="0">
                          <a:solidFill>
                            <a:srgbClr val="17324D"/>
                          </a:solidFill>
                          <a:latin typeface="Arial"/>
                        </a:rPr>
                        <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37" name="TextBox 36"/>
          <p:cNvSpPr txBox="1"/>
          <p:nvPr/>
        </p:nvSpPr>
        <p:spPr>
          <a:xfrm>
            <a:off x="6492240" y="4160520"/>
            <a:ext cx="5150815" cy="1737360"/>
          </a:xfrm>
          <a:prstGeom prst="rect">
            <a:avLst/>
          </a:prstGeom>
          <a:noFill/>
        </p:spPr>
        <p:txBody>
          <a:bodyPr wrap="square" lIns="0" rIns="0" tIns="0" bIns="0" anchor="t">
            <a:spAutoFit/>
          </a:bodyPr>
          <a:lstStyle/>
          <a:p>
            <a:pPr algn="l">
              <a:spcAft>
                <a:spcPts val="600"/>
              </a:spcAft>
            </a:pPr>
            <a:r>
              <a:rPr sz="1300" b="1" i="0">
                <a:solidFill>
                  <a:srgbClr val="17324D"/>
                </a:solidFill>
                <a:latin typeface="Arial"/>
              </a:rPr>
              <a:t>Pico: </a:t>
            </a:r>
            <a:r>
              <a:rPr sz="1300" b="0" i="0">
                <a:solidFill>
                  <a:srgbClr val="17324D"/>
                </a:solidFill>
                <a:latin typeface="Arial"/>
              </a:rPr>
              <a:t>personas equivalentes de dedicación en el mes de mayor carga.</a:t>
            </a:r>
          </a:p>
          <a:p>
            <a:pPr algn="l">
              <a:spcAft>
                <a:spcPts val="600"/>
              </a:spcAft>
            </a:pPr>
            <a:r>
              <a:rPr sz="1300" b="1" i="0">
                <a:solidFill>
                  <a:srgbClr val="17324D"/>
                </a:solidFill>
                <a:latin typeface="Arial"/>
              </a:rPr>
              <a:t>Reserva de capacidad: </a:t>
            </a:r>
            <a:r>
              <a:rPr sz="1300" b="0" i="0">
                <a:solidFill>
                  <a:srgbClr val="17324D"/>
                </a:solidFill>
                <a:latin typeface="Arial"/>
              </a:rPr>
              <a:t>15 % para deuda técnica y 30 % para estabilizar durante cada marcha blanca.</a:t>
            </a:r>
          </a:p>
          <a:p>
            <a:pPr algn="l">
              <a:spcAft>
                <a:spcPts val="600"/>
              </a:spcAft>
            </a:pPr>
            <a:r>
              <a:rPr sz="1300" b="1" i="0">
                <a:solidFill>
                  <a:srgbClr val="17324D"/>
                </a:solidFill>
                <a:latin typeface="Arial"/>
              </a:rPr>
              <a:t>Dotación nominal por rol: </a:t>
            </a:r>
            <a:r>
              <a:rPr sz="1300" b="0" i="0">
                <a:solidFill>
                  <a:srgbClr val="17324D"/>
                </a:solidFill>
                <a:latin typeface="Arial"/>
              </a:rPr>
              <a:t>se concilia con el Subdocumento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Esfuerzo planificado e innovaciones en la EDT</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7, Tabla 7.2 y apartado 7.3.3; Subdocumento 13; Formulario T-14.</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18</a:t>
            </a:r>
          </a:p>
        </p:txBody>
      </p:sp>
      <p:sp>
        <p:nvSpPr>
          <p:cNvPr id="9" name="TextBox 8"/>
          <p:cNvSpPr txBox="1"/>
          <p:nvPr/>
        </p:nvSpPr>
        <p:spPr>
          <a:xfrm>
            <a:off x="548640" y="1371600"/>
            <a:ext cx="11094415" cy="320040"/>
          </a:xfrm>
          <a:prstGeom prst="rect">
            <a:avLst/>
          </a:prstGeom>
          <a:noFill/>
        </p:spPr>
        <p:txBody>
          <a:bodyPr wrap="square" lIns="0" rIns="0" tIns="0" bIns="0" anchor="t">
            <a:spAutoFit/>
          </a:bodyPr>
          <a:lstStyle/>
          <a:p>
            <a:pPr algn="l"/>
            <a:r>
              <a:rPr sz="1600" b="1" i="0">
                <a:solidFill>
                  <a:srgbClr val="277FA8"/>
                </a:solidFill>
                <a:latin typeface="Arial"/>
              </a:rPr>
              <a:t>Esfuerzo de la base de planificación</a:t>
            </a:r>
          </a:p>
        </p:txBody>
      </p:sp>
      <p:graphicFrame>
        <p:nvGraphicFramePr>
          <p:cNvPr id="10" name="Table 9"/>
          <p:cNvGraphicFramePr>
            <a:graphicFrameLocks noGrp="1"/>
          </p:cNvGraphicFramePr>
          <p:nvPr/>
        </p:nvGraphicFramePr>
        <p:xfrm>
          <a:off x="548640" y="1783080"/>
          <a:ext cx="6035040" cy="1618488"/>
        </p:xfrm>
        <a:graphic>
          <a:graphicData uri="http://schemas.openxmlformats.org/drawingml/2006/table">
            <a:tbl>
              <a:tblPr firstRow="0" bandRow="0">
                <a:tableStyleId>{5940675A-B579-460E-94D1-54222C63F5DA}</a:tableStyleId>
              </a:tblPr>
              <a:tblGrid>
                <a:gridCol w="3291840"/>
                <a:gridCol w="1280160"/>
                <a:gridCol w="1463040"/>
              </a:tblGrid>
              <a:tr h="384048">
                <a:tc>
                  <a:txBody>
                    <a:bodyPr wrap="square"/>
                    <a:lstStyle/>
                    <a:p>
                      <a:pPr algn="l"/>
                      <a:r>
                        <a:rPr sz="1300" b="1">
                          <a:solidFill>
                            <a:srgbClr val="FFFFFF"/>
                          </a:solidFill>
                          <a:latin typeface="Arial"/>
                        </a:rPr>
                        <a:t>Ámbito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300" b="1">
                          <a:solidFill>
                            <a:srgbClr val="FFFFFF"/>
                          </a:solidFill>
                          <a:latin typeface="Arial"/>
                        </a:rPr>
                        <a:t>Cuentas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300" b="1">
                          <a:solidFill>
                            <a:srgbClr val="FFFFFF"/>
                          </a:solidFill>
                          <a:latin typeface="Arial"/>
                        </a:rPr>
                        <a:t>Horas hombre</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411480">
                <a:tc>
                  <a:txBody>
                    <a:bodyPr wrap="square"/>
                    <a:lstStyle/>
                    <a:p>
                      <a:pPr algn="l"/>
                      <a:r>
                        <a:rPr sz="1400" b="0">
                          <a:solidFill>
                            <a:srgbClr val="17324D"/>
                          </a:solidFill>
                          <a:latin typeface="Arial"/>
                        </a:rPr>
                        <a:t>Desarrollo de software (rama 1.5)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51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12.116</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0">
                          <a:solidFill>
                            <a:srgbClr val="17324D"/>
                          </a:solidFill>
                          <a:latin typeface="Arial"/>
                        </a:rPr>
                        <a:t>Ramas distintas del software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113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28.830</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1">
                          <a:solidFill>
                            <a:srgbClr val="17324D"/>
                          </a:solidFill>
                          <a:latin typeface="Arial"/>
                        </a:rPr>
                        <a:t>Total</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400" b="1">
                          <a:solidFill>
                            <a:srgbClr val="17324D"/>
                          </a:solidFill>
                          <a:latin typeface="Arial"/>
                        </a:rPr>
                        <a:t>164</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400" b="1">
                          <a:solidFill>
                            <a:srgbClr val="17324D"/>
                          </a:solidFill>
                          <a:latin typeface="Arial"/>
                        </a:rPr>
                        <a:t>40.946</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11" name="TextBox 10"/>
          <p:cNvSpPr txBox="1"/>
          <p:nvPr/>
        </p:nvSpPr>
        <p:spPr>
          <a:xfrm>
            <a:off x="548640" y="3611880"/>
            <a:ext cx="6035040" cy="1097280"/>
          </a:xfrm>
          <a:prstGeom prst="rect">
            <a:avLst/>
          </a:prstGeom>
          <a:noFill/>
        </p:spPr>
        <p:txBody>
          <a:bodyPr wrap="square" lIns="0" rIns="0" tIns="0" bIns="0" anchor="t">
            <a:spAutoFit/>
          </a:bodyPr>
          <a:lstStyle/>
          <a:p>
            <a:pPr algn="l"/>
            <a:r>
              <a:rPr sz="1300" b="0" i="0">
                <a:solidFill>
                  <a:srgbClr val="6B7A89"/>
                </a:solidFill>
                <a:latin typeface="Arial"/>
              </a:rPr>
              <a:t>La rama 1.5 se descompone en 127 paquetes de software. El detalle por cuenta y por paquete está en el Formulario T-14.</a:t>
            </a:r>
          </a:p>
        </p:txBody>
      </p:sp>
      <p:sp>
        <p:nvSpPr>
          <p:cNvPr id="12" name="TextBox 11"/>
          <p:cNvSpPr txBox="1"/>
          <p:nvPr/>
        </p:nvSpPr>
        <p:spPr>
          <a:xfrm>
            <a:off x="6858000" y="1371600"/>
            <a:ext cx="4785055" cy="320040"/>
          </a:xfrm>
          <a:prstGeom prst="rect">
            <a:avLst/>
          </a:prstGeom>
          <a:noFill/>
        </p:spPr>
        <p:txBody>
          <a:bodyPr wrap="square" lIns="0" rIns="0" tIns="0" bIns="0" anchor="t">
            <a:spAutoFit/>
          </a:bodyPr>
          <a:lstStyle/>
          <a:p>
            <a:pPr algn="l"/>
            <a:r>
              <a:rPr sz="1600" b="1" i="0">
                <a:solidFill>
                  <a:srgbClr val="277FA8"/>
                </a:solidFill>
                <a:latin typeface="Arial"/>
              </a:rPr>
              <a:t>Innovaciones en la rama 1.10</a:t>
            </a:r>
          </a:p>
        </p:txBody>
      </p:sp>
      <p:graphicFrame>
        <p:nvGraphicFramePr>
          <p:cNvPr id="13" name="Table 12"/>
          <p:cNvGraphicFramePr>
            <a:graphicFrameLocks noGrp="1"/>
          </p:cNvGraphicFramePr>
          <p:nvPr/>
        </p:nvGraphicFramePr>
        <p:xfrm>
          <a:off x="6858000" y="1783080"/>
          <a:ext cx="4782312" cy="2852928"/>
        </p:xfrm>
        <a:graphic>
          <a:graphicData uri="http://schemas.openxmlformats.org/drawingml/2006/table">
            <a:tbl>
              <a:tblPr firstRow="0" bandRow="0">
                <a:tableStyleId>{5940675A-B579-460E-94D1-54222C63F5DA}</a:tableStyleId>
              </a:tblPr>
              <a:tblGrid>
                <a:gridCol w="3044952"/>
                <a:gridCol w="1737360"/>
              </a:tblGrid>
              <a:tr h="384048">
                <a:tc>
                  <a:txBody>
                    <a:bodyPr wrap="square"/>
                    <a:lstStyle/>
                    <a:p>
                      <a:pPr algn="l"/>
                      <a:r>
                        <a:rPr sz="1300" b="1">
                          <a:solidFill>
                            <a:srgbClr val="FFFFFF"/>
                          </a:solidFill>
                          <a:latin typeface="Arial"/>
                        </a:rPr>
                        <a:t>Innovación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300" b="1">
                          <a:solidFill>
                            <a:srgbClr val="FFFFFF"/>
                          </a:solidFill>
                          <a:latin typeface="Arial"/>
                        </a:rPr>
                        <a:t>Paquetes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411480">
                <a:tc>
                  <a:txBody>
                    <a:bodyPr wrap="square"/>
                    <a:lstStyle/>
                    <a:p>
                      <a:pPr algn="l"/>
                      <a:r>
                        <a:rPr sz="1400" b="0">
                          <a:solidFill>
                            <a:srgbClr val="17324D"/>
                          </a:solidFill>
                          <a:latin typeface="Arial"/>
                        </a:rPr>
                        <a:t>Lockers Ancoa 24/7</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7 + 1</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0">
                          <a:solidFill>
                            <a:srgbClr val="17324D"/>
                          </a:solidFill>
                          <a:latin typeface="Arial"/>
                        </a:rPr>
                        <a:t>Conteo cíclico predictivo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7 + 1</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0">
                          <a:solidFill>
                            <a:srgbClr val="17324D"/>
                          </a:solidFill>
                          <a:latin typeface="Arial"/>
                        </a:rPr>
                        <a:t>Búsqueda vectorial multimodal</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7 + 1</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0">
                          <a:solidFill>
                            <a:srgbClr val="17324D"/>
                          </a:solidFill>
                          <a:latin typeface="Arial"/>
                        </a:rPr>
                        <a:t>Retail Media Network</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7 + 1</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0">
                          <a:solidFill>
                            <a:srgbClr val="17324D"/>
                          </a:solidFill>
                          <a:latin typeface="Arial"/>
                        </a:rPr>
                        <a:t>Modo Tienda con fila virtual</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400" b="0">
                          <a:solidFill>
                            <a:srgbClr val="17324D"/>
                          </a:solidFill>
                          <a:latin typeface="Arial"/>
                        </a:rPr>
                        <a:t>7 + 1</a:t>
                      </a:r>
                    </a:p>
                  </a:txBody>
                  <a:tcPr marL="73152" marR="73152" marT="27432" marB="27432" anchor="ctr">
                    <a:solidFill>
                      <a:srgbClr val="FFFFFF"/>
                    </a:solidFill>
                    <a:lnL w="0">
                      <a:noFill/>
                    </a:lnL>
                    <a:lnR w="0">
                      <a:noFill/>
                    </a:lnR>
                    <a:lnT w="0">
                      <a:noFill/>
                    </a:lnT>
                    <a:lnB w="9525">
                      <a:solidFill>
                        <a:srgbClr val="C9D2DB"/>
                      </a:solidFill>
                    </a:lnB>
                  </a:tcPr>
                </a:tc>
              </a:tr>
              <a:tr h="411480">
                <a:tc>
                  <a:txBody>
                    <a:bodyPr wrap="square"/>
                    <a:lstStyle/>
                    <a:p>
                      <a:pPr algn="l"/>
                      <a:r>
                        <a:rPr sz="1400" b="1">
                          <a:solidFill>
                            <a:srgbClr val="17324D"/>
                          </a:solidFill>
                          <a:latin typeface="Arial"/>
                        </a:rPr>
                        <a:t>Total · 9.888 HH</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400" b="1">
                          <a:solidFill>
                            <a:srgbClr val="17324D"/>
                          </a:solidFill>
                          <a:latin typeface="Arial"/>
                        </a:rPr>
                        <a:t>40</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14" name="TextBox 13"/>
          <p:cNvSpPr txBox="1"/>
          <p:nvPr/>
        </p:nvSpPr>
        <p:spPr>
          <a:xfrm>
            <a:off x="6858000" y="4800600"/>
            <a:ext cx="4785055" cy="731520"/>
          </a:xfrm>
          <a:prstGeom prst="rect">
            <a:avLst/>
          </a:prstGeom>
          <a:noFill/>
        </p:spPr>
        <p:txBody>
          <a:bodyPr wrap="square" lIns="0" rIns="0" tIns="0" bIns="0" anchor="t">
            <a:spAutoFit/>
          </a:bodyPr>
          <a:lstStyle/>
          <a:p>
            <a:pPr algn="l"/>
            <a:r>
              <a:rPr sz="1300" b="0" i="0">
                <a:solidFill>
                  <a:srgbClr val="6B7A89"/>
                </a:solidFill>
                <a:latin typeface="Arial"/>
              </a:rPr>
              <a:t>Paquetes: implementación + seguimiento. Los 35 de implementación tienen holgura cero en el CPM.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Cronograma general de 56 meses</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7, Tabla 7.4 y Figura 7.18; Bases Administrativas, Art. 17.</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19</a:t>
            </a:r>
          </a:p>
        </p:txBody>
      </p:sp>
      <p:sp>
        <p:nvSpPr>
          <p:cNvPr id="9" name="Rectangle 8"/>
          <p:cNvSpPr/>
          <p:nvPr/>
        </p:nvSpPr>
        <p:spPr>
          <a:xfrm>
            <a:off x="3291840" y="1371600"/>
            <a:ext cx="1789546" cy="320040"/>
          </a:xfrm>
          <a:prstGeom prst="rect">
            <a:avLst/>
          </a:prstGeom>
          <a:solidFill>
            <a:srgbClr val="F2F5F8"/>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371600"/>
            <a:ext cx="1789546" cy="320040"/>
          </a:xfrm>
          <a:prstGeom prst="rect">
            <a:avLst/>
          </a:prstGeom>
          <a:noFill/>
        </p:spPr>
        <p:txBody>
          <a:bodyPr wrap="square" lIns="0" rIns="0" tIns="0" bIns="0" anchor="ctr">
            <a:spAutoFit/>
          </a:bodyPr>
          <a:lstStyle/>
          <a:p>
            <a:pPr algn="ctr"/>
            <a:r>
              <a:rPr sz="1200" b="1" i="0">
                <a:solidFill>
                  <a:srgbClr val="17324D"/>
                </a:solidFill>
                <a:latin typeface="Arial"/>
              </a:rPr>
              <a:t>2027</a:t>
            </a:r>
          </a:p>
        </p:txBody>
      </p:sp>
      <p:sp>
        <p:nvSpPr>
          <p:cNvPr id="11" name="Rectangle 10"/>
          <p:cNvSpPr/>
          <p:nvPr/>
        </p:nvSpPr>
        <p:spPr>
          <a:xfrm>
            <a:off x="5081386" y="1371600"/>
            <a:ext cx="1789546" cy="320040"/>
          </a:xfrm>
          <a:prstGeom prst="rect">
            <a:avLst/>
          </a:prstGeom>
          <a:solidFill>
            <a:srgbClr val="FFFFFF"/>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1386" y="1371600"/>
            <a:ext cx="1789546" cy="320040"/>
          </a:xfrm>
          <a:prstGeom prst="rect">
            <a:avLst/>
          </a:prstGeom>
          <a:noFill/>
        </p:spPr>
        <p:txBody>
          <a:bodyPr wrap="square" lIns="0" rIns="0" tIns="0" bIns="0" anchor="ctr">
            <a:spAutoFit/>
          </a:bodyPr>
          <a:lstStyle/>
          <a:p>
            <a:pPr algn="ctr"/>
            <a:r>
              <a:rPr sz="1200" b="1" i="0">
                <a:solidFill>
                  <a:srgbClr val="17324D"/>
                </a:solidFill>
                <a:latin typeface="Arial"/>
              </a:rPr>
              <a:t>2028</a:t>
            </a:r>
          </a:p>
        </p:txBody>
      </p:sp>
      <p:sp>
        <p:nvSpPr>
          <p:cNvPr id="13" name="Rectangle 12"/>
          <p:cNvSpPr/>
          <p:nvPr/>
        </p:nvSpPr>
        <p:spPr>
          <a:xfrm>
            <a:off x="6870932" y="1371600"/>
            <a:ext cx="1789546" cy="320040"/>
          </a:xfrm>
          <a:prstGeom prst="rect">
            <a:avLst/>
          </a:prstGeom>
          <a:solidFill>
            <a:srgbClr val="F2F5F8"/>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70932" y="1371600"/>
            <a:ext cx="1789546" cy="320040"/>
          </a:xfrm>
          <a:prstGeom prst="rect">
            <a:avLst/>
          </a:prstGeom>
          <a:noFill/>
        </p:spPr>
        <p:txBody>
          <a:bodyPr wrap="square" lIns="0" rIns="0" tIns="0" bIns="0" anchor="ctr">
            <a:spAutoFit/>
          </a:bodyPr>
          <a:lstStyle/>
          <a:p>
            <a:pPr algn="ctr"/>
            <a:r>
              <a:rPr sz="1200" b="1" i="0">
                <a:solidFill>
                  <a:srgbClr val="17324D"/>
                </a:solidFill>
                <a:latin typeface="Arial"/>
              </a:rPr>
              <a:t>2029</a:t>
            </a:r>
          </a:p>
        </p:txBody>
      </p:sp>
      <p:sp>
        <p:nvSpPr>
          <p:cNvPr id="15" name="Rectangle 14"/>
          <p:cNvSpPr/>
          <p:nvPr/>
        </p:nvSpPr>
        <p:spPr>
          <a:xfrm>
            <a:off x="8660478" y="1371600"/>
            <a:ext cx="1789546" cy="320040"/>
          </a:xfrm>
          <a:prstGeom prst="rect">
            <a:avLst/>
          </a:prstGeom>
          <a:solidFill>
            <a:srgbClr val="FFFFFF"/>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0478" y="1371600"/>
            <a:ext cx="1789546" cy="320040"/>
          </a:xfrm>
          <a:prstGeom prst="rect">
            <a:avLst/>
          </a:prstGeom>
          <a:noFill/>
        </p:spPr>
        <p:txBody>
          <a:bodyPr wrap="square" lIns="0" rIns="0" tIns="0" bIns="0" anchor="ctr">
            <a:spAutoFit/>
          </a:bodyPr>
          <a:lstStyle/>
          <a:p>
            <a:pPr algn="ctr"/>
            <a:r>
              <a:rPr sz="1200" b="1" i="0">
                <a:solidFill>
                  <a:srgbClr val="17324D"/>
                </a:solidFill>
                <a:latin typeface="Arial"/>
              </a:rPr>
              <a:t>2030</a:t>
            </a:r>
          </a:p>
        </p:txBody>
      </p:sp>
      <p:sp>
        <p:nvSpPr>
          <p:cNvPr id="17" name="Rectangle 16"/>
          <p:cNvSpPr/>
          <p:nvPr/>
        </p:nvSpPr>
        <p:spPr>
          <a:xfrm>
            <a:off x="10450024" y="1371600"/>
            <a:ext cx="1193030" cy="320040"/>
          </a:xfrm>
          <a:prstGeom prst="rect">
            <a:avLst/>
          </a:prstGeom>
          <a:solidFill>
            <a:srgbClr val="F2F5F8"/>
          </a:solidFill>
          <a:ln w="6350">
            <a:solidFill>
              <a:srgbClr val="C9D2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50024" y="1371600"/>
            <a:ext cx="1193030" cy="320040"/>
          </a:xfrm>
          <a:prstGeom prst="rect">
            <a:avLst/>
          </a:prstGeom>
          <a:noFill/>
        </p:spPr>
        <p:txBody>
          <a:bodyPr wrap="square" lIns="0" rIns="0" tIns="0" bIns="0" anchor="ctr">
            <a:spAutoFit/>
          </a:bodyPr>
          <a:lstStyle/>
          <a:p>
            <a:pPr algn="ctr"/>
            <a:r>
              <a:rPr sz="1200" b="1" i="0">
                <a:solidFill>
                  <a:srgbClr val="17324D"/>
                </a:solidFill>
                <a:latin typeface="Arial"/>
              </a:rPr>
              <a:t>2031</a:t>
            </a:r>
          </a:p>
        </p:txBody>
      </p:sp>
      <p:cxnSp>
        <p:nvCxnSpPr>
          <p:cNvPr id="19" name="Connector 18"/>
          <p:cNvCxnSpPr/>
          <p:nvPr/>
        </p:nvCxnSpPr>
        <p:spPr>
          <a:xfrm>
            <a:off x="3291840"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81386"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528772"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74416"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70932"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60478"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450024" y="1691640"/>
            <a:ext cx="0" cy="3931920"/>
          </a:xfrm>
          <a:prstGeom prst="line">
            <a:avLst/>
          </a:prstGeom>
          <a:ln w="6350">
            <a:solidFill>
              <a:srgbClr val="C9D2D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092084" y="5650992"/>
            <a:ext cx="548640" cy="228600"/>
          </a:xfrm>
          <a:prstGeom prst="rect">
            <a:avLst/>
          </a:prstGeom>
          <a:noFill/>
        </p:spPr>
        <p:txBody>
          <a:bodyPr wrap="square" lIns="0" rIns="0" tIns="0" bIns="0" anchor="t">
            <a:spAutoFit/>
          </a:bodyPr>
          <a:lstStyle/>
          <a:p>
            <a:pPr algn="ctr"/>
            <a:r>
              <a:rPr sz="1000" b="0" i="0">
                <a:solidFill>
                  <a:srgbClr val="6B7A89"/>
                </a:solidFill>
                <a:latin typeface="Arial"/>
              </a:rPr>
              <a:t>M1</a:t>
            </a:r>
          </a:p>
        </p:txBody>
      </p:sp>
      <p:sp>
        <p:nvSpPr>
          <p:cNvPr id="27" name="TextBox 26"/>
          <p:cNvSpPr txBox="1"/>
          <p:nvPr/>
        </p:nvSpPr>
        <p:spPr>
          <a:xfrm>
            <a:off x="4732501" y="5650992"/>
            <a:ext cx="548640" cy="228600"/>
          </a:xfrm>
          <a:prstGeom prst="rect">
            <a:avLst/>
          </a:prstGeom>
          <a:noFill/>
        </p:spPr>
        <p:txBody>
          <a:bodyPr wrap="square" lIns="0" rIns="0" tIns="0" bIns="0" anchor="t">
            <a:spAutoFit/>
          </a:bodyPr>
          <a:lstStyle/>
          <a:p>
            <a:pPr algn="ctr"/>
            <a:r>
              <a:rPr sz="1000" b="0" i="0">
                <a:solidFill>
                  <a:srgbClr val="6B7A89"/>
                </a:solidFill>
                <a:latin typeface="Arial"/>
              </a:rPr>
              <a:t>M12</a:t>
            </a:r>
          </a:p>
        </p:txBody>
      </p:sp>
      <p:sp>
        <p:nvSpPr>
          <p:cNvPr id="28" name="TextBox 27"/>
          <p:cNvSpPr txBox="1"/>
          <p:nvPr/>
        </p:nvSpPr>
        <p:spPr>
          <a:xfrm>
            <a:off x="5329017" y="5650992"/>
            <a:ext cx="548640" cy="228600"/>
          </a:xfrm>
          <a:prstGeom prst="rect">
            <a:avLst/>
          </a:prstGeom>
          <a:noFill/>
        </p:spPr>
        <p:txBody>
          <a:bodyPr wrap="square" lIns="0" rIns="0" tIns="0" bIns="0" anchor="t">
            <a:spAutoFit/>
          </a:bodyPr>
          <a:lstStyle/>
          <a:p>
            <a:pPr algn="ctr"/>
            <a:r>
              <a:rPr sz="1000" b="0" i="0">
                <a:solidFill>
                  <a:srgbClr val="6B7A89"/>
                </a:solidFill>
                <a:latin typeface="Arial"/>
              </a:rPr>
              <a:t>M16</a:t>
            </a:r>
          </a:p>
        </p:txBody>
      </p:sp>
      <p:sp>
        <p:nvSpPr>
          <p:cNvPr id="29" name="TextBox 28"/>
          <p:cNvSpPr txBox="1"/>
          <p:nvPr/>
        </p:nvSpPr>
        <p:spPr>
          <a:xfrm>
            <a:off x="6074661" y="5650992"/>
            <a:ext cx="548640" cy="228600"/>
          </a:xfrm>
          <a:prstGeom prst="rect">
            <a:avLst/>
          </a:prstGeom>
          <a:noFill/>
        </p:spPr>
        <p:txBody>
          <a:bodyPr wrap="square" lIns="0" rIns="0" tIns="0" bIns="0" anchor="t">
            <a:spAutoFit/>
          </a:bodyPr>
          <a:lstStyle/>
          <a:p>
            <a:pPr algn="ctr"/>
            <a:r>
              <a:rPr sz="1000" b="0" i="0">
                <a:solidFill>
                  <a:srgbClr val="6B7A89"/>
                </a:solidFill>
                <a:latin typeface="Arial"/>
              </a:rPr>
              <a:t>M21</a:t>
            </a:r>
          </a:p>
        </p:txBody>
      </p:sp>
      <p:sp>
        <p:nvSpPr>
          <p:cNvPr id="30" name="TextBox 29"/>
          <p:cNvSpPr txBox="1"/>
          <p:nvPr/>
        </p:nvSpPr>
        <p:spPr>
          <a:xfrm>
            <a:off x="8311593" y="5650992"/>
            <a:ext cx="548640" cy="228600"/>
          </a:xfrm>
          <a:prstGeom prst="rect">
            <a:avLst/>
          </a:prstGeom>
          <a:noFill/>
        </p:spPr>
        <p:txBody>
          <a:bodyPr wrap="square" lIns="0" rIns="0" tIns="0" bIns="0" anchor="t">
            <a:spAutoFit/>
          </a:bodyPr>
          <a:lstStyle/>
          <a:p>
            <a:pPr algn="ctr"/>
            <a:r>
              <a:rPr sz="1000" b="0" i="0">
                <a:solidFill>
                  <a:srgbClr val="6B7A89"/>
                </a:solidFill>
                <a:latin typeface="Arial"/>
              </a:rPr>
              <a:t>M36</a:t>
            </a:r>
          </a:p>
        </p:txBody>
      </p:sp>
      <p:sp>
        <p:nvSpPr>
          <p:cNvPr id="31" name="TextBox 30"/>
          <p:cNvSpPr txBox="1"/>
          <p:nvPr/>
        </p:nvSpPr>
        <p:spPr>
          <a:xfrm>
            <a:off x="11294170" y="5650992"/>
            <a:ext cx="548640" cy="228600"/>
          </a:xfrm>
          <a:prstGeom prst="rect">
            <a:avLst/>
          </a:prstGeom>
          <a:noFill/>
        </p:spPr>
        <p:txBody>
          <a:bodyPr wrap="square" lIns="0" rIns="0" tIns="0" bIns="0" anchor="t">
            <a:spAutoFit/>
          </a:bodyPr>
          <a:lstStyle/>
          <a:p>
            <a:pPr algn="ctr"/>
            <a:r>
              <a:rPr sz="1000" b="0" i="0">
                <a:solidFill>
                  <a:srgbClr val="6B7A89"/>
                </a:solidFill>
                <a:latin typeface="Arial"/>
              </a:rPr>
              <a:t>M56</a:t>
            </a:r>
          </a:p>
        </p:txBody>
      </p:sp>
      <p:sp>
        <p:nvSpPr>
          <p:cNvPr id="32" name="TextBox 31"/>
          <p:cNvSpPr txBox="1"/>
          <p:nvPr/>
        </p:nvSpPr>
        <p:spPr>
          <a:xfrm>
            <a:off x="548640" y="1828800"/>
            <a:ext cx="2651760" cy="329184"/>
          </a:xfrm>
          <a:prstGeom prst="rect">
            <a:avLst/>
          </a:prstGeom>
          <a:noFill/>
        </p:spPr>
        <p:txBody>
          <a:bodyPr wrap="square" lIns="0" rIns="0" tIns="0" bIns="0" anchor="ctr">
            <a:spAutoFit/>
          </a:bodyPr>
          <a:lstStyle/>
          <a:p>
            <a:pPr algn="l"/>
            <a:r>
              <a:rPr sz="1300" b="1" i="0">
                <a:solidFill>
                  <a:srgbClr val="17324D"/>
                </a:solidFill>
                <a:latin typeface="Arial"/>
              </a:rPr>
              <a:t>Desarrollo E1</a:t>
            </a:r>
          </a:p>
        </p:txBody>
      </p:sp>
      <p:cxnSp>
        <p:nvCxnSpPr>
          <p:cNvPr id="33" name="Connector 32"/>
          <p:cNvCxnSpPr/>
          <p:nvPr/>
        </p:nvCxnSpPr>
        <p:spPr>
          <a:xfrm>
            <a:off x="548640" y="2221992"/>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291840" y="1883664"/>
            <a:ext cx="1789546" cy="219456"/>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72826" y="1828800"/>
            <a:ext cx="2743200" cy="329184"/>
          </a:xfrm>
          <a:prstGeom prst="rect">
            <a:avLst/>
          </a:prstGeom>
          <a:noFill/>
        </p:spPr>
        <p:txBody>
          <a:bodyPr wrap="square" lIns="0" rIns="0" tIns="0" bIns="0" anchor="ctr">
            <a:spAutoFit/>
          </a:bodyPr>
          <a:lstStyle/>
          <a:p>
            <a:pPr algn="l"/>
            <a:r>
              <a:rPr sz="1200" b="0" i="0">
                <a:solidFill>
                  <a:srgbClr val="17324D"/>
                </a:solidFill>
                <a:latin typeface="Arial"/>
              </a:rPr>
              <a:t>M1–12</a:t>
            </a:r>
          </a:p>
        </p:txBody>
      </p:sp>
      <p:sp>
        <p:nvSpPr>
          <p:cNvPr id="36" name="TextBox 35"/>
          <p:cNvSpPr txBox="1"/>
          <p:nvPr/>
        </p:nvSpPr>
        <p:spPr>
          <a:xfrm>
            <a:off x="548640" y="2249424"/>
            <a:ext cx="2651760" cy="329184"/>
          </a:xfrm>
          <a:prstGeom prst="rect">
            <a:avLst/>
          </a:prstGeom>
          <a:noFill/>
        </p:spPr>
        <p:txBody>
          <a:bodyPr wrap="square" lIns="0" rIns="0" tIns="0" bIns="0" anchor="ctr">
            <a:spAutoFit/>
          </a:bodyPr>
          <a:lstStyle/>
          <a:p>
            <a:pPr algn="l"/>
            <a:r>
              <a:rPr sz="1300" b="1" i="0">
                <a:solidFill>
                  <a:srgbClr val="17324D"/>
                </a:solidFill>
                <a:latin typeface="Arial"/>
              </a:rPr>
              <a:t>Marcha blanca E1</a:t>
            </a:r>
          </a:p>
        </p:txBody>
      </p:sp>
      <p:cxnSp>
        <p:nvCxnSpPr>
          <p:cNvPr id="37" name="Connector 36"/>
          <p:cNvCxnSpPr/>
          <p:nvPr/>
        </p:nvCxnSpPr>
        <p:spPr>
          <a:xfrm>
            <a:off x="548640" y="2642616"/>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081386" y="2304288"/>
            <a:ext cx="447386" cy="219456"/>
          </a:xfrm>
          <a:prstGeom prst="rect">
            <a:avLst/>
          </a:prstGeom>
          <a:solidFill>
            <a:srgbClr val="7FC6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20212" y="2249424"/>
            <a:ext cx="2743200" cy="329184"/>
          </a:xfrm>
          <a:prstGeom prst="rect">
            <a:avLst/>
          </a:prstGeom>
          <a:noFill/>
        </p:spPr>
        <p:txBody>
          <a:bodyPr wrap="square" lIns="0" rIns="0" tIns="0" bIns="0" anchor="ctr">
            <a:spAutoFit/>
          </a:bodyPr>
          <a:lstStyle/>
          <a:p>
            <a:pPr algn="l"/>
            <a:r>
              <a:rPr sz="1200" b="0" i="0">
                <a:solidFill>
                  <a:srgbClr val="17324D"/>
                </a:solidFill>
                <a:latin typeface="Arial"/>
              </a:rPr>
              <a:t>M13–15</a:t>
            </a:r>
          </a:p>
        </p:txBody>
      </p:sp>
      <p:sp>
        <p:nvSpPr>
          <p:cNvPr id="40" name="TextBox 39"/>
          <p:cNvSpPr txBox="1"/>
          <p:nvPr/>
        </p:nvSpPr>
        <p:spPr>
          <a:xfrm>
            <a:off x="548640" y="2670048"/>
            <a:ext cx="2651760" cy="329184"/>
          </a:xfrm>
          <a:prstGeom prst="rect">
            <a:avLst/>
          </a:prstGeom>
          <a:noFill/>
        </p:spPr>
        <p:txBody>
          <a:bodyPr wrap="square" lIns="0" rIns="0" tIns="0" bIns="0" anchor="ctr">
            <a:spAutoFit/>
          </a:bodyPr>
          <a:lstStyle/>
          <a:p>
            <a:pPr algn="l"/>
            <a:r>
              <a:rPr sz="1300" b="1" i="0">
                <a:solidFill>
                  <a:srgbClr val="17324D"/>
                </a:solidFill>
                <a:latin typeface="Arial"/>
              </a:rPr>
              <a:t>Producción E1</a:t>
            </a:r>
          </a:p>
        </p:txBody>
      </p:sp>
      <p:cxnSp>
        <p:nvCxnSpPr>
          <p:cNvPr id="41" name="Connector 40"/>
          <p:cNvCxnSpPr/>
          <p:nvPr/>
        </p:nvCxnSpPr>
        <p:spPr>
          <a:xfrm>
            <a:off x="548640" y="3063240"/>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42" name="Diamond 41"/>
          <p:cNvSpPr/>
          <p:nvPr/>
        </p:nvSpPr>
        <p:spPr>
          <a:xfrm>
            <a:off x="5484465" y="2715768"/>
            <a:ext cx="237744" cy="237744"/>
          </a:xfrm>
          <a:prstGeom prst="diamond">
            <a:avLst/>
          </a:prstGeom>
          <a:solidFill>
            <a:srgbClr val="196197"/>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04505" y="2670048"/>
            <a:ext cx="3200400" cy="329184"/>
          </a:xfrm>
          <a:prstGeom prst="rect">
            <a:avLst/>
          </a:prstGeom>
          <a:noFill/>
        </p:spPr>
        <p:txBody>
          <a:bodyPr wrap="square" lIns="0" rIns="0" tIns="0" bIns="0" anchor="ctr">
            <a:spAutoFit/>
          </a:bodyPr>
          <a:lstStyle/>
          <a:p>
            <a:pPr algn="l"/>
            <a:r>
              <a:rPr sz="1200" b="0" i="0">
                <a:solidFill>
                  <a:srgbClr val="17324D"/>
                </a:solidFill>
                <a:latin typeface="Arial"/>
              </a:rPr>
              <a:t>M16 · abr 2028</a:t>
            </a:r>
          </a:p>
        </p:txBody>
      </p:sp>
      <p:sp>
        <p:nvSpPr>
          <p:cNvPr id="44" name="TextBox 43"/>
          <p:cNvSpPr txBox="1"/>
          <p:nvPr/>
        </p:nvSpPr>
        <p:spPr>
          <a:xfrm>
            <a:off x="548640" y="3090672"/>
            <a:ext cx="2651760" cy="329184"/>
          </a:xfrm>
          <a:prstGeom prst="rect">
            <a:avLst/>
          </a:prstGeom>
          <a:noFill/>
        </p:spPr>
        <p:txBody>
          <a:bodyPr wrap="square" lIns="0" rIns="0" tIns="0" bIns="0" anchor="ctr">
            <a:spAutoFit/>
          </a:bodyPr>
          <a:lstStyle/>
          <a:p>
            <a:pPr algn="l"/>
            <a:r>
              <a:rPr sz="1300" b="1" i="0">
                <a:solidFill>
                  <a:srgbClr val="17324D"/>
                </a:solidFill>
                <a:latin typeface="Arial"/>
              </a:rPr>
              <a:t>Desarrollo E2</a:t>
            </a:r>
          </a:p>
        </p:txBody>
      </p:sp>
      <p:cxnSp>
        <p:nvCxnSpPr>
          <p:cNvPr id="45" name="Connector 44"/>
          <p:cNvCxnSpPr/>
          <p:nvPr/>
        </p:nvCxnSpPr>
        <p:spPr>
          <a:xfrm>
            <a:off x="548640" y="3483864"/>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5081386" y="3145536"/>
            <a:ext cx="894773" cy="219456"/>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67599" y="3090672"/>
            <a:ext cx="2743200" cy="329184"/>
          </a:xfrm>
          <a:prstGeom prst="rect">
            <a:avLst/>
          </a:prstGeom>
          <a:noFill/>
        </p:spPr>
        <p:txBody>
          <a:bodyPr wrap="square" lIns="0" rIns="0" tIns="0" bIns="0" anchor="ctr">
            <a:spAutoFit/>
          </a:bodyPr>
          <a:lstStyle/>
          <a:p>
            <a:pPr algn="l"/>
            <a:r>
              <a:rPr sz="1200" b="0" i="0">
                <a:solidFill>
                  <a:srgbClr val="17324D"/>
                </a:solidFill>
                <a:latin typeface="Arial"/>
              </a:rPr>
              <a:t>M13–18</a:t>
            </a:r>
          </a:p>
        </p:txBody>
      </p:sp>
      <p:sp>
        <p:nvSpPr>
          <p:cNvPr id="48" name="TextBox 47"/>
          <p:cNvSpPr txBox="1"/>
          <p:nvPr/>
        </p:nvSpPr>
        <p:spPr>
          <a:xfrm>
            <a:off x="548640" y="3511296"/>
            <a:ext cx="2651760" cy="329184"/>
          </a:xfrm>
          <a:prstGeom prst="rect">
            <a:avLst/>
          </a:prstGeom>
          <a:noFill/>
        </p:spPr>
        <p:txBody>
          <a:bodyPr wrap="square" lIns="0" rIns="0" tIns="0" bIns="0" anchor="ctr">
            <a:spAutoFit/>
          </a:bodyPr>
          <a:lstStyle/>
          <a:p>
            <a:pPr algn="l"/>
            <a:r>
              <a:rPr sz="1300" b="1" i="0">
                <a:solidFill>
                  <a:srgbClr val="17324D"/>
                </a:solidFill>
                <a:latin typeface="Arial"/>
              </a:rPr>
              <a:t>Marcha blanca E2</a:t>
            </a:r>
          </a:p>
        </p:txBody>
      </p:sp>
      <p:cxnSp>
        <p:nvCxnSpPr>
          <p:cNvPr id="49" name="Connector 48"/>
          <p:cNvCxnSpPr/>
          <p:nvPr/>
        </p:nvCxnSpPr>
        <p:spPr>
          <a:xfrm>
            <a:off x="548640" y="3904487"/>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976159" y="3566160"/>
            <a:ext cx="298257" cy="219456"/>
          </a:xfrm>
          <a:prstGeom prst="rect">
            <a:avLst/>
          </a:prstGeom>
          <a:solidFill>
            <a:srgbClr val="7FC6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65856" y="3511296"/>
            <a:ext cx="2743200" cy="329184"/>
          </a:xfrm>
          <a:prstGeom prst="rect">
            <a:avLst/>
          </a:prstGeom>
          <a:noFill/>
        </p:spPr>
        <p:txBody>
          <a:bodyPr wrap="square" lIns="0" rIns="0" tIns="0" bIns="0" anchor="ctr">
            <a:spAutoFit/>
          </a:bodyPr>
          <a:lstStyle/>
          <a:p>
            <a:pPr algn="l"/>
            <a:r>
              <a:rPr sz="1200" b="0" i="0">
                <a:solidFill>
                  <a:srgbClr val="17324D"/>
                </a:solidFill>
                <a:latin typeface="Arial"/>
              </a:rPr>
              <a:t>M19–20</a:t>
            </a:r>
          </a:p>
        </p:txBody>
      </p:sp>
      <p:sp>
        <p:nvSpPr>
          <p:cNvPr id="52" name="TextBox 51"/>
          <p:cNvSpPr txBox="1"/>
          <p:nvPr/>
        </p:nvSpPr>
        <p:spPr>
          <a:xfrm>
            <a:off x="548640" y="3931920"/>
            <a:ext cx="2651760" cy="329184"/>
          </a:xfrm>
          <a:prstGeom prst="rect">
            <a:avLst/>
          </a:prstGeom>
          <a:noFill/>
        </p:spPr>
        <p:txBody>
          <a:bodyPr wrap="square" lIns="0" rIns="0" tIns="0" bIns="0" anchor="ctr">
            <a:spAutoFit/>
          </a:bodyPr>
          <a:lstStyle/>
          <a:p>
            <a:pPr algn="l"/>
            <a:r>
              <a:rPr sz="1300" b="1" i="0">
                <a:solidFill>
                  <a:srgbClr val="17324D"/>
                </a:solidFill>
                <a:latin typeface="Arial"/>
              </a:rPr>
              <a:t>Producción E2</a:t>
            </a:r>
          </a:p>
        </p:txBody>
      </p:sp>
      <p:cxnSp>
        <p:nvCxnSpPr>
          <p:cNvPr id="53" name="Connector 52"/>
          <p:cNvCxnSpPr/>
          <p:nvPr/>
        </p:nvCxnSpPr>
        <p:spPr>
          <a:xfrm>
            <a:off x="548640" y="4325112"/>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54" name="Diamond 53"/>
          <p:cNvSpPr/>
          <p:nvPr/>
        </p:nvSpPr>
        <p:spPr>
          <a:xfrm>
            <a:off x="6230109" y="3977640"/>
            <a:ext cx="237744" cy="237744"/>
          </a:xfrm>
          <a:prstGeom prst="diamond">
            <a:avLst/>
          </a:prstGeom>
          <a:solidFill>
            <a:srgbClr val="196197"/>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50149" y="3931920"/>
            <a:ext cx="3200400" cy="329184"/>
          </a:xfrm>
          <a:prstGeom prst="rect">
            <a:avLst/>
          </a:prstGeom>
          <a:noFill/>
        </p:spPr>
        <p:txBody>
          <a:bodyPr wrap="square" lIns="0" rIns="0" tIns="0" bIns="0" anchor="ctr">
            <a:spAutoFit/>
          </a:bodyPr>
          <a:lstStyle/>
          <a:p>
            <a:pPr algn="l"/>
            <a:r>
              <a:rPr sz="1200" b="0" i="0">
                <a:solidFill>
                  <a:srgbClr val="17324D"/>
                </a:solidFill>
                <a:latin typeface="Arial"/>
              </a:rPr>
              <a:t>M21 · sep 2028</a:t>
            </a:r>
          </a:p>
        </p:txBody>
      </p:sp>
      <p:sp>
        <p:nvSpPr>
          <p:cNvPr id="56" name="TextBox 55"/>
          <p:cNvSpPr txBox="1"/>
          <p:nvPr/>
        </p:nvSpPr>
        <p:spPr>
          <a:xfrm>
            <a:off x="548640" y="4352544"/>
            <a:ext cx="2651760" cy="329184"/>
          </a:xfrm>
          <a:prstGeom prst="rect">
            <a:avLst/>
          </a:prstGeom>
          <a:noFill/>
        </p:spPr>
        <p:txBody>
          <a:bodyPr wrap="square" lIns="0" rIns="0" tIns="0" bIns="0" anchor="ctr">
            <a:spAutoFit/>
          </a:bodyPr>
          <a:lstStyle/>
          <a:p>
            <a:pPr algn="l"/>
            <a:r>
              <a:rPr sz="1300" b="1" i="0">
                <a:solidFill>
                  <a:srgbClr val="17324D"/>
                </a:solidFill>
                <a:latin typeface="Arial"/>
              </a:rPr>
              <a:t>Operación</a:t>
            </a:r>
          </a:p>
        </p:txBody>
      </p:sp>
      <p:cxnSp>
        <p:nvCxnSpPr>
          <p:cNvPr id="57" name="Connector 56"/>
          <p:cNvCxnSpPr/>
          <p:nvPr/>
        </p:nvCxnSpPr>
        <p:spPr>
          <a:xfrm>
            <a:off x="548640" y="4745736"/>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6274416" y="4407407"/>
            <a:ext cx="5368638" cy="219456"/>
          </a:xfrm>
          <a:prstGeom prst="rect">
            <a:avLst/>
          </a:prstGeom>
          <a:solidFill>
            <a:srgbClr val="27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65856" y="4407407"/>
            <a:ext cx="3657600" cy="219456"/>
          </a:xfrm>
          <a:prstGeom prst="rect">
            <a:avLst/>
          </a:prstGeom>
          <a:noFill/>
        </p:spPr>
        <p:txBody>
          <a:bodyPr wrap="square" lIns="0" rIns="0" tIns="0" bIns="0" anchor="ctr">
            <a:spAutoFit/>
          </a:bodyPr>
          <a:lstStyle/>
          <a:p>
            <a:pPr algn="l"/>
            <a:r>
              <a:rPr sz="1100" b="1" i="0">
                <a:solidFill>
                  <a:srgbClr val="FFFFFF"/>
                </a:solidFill>
                <a:latin typeface="Arial"/>
              </a:rPr>
              <a:t>M21–56 · 36 meses</a:t>
            </a:r>
          </a:p>
        </p:txBody>
      </p:sp>
      <p:sp>
        <p:nvSpPr>
          <p:cNvPr id="60" name="TextBox 59"/>
          <p:cNvSpPr txBox="1"/>
          <p:nvPr/>
        </p:nvSpPr>
        <p:spPr>
          <a:xfrm>
            <a:off x="11734495" y="4352544"/>
            <a:ext cx="2743200" cy="329184"/>
          </a:xfrm>
          <a:prstGeom prst="rect">
            <a:avLst/>
          </a:prstGeom>
          <a:noFill/>
        </p:spPr>
        <p:txBody>
          <a:bodyPr wrap="square" lIns="0" rIns="0" tIns="0" bIns="0" anchor="ctr">
            <a:spAutoFit/>
          </a:bodyPr>
          <a:lstStyle/>
          <a:p>
            <a:pPr algn="l"/>
            <a:r>
              <a:rPr sz="1200" b="0" i="0">
                <a:solidFill>
                  <a:srgbClr val="17324D"/>
                </a:solidFill>
                <a:latin typeface="Arial"/>
              </a:rPr>
              <a:t/>
            </a:r>
          </a:p>
        </p:txBody>
      </p:sp>
      <p:sp>
        <p:nvSpPr>
          <p:cNvPr id="61" name="TextBox 60"/>
          <p:cNvSpPr txBox="1"/>
          <p:nvPr/>
        </p:nvSpPr>
        <p:spPr>
          <a:xfrm>
            <a:off x="548640" y="4773168"/>
            <a:ext cx="2651760" cy="329184"/>
          </a:xfrm>
          <a:prstGeom prst="rect">
            <a:avLst/>
          </a:prstGeom>
          <a:noFill/>
        </p:spPr>
        <p:txBody>
          <a:bodyPr wrap="square" lIns="0" rIns="0" tIns="0" bIns="0" anchor="ctr">
            <a:spAutoFit/>
          </a:bodyPr>
          <a:lstStyle/>
          <a:p>
            <a:pPr algn="l"/>
            <a:r>
              <a:rPr sz="1300" b="0" i="0">
                <a:solidFill>
                  <a:srgbClr val="17324D"/>
                </a:solidFill>
                <a:latin typeface="Arial"/>
              </a:rPr>
              <a:t>Retiro plataforma 2011</a:t>
            </a:r>
          </a:p>
        </p:txBody>
      </p:sp>
      <p:cxnSp>
        <p:nvCxnSpPr>
          <p:cNvPr id="62" name="Connector 61"/>
          <p:cNvCxnSpPr/>
          <p:nvPr/>
        </p:nvCxnSpPr>
        <p:spPr>
          <a:xfrm>
            <a:off x="548640" y="5166360"/>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63" name="Diamond 62"/>
          <p:cNvSpPr/>
          <p:nvPr/>
        </p:nvSpPr>
        <p:spPr>
          <a:xfrm>
            <a:off x="6379238" y="4818888"/>
            <a:ext cx="237744" cy="237744"/>
          </a:xfrm>
          <a:prstGeom prst="diamond">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99278" y="4773168"/>
            <a:ext cx="3200400" cy="329184"/>
          </a:xfrm>
          <a:prstGeom prst="rect">
            <a:avLst/>
          </a:prstGeom>
          <a:noFill/>
        </p:spPr>
        <p:txBody>
          <a:bodyPr wrap="square" lIns="0" rIns="0" tIns="0" bIns="0" anchor="ctr">
            <a:spAutoFit/>
          </a:bodyPr>
          <a:lstStyle/>
          <a:p>
            <a:pPr algn="l"/>
            <a:r>
              <a:rPr sz="1200" b="0" i="0">
                <a:solidFill>
                  <a:srgbClr val="17324D"/>
                </a:solidFill>
                <a:latin typeface="Arial"/>
              </a:rPr>
              <a:t>M22 · objetivo interno</a:t>
            </a:r>
          </a:p>
        </p:txBody>
      </p:sp>
      <p:sp>
        <p:nvSpPr>
          <p:cNvPr id="65" name="TextBox 64"/>
          <p:cNvSpPr txBox="1"/>
          <p:nvPr/>
        </p:nvSpPr>
        <p:spPr>
          <a:xfrm>
            <a:off x="548640" y="5193792"/>
            <a:ext cx="2651760" cy="329184"/>
          </a:xfrm>
          <a:prstGeom prst="rect">
            <a:avLst/>
          </a:prstGeom>
          <a:noFill/>
        </p:spPr>
        <p:txBody>
          <a:bodyPr wrap="square" lIns="0" rIns="0" tIns="0" bIns="0" anchor="ctr">
            <a:spAutoFit/>
          </a:bodyPr>
          <a:lstStyle/>
          <a:p>
            <a:pPr algn="l"/>
            <a:r>
              <a:rPr sz="1300" b="0" i="0">
                <a:solidFill>
                  <a:srgbClr val="17324D"/>
                </a:solidFill>
                <a:latin typeface="Arial"/>
              </a:rPr>
              <a:t>Cierre remediación</a:t>
            </a:r>
          </a:p>
        </p:txBody>
      </p:sp>
      <p:cxnSp>
        <p:nvCxnSpPr>
          <p:cNvPr id="66" name="Connector 65"/>
          <p:cNvCxnSpPr/>
          <p:nvPr/>
        </p:nvCxnSpPr>
        <p:spPr>
          <a:xfrm>
            <a:off x="548640" y="5586983"/>
            <a:ext cx="11094415" cy="0"/>
          </a:xfrm>
          <a:prstGeom prst="line">
            <a:avLst/>
          </a:prstGeom>
          <a:ln w="6350">
            <a:solidFill>
              <a:srgbClr val="F2F5F8"/>
            </a:solidFill>
          </a:ln>
        </p:spPr>
        <p:style>
          <a:lnRef idx="2">
            <a:schemeClr val="accent1"/>
          </a:lnRef>
          <a:fillRef idx="0">
            <a:schemeClr val="accent1"/>
          </a:fillRef>
          <a:effectRef idx="1">
            <a:schemeClr val="accent1"/>
          </a:effectRef>
          <a:fontRef idx="minor">
            <a:schemeClr val="tx1"/>
          </a:fontRef>
        </p:style>
      </p:cxnSp>
      <p:sp>
        <p:nvSpPr>
          <p:cNvPr id="67" name="Diamond 66"/>
          <p:cNvSpPr/>
          <p:nvPr/>
        </p:nvSpPr>
        <p:spPr>
          <a:xfrm>
            <a:off x="6677495" y="5239512"/>
            <a:ext cx="237744" cy="237744"/>
          </a:xfrm>
          <a:prstGeom prst="diamond">
            <a:avLst/>
          </a:prstGeom>
          <a:solidFill>
            <a:srgbClr val="FFFFFF"/>
          </a:solidFill>
          <a:ln w="15875">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97535" y="5193792"/>
            <a:ext cx="3200400" cy="329184"/>
          </a:xfrm>
          <a:prstGeom prst="rect">
            <a:avLst/>
          </a:prstGeom>
          <a:noFill/>
        </p:spPr>
        <p:txBody>
          <a:bodyPr wrap="square" lIns="0" rIns="0" tIns="0" bIns="0" anchor="ctr">
            <a:spAutoFit/>
          </a:bodyPr>
          <a:lstStyle/>
          <a:p>
            <a:pPr algn="l"/>
            <a:r>
              <a:rPr sz="1200" b="0" i="0">
                <a:solidFill>
                  <a:srgbClr val="17324D"/>
                </a:solidFill>
                <a:latin typeface="Arial"/>
              </a:rPr>
              <a:t>M24 · objetivo interno</a:t>
            </a:r>
          </a:p>
        </p:txBody>
      </p:sp>
      <p:sp>
        <p:nvSpPr>
          <p:cNvPr id="69" name="Rectangle 68"/>
          <p:cNvSpPr/>
          <p:nvPr/>
        </p:nvSpPr>
        <p:spPr>
          <a:xfrm>
            <a:off x="548640" y="5943600"/>
            <a:ext cx="228600" cy="146304"/>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1247" y="5897880"/>
            <a:ext cx="1463040" cy="228600"/>
          </a:xfrm>
          <a:prstGeom prst="rect">
            <a:avLst/>
          </a:prstGeom>
          <a:noFill/>
        </p:spPr>
        <p:txBody>
          <a:bodyPr wrap="square" lIns="0" rIns="0" tIns="0" bIns="0" anchor="t">
            <a:spAutoFit/>
          </a:bodyPr>
          <a:lstStyle/>
          <a:p>
            <a:pPr algn="l"/>
            <a:r>
              <a:rPr sz="1100" b="0" i="0">
                <a:solidFill>
                  <a:srgbClr val="17324D"/>
                </a:solidFill>
                <a:latin typeface="Arial"/>
              </a:rPr>
              <a:t>Desarrollo</a:t>
            </a:r>
          </a:p>
        </p:txBody>
      </p:sp>
      <p:sp>
        <p:nvSpPr>
          <p:cNvPr id="71" name="Rectangle 70"/>
          <p:cNvSpPr/>
          <p:nvPr/>
        </p:nvSpPr>
        <p:spPr>
          <a:xfrm>
            <a:off x="2377440" y="5943600"/>
            <a:ext cx="228600" cy="146304"/>
          </a:xfrm>
          <a:prstGeom prst="rect">
            <a:avLst/>
          </a:prstGeom>
          <a:solidFill>
            <a:srgbClr val="7FC6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70048" y="5897880"/>
            <a:ext cx="1463040" cy="228600"/>
          </a:xfrm>
          <a:prstGeom prst="rect">
            <a:avLst/>
          </a:prstGeom>
          <a:noFill/>
        </p:spPr>
        <p:txBody>
          <a:bodyPr wrap="square" lIns="0" rIns="0" tIns="0" bIns="0" anchor="t">
            <a:spAutoFit/>
          </a:bodyPr>
          <a:lstStyle/>
          <a:p>
            <a:pPr algn="l"/>
            <a:r>
              <a:rPr sz="1100" b="0" i="0">
                <a:solidFill>
                  <a:srgbClr val="17324D"/>
                </a:solidFill>
                <a:latin typeface="Arial"/>
              </a:rPr>
              <a:t>Marcha blanca</a:t>
            </a:r>
          </a:p>
        </p:txBody>
      </p:sp>
      <p:sp>
        <p:nvSpPr>
          <p:cNvPr id="73" name="Rectangle 72"/>
          <p:cNvSpPr/>
          <p:nvPr/>
        </p:nvSpPr>
        <p:spPr>
          <a:xfrm>
            <a:off x="4206240" y="5943600"/>
            <a:ext cx="228600" cy="146304"/>
          </a:xfrm>
          <a:prstGeom prst="rect">
            <a:avLst/>
          </a:prstGeom>
          <a:solidFill>
            <a:srgbClr val="27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98848" y="5897880"/>
            <a:ext cx="1463040" cy="228600"/>
          </a:xfrm>
          <a:prstGeom prst="rect">
            <a:avLst/>
          </a:prstGeom>
          <a:noFill/>
        </p:spPr>
        <p:txBody>
          <a:bodyPr wrap="square" lIns="0" rIns="0" tIns="0" bIns="0" anchor="t">
            <a:spAutoFit/>
          </a:bodyPr>
          <a:lstStyle/>
          <a:p>
            <a:pPr algn="l"/>
            <a:r>
              <a:rPr sz="1100" b="0" i="0">
                <a:solidFill>
                  <a:srgbClr val="17324D"/>
                </a:solidFill>
                <a:latin typeface="Arial"/>
              </a:rPr>
              <a:t>Operación</a:t>
            </a:r>
          </a:p>
        </p:txBody>
      </p:sp>
      <p:sp>
        <p:nvSpPr>
          <p:cNvPr id="75" name="Diamond 74"/>
          <p:cNvSpPr/>
          <p:nvPr/>
        </p:nvSpPr>
        <p:spPr>
          <a:xfrm>
            <a:off x="6080759" y="5925312"/>
            <a:ext cx="164592" cy="164592"/>
          </a:xfrm>
          <a:prstGeom prst="diamond">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09359" y="5897880"/>
            <a:ext cx="1645920" cy="228600"/>
          </a:xfrm>
          <a:prstGeom prst="rect">
            <a:avLst/>
          </a:prstGeom>
          <a:noFill/>
        </p:spPr>
        <p:txBody>
          <a:bodyPr wrap="square" lIns="0" rIns="0" tIns="0" bIns="0" anchor="t">
            <a:spAutoFit/>
          </a:bodyPr>
          <a:lstStyle/>
          <a:p>
            <a:pPr algn="l"/>
            <a:r>
              <a:rPr sz="1100" b="0" i="0">
                <a:solidFill>
                  <a:srgbClr val="17324D"/>
                </a:solidFill>
                <a:latin typeface="Arial"/>
              </a:rPr>
              <a:t>Hito contractual</a:t>
            </a:r>
          </a:p>
        </p:txBody>
      </p:sp>
      <p:sp>
        <p:nvSpPr>
          <p:cNvPr id="77" name="Diamond 76"/>
          <p:cNvSpPr/>
          <p:nvPr/>
        </p:nvSpPr>
        <p:spPr>
          <a:xfrm>
            <a:off x="7909560" y="5925312"/>
            <a:ext cx="164592" cy="164592"/>
          </a:xfrm>
          <a:prstGeom prst="diamond">
            <a:avLst/>
          </a:prstGeom>
          <a:solidFill>
            <a:srgbClr val="FFFFFF"/>
          </a:solidFill>
          <a:ln w="12700">
            <a:solidFill>
              <a:srgbClr val="1961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138160" y="5897880"/>
            <a:ext cx="1645920" cy="228600"/>
          </a:xfrm>
          <a:prstGeom prst="rect">
            <a:avLst/>
          </a:prstGeom>
          <a:noFill/>
        </p:spPr>
        <p:txBody>
          <a:bodyPr wrap="square" lIns="0" rIns="0" tIns="0" bIns="0" anchor="t">
            <a:spAutoFit/>
          </a:bodyPr>
          <a:lstStyle/>
          <a:p>
            <a:pPr algn="l"/>
            <a:r>
              <a:rPr sz="1100" b="0" i="0">
                <a:solidFill>
                  <a:srgbClr val="17324D"/>
                </a:solidFill>
                <a:latin typeface="Arial"/>
              </a:rPr>
              <a:t>Objetivo interno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Hitos de aceptación</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7, Tabla 7.6; Formulario E-25.</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20</a:t>
            </a:r>
          </a:p>
        </p:txBody>
      </p:sp>
      <p:graphicFrame>
        <p:nvGraphicFramePr>
          <p:cNvPr id="9" name="Table 8"/>
          <p:cNvGraphicFramePr>
            <a:graphicFrameLocks noGrp="1"/>
          </p:cNvGraphicFramePr>
          <p:nvPr/>
        </p:nvGraphicFramePr>
        <p:xfrm>
          <a:off x="548640" y="1325880"/>
          <a:ext cx="11091671" cy="4754880"/>
        </p:xfrm>
        <a:graphic>
          <a:graphicData uri="http://schemas.openxmlformats.org/drawingml/2006/table">
            <a:tbl>
              <a:tblPr firstRow="0" bandRow="0">
                <a:tableStyleId>{5940675A-B579-460E-94D1-54222C63F5DA}</a:tableStyleId>
              </a:tblPr>
              <a:tblGrid>
                <a:gridCol w="1005840"/>
                <a:gridCol w="914400"/>
                <a:gridCol w="1371600"/>
                <a:gridCol w="7799831"/>
              </a:tblGrid>
              <a:tr h="365760">
                <a:tc>
                  <a:txBody>
                    <a:bodyPr wrap="square"/>
                    <a:lstStyle/>
                    <a:p>
                      <a:pPr algn="l"/>
                      <a:r>
                        <a:rPr sz="1300" b="1">
                          <a:solidFill>
                            <a:srgbClr val="FFFFFF"/>
                          </a:solidFill>
                          <a:latin typeface="Arial"/>
                        </a:rPr>
                        <a:t>Hito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300" b="1">
                          <a:solidFill>
                            <a:srgbClr val="FFFFFF"/>
                          </a:solidFill>
                          <a:latin typeface="Arial"/>
                        </a:rPr>
                        <a:t>Mes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Etapa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Evidencia principal de aceptación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65760">
                <a:tc>
                  <a:txBody>
                    <a:bodyPr wrap="square"/>
                    <a:lstStyle/>
                    <a:p>
                      <a:pPr algn="l"/>
                      <a:r>
                        <a:rPr sz="1300" b="1">
                          <a:solidFill>
                            <a:srgbClr val="196197"/>
                          </a:solidFill>
                          <a:latin typeface="Arial"/>
                        </a:rPr>
                        <a:t>H1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Levantamiento, línea base y matriz aprobados</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Arquitectura, seguridad y modelo de datos aprobados</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Infraestructura y ambientes operativos con observabilidad</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Software E1 para pruebas, QA superado y cobertura</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Certificación E1 con pruebas aprobadas</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Inicio de marcha blanca E1 y reversión activa</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H8</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Línea base y diseño detallado E2 aprobados</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H7</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16</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1</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l"/>
                      <a:r>
                        <a:rPr sz="1300" b="1">
                          <a:solidFill>
                            <a:srgbClr val="17324D"/>
                          </a:solidFill>
                          <a:latin typeface="Arial"/>
                        </a:rPr>
                        <a:t>Producción E1 y cierre conforme de marcha blanca</a:t>
                      </a:r>
                    </a:p>
                  </a:txBody>
                  <a:tcPr marL="73152" marR="73152" marT="27432" marB="27432" anchor="ctr">
                    <a:solidFill>
                      <a:srgbClr val="F2F5F8"/>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H9</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17</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Software E2 para pruebas con QA superado</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H10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18</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Certificación E2 y cierre del desarrollo</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H11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300" b="0">
                          <a:solidFill>
                            <a:srgbClr val="17324D"/>
                          </a:solidFill>
                          <a:latin typeface="Arial"/>
                        </a:rPr>
                        <a:t>19</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Etapa 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300" b="0">
                          <a:solidFill>
                            <a:srgbClr val="17324D"/>
                          </a:solidFill>
                          <a:latin typeface="Arial"/>
                        </a:rPr>
                        <a:t>Inicio de marcha blanca E2 en convivencia</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96197"/>
                          </a:solidFill>
                          <a:latin typeface="Arial"/>
                        </a:rPr>
                        <a:t>H12</a:t>
                      </a:r>
                    </a:p>
                  </a:txBody>
                  <a:tcPr marL="73152" marR="73152" marT="27432" marB="27432" anchor="ctr">
                    <a:solidFill>
                      <a:srgbClr val="F2F5F8"/>
                    </a:solidFill>
                    <a:lnL w="0">
                      <a:noFill/>
                    </a:lnL>
                    <a:lnR w="0">
                      <a:noFill/>
                    </a:lnR>
                    <a:lnT w="0">
                      <a:noFill/>
                    </a:lnT>
                    <a:lnB w="9525">
                      <a:solidFill>
                        <a:srgbClr val="196197"/>
                      </a:solidFill>
                    </a:lnB>
                  </a:tcPr>
                </a:tc>
                <a:tc>
                  <a:txBody>
                    <a:bodyPr wrap="square"/>
                    <a:lstStyle/>
                    <a:p>
                      <a:pPr algn="ctr"/>
                      <a:r>
                        <a:rPr sz="1300" b="0">
                          <a:solidFill>
                            <a:srgbClr val="17324D"/>
                          </a:solidFill>
                          <a:latin typeface="Arial"/>
                        </a:rPr>
                        <a:t>21</a:t>
                      </a:r>
                    </a:p>
                  </a:txBody>
                  <a:tcPr marL="73152" marR="73152" marT="27432" marB="27432" anchor="ctr">
                    <a:solidFill>
                      <a:srgbClr val="F2F5F8"/>
                    </a:solidFill>
                    <a:lnL w="0">
                      <a:noFill/>
                    </a:lnL>
                    <a:lnR w="0">
                      <a:noFill/>
                    </a:lnR>
                    <a:lnT w="0">
                      <a:noFill/>
                    </a:lnT>
                    <a:lnB w="9525">
                      <a:solidFill>
                        <a:srgbClr val="196197"/>
                      </a:solidFill>
                    </a:lnB>
                  </a:tcPr>
                </a:tc>
                <a:tc>
                  <a:txBody>
                    <a:bodyPr wrap="square"/>
                    <a:lstStyle/>
                    <a:p>
                      <a:pPr algn="l"/>
                      <a:r>
                        <a:rPr sz="1300" b="0">
                          <a:solidFill>
                            <a:srgbClr val="17324D"/>
                          </a:solidFill>
                          <a:latin typeface="Arial"/>
                        </a:rPr>
                        <a:t>Etapa 2</a:t>
                      </a:r>
                    </a:p>
                  </a:txBody>
                  <a:tcPr marL="73152" marR="73152" marT="27432" marB="27432" anchor="ctr">
                    <a:solidFill>
                      <a:srgbClr val="F2F5F8"/>
                    </a:solidFill>
                    <a:lnL w="0">
                      <a:noFill/>
                    </a:lnL>
                    <a:lnR w="0">
                      <a:noFill/>
                    </a:lnR>
                    <a:lnT w="0">
                      <a:noFill/>
                    </a:lnT>
                    <a:lnB w="9525">
                      <a:solidFill>
                        <a:srgbClr val="196197"/>
                      </a:solidFill>
                    </a:lnB>
                  </a:tcPr>
                </a:tc>
                <a:tc>
                  <a:txBody>
                    <a:bodyPr wrap="square"/>
                    <a:lstStyle/>
                    <a:p>
                      <a:pPr algn="l"/>
                      <a:r>
                        <a:rPr sz="1300" b="1">
                          <a:solidFill>
                            <a:srgbClr val="17324D"/>
                          </a:solidFill>
                          <a:latin typeface="Arial"/>
                        </a:rPr>
                        <a:t>Producción E2 y aceptación final</a:t>
                      </a:r>
                    </a:p>
                  </a:txBody>
                  <a:tcPr marL="73152" marR="73152" marT="27432" marB="27432" anchor="ctr">
                    <a:solidFill>
                      <a:srgbClr val="F2F5F8"/>
                    </a:solidFill>
                    <a:lnL w="0">
                      <a:noFill/>
                    </a:lnL>
                    <a:lnR w="0">
                      <a:noFill/>
                    </a:lnR>
                    <a:lnT w="0">
                      <a:noFill/>
                    </a:lnT>
                    <a:lnB w="9525">
                      <a:solidFill>
                        <a:srgbClr val="196197"/>
                      </a:solidFill>
                    </a:lnB>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Red de actividades y ruta crítica (CPM agregado)</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7, apartado 7.3.3 y Tabla 7.5; Formulario T-14, Tabla T-14.18.</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21</a:t>
            </a:r>
          </a:p>
        </p:txBody>
      </p:sp>
      <p:pic>
        <p:nvPicPr>
          <p:cNvPr id="9" name="Picture 8" descr="red_miro_clean.png"/>
          <p:cNvPicPr>
            <a:picLocks noChangeAspect="1"/>
          </p:cNvPicPr>
          <p:nvPr/>
        </p:nvPicPr>
        <p:blipFill>
          <a:blip r:embed="rId4"/>
          <a:stretch>
            <a:fillRect/>
          </a:stretch>
        </p:blipFill>
        <p:spPr>
          <a:xfrm>
            <a:off x="732242" y="1325880"/>
            <a:ext cx="10727210" cy="47091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Gestión de riesgos: calificación y zonas de exposición</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apartado 8.1, Tablas 8.1 y 8.3, y Figura 8.1.</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22</a:t>
            </a:r>
          </a:p>
        </p:txBody>
      </p:sp>
      <p:graphicFrame>
        <p:nvGraphicFramePr>
          <p:cNvPr id="9" name="Table 8"/>
          <p:cNvGraphicFramePr>
            <a:graphicFrameLocks noGrp="1"/>
          </p:cNvGraphicFramePr>
          <p:nvPr/>
        </p:nvGraphicFramePr>
        <p:xfrm>
          <a:off x="548640" y="1371600"/>
          <a:ext cx="7680960" cy="2212848"/>
        </p:xfrm>
        <a:graphic>
          <a:graphicData uri="http://schemas.openxmlformats.org/drawingml/2006/table">
            <a:tbl>
              <a:tblPr firstRow="0" bandRow="0">
                <a:tableStyleId>{5940675A-B579-460E-94D1-54222C63F5DA}</a:tableStyleId>
              </a:tblPr>
              <a:tblGrid>
                <a:gridCol w="1280160"/>
                <a:gridCol w="1828800"/>
                <a:gridCol w="4572000"/>
              </a:tblGrid>
              <a:tr h="384048">
                <a:tc>
                  <a:txBody>
                    <a:bodyPr wrap="square"/>
                    <a:lstStyle/>
                    <a:p>
                      <a:pPr algn="l"/>
                      <a:r>
                        <a:rPr sz="1300" b="1">
                          <a:solidFill>
                            <a:srgbClr val="FFFFFF"/>
                          </a:solidFill>
                          <a:latin typeface="Arial"/>
                        </a:rPr>
                        <a:t>Zona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Exposición P × I</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Regla de acción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457200">
                <a:tc>
                  <a:txBody>
                    <a:bodyPr wrap="square"/>
                    <a:lstStyle/>
                    <a:p>
                      <a:pPr algn="l"/>
                      <a:r>
                        <a:rPr sz="1400" b="0">
                          <a:solidFill>
                            <a:srgbClr val="FFFFFF"/>
                          </a:solidFill>
                          <a:latin typeface="Arial"/>
                        </a:rPr>
                        <a:t>Crítica</a:t>
                      </a:r>
                    </a:p>
                  </a:txBody>
                  <a:tcPr marL="73152" marR="73152" marT="27432" marB="27432" anchor="ctr">
                    <a:solidFill>
                      <a:srgbClr val="B84A45"/>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 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Se cambia el diseño o se escala al Comité Ejecutivo</a:t>
                      </a:r>
                    </a:p>
                  </a:txBody>
                  <a:tcPr marL="73152" marR="73152" marT="27432" marB="27432" anchor="ctr">
                    <a:solidFill>
                      <a:srgbClr val="FFFFFF"/>
                    </a:solidFill>
                    <a:lnL w="0">
                      <a:noFill/>
                    </a:lnL>
                    <a:lnR w="0">
                      <a:noFill/>
                    </a:lnR>
                    <a:lnT w="0">
                      <a:noFill/>
                    </a:lnT>
                    <a:lnB w="9525">
                      <a:solidFill>
                        <a:srgbClr val="C9D2DB"/>
                      </a:solidFill>
                    </a:lnB>
                  </a:tcPr>
                </a:tc>
              </a:tr>
              <a:tr h="457200">
                <a:tc>
                  <a:txBody>
                    <a:bodyPr wrap="square"/>
                    <a:lstStyle/>
                    <a:p>
                      <a:pPr algn="l"/>
                      <a:r>
                        <a:rPr sz="1400" b="0">
                          <a:solidFill>
                            <a:srgbClr val="17324D"/>
                          </a:solidFill>
                          <a:latin typeface="Arial"/>
                        </a:rPr>
                        <a:t>Alta</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0,20 a &lt; 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Mitigación con costo y plazo dentro del plan</a:t>
                      </a:r>
                    </a:p>
                  </a:txBody>
                  <a:tcPr marL="73152" marR="73152" marT="27432" marB="27432" anchor="ctr">
                    <a:solidFill>
                      <a:srgbClr val="FFFFFF"/>
                    </a:solidFill>
                    <a:lnL w="0">
                      <a:noFill/>
                    </a:lnL>
                    <a:lnR w="0">
                      <a:noFill/>
                    </a:lnR>
                    <a:lnT w="0">
                      <a:noFill/>
                    </a:lnT>
                    <a:lnB w="9525">
                      <a:solidFill>
                        <a:srgbClr val="C9D2DB"/>
                      </a:solidFill>
                    </a:lnB>
                  </a:tcPr>
                </a:tc>
              </a:tr>
              <a:tr h="457200">
                <a:tc>
                  <a:txBody>
                    <a:bodyPr wrap="square"/>
                    <a:lstStyle/>
                    <a:p>
                      <a:pPr algn="l"/>
                      <a:r>
                        <a:rPr sz="1400" b="0">
                          <a:solidFill>
                            <a:srgbClr val="17324D"/>
                          </a:solidFill>
                          <a:latin typeface="Arial"/>
                        </a:rPr>
                        <a:t>Media</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0,08 a &lt; 0,20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Aceptación activa con reserva y disparador</a:t>
                      </a:r>
                    </a:p>
                  </a:txBody>
                  <a:tcPr marL="73152" marR="73152" marT="27432" marB="27432" anchor="ctr">
                    <a:solidFill>
                      <a:srgbClr val="FFFFFF"/>
                    </a:solidFill>
                    <a:lnL w="0">
                      <a:noFill/>
                    </a:lnL>
                    <a:lnR w="0">
                      <a:noFill/>
                    </a:lnR>
                    <a:lnT w="0">
                      <a:noFill/>
                    </a:lnT>
                    <a:lnB w="9525">
                      <a:solidFill>
                        <a:srgbClr val="C9D2DB"/>
                      </a:solidFill>
                    </a:lnB>
                  </a:tcPr>
                </a:tc>
              </a:tr>
              <a:tr h="457200">
                <a:tc>
                  <a:txBody>
                    <a:bodyPr wrap="square"/>
                    <a:lstStyle/>
                    <a:p>
                      <a:pPr algn="l"/>
                      <a:r>
                        <a:rPr sz="1400" b="0">
                          <a:solidFill>
                            <a:srgbClr val="17324D"/>
                          </a:solidFill>
                          <a:latin typeface="Arial"/>
                        </a:rPr>
                        <a:t>Baja</a:t>
                      </a:r>
                    </a:p>
                  </a:txBody>
                  <a:tcPr marL="73152" marR="73152" marT="27432" marB="27432" anchor="ctr">
                    <a:solidFill>
                      <a:srgbClr val="DCEEE5"/>
                    </a:solidFill>
                    <a:lnL w="0">
                      <a:noFill/>
                    </a:lnL>
                    <a:lnR w="0">
                      <a:noFill/>
                    </a:lnR>
                    <a:lnT w="0">
                      <a:noFill/>
                    </a:lnT>
                    <a:lnB w="9525">
                      <a:solidFill>
                        <a:srgbClr val="196197"/>
                      </a:solidFill>
                    </a:lnB>
                  </a:tcPr>
                </a:tc>
                <a:tc>
                  <a:txBody>
                    <a:bodyPr wrap="square"/>
                    <a:lstStyle/>
                    <a:p>
                      <a:pPr algn="l"/>
                      <a:r>
                        <a:rPr sz="1400" b="0">
                          <a:solidFill>
                            <a:srgbClr val="17324D"/>
                          </a:solidFill>
                          <a:latin typeface="Arial"/>
                        </a:rPr>
                        <a:t>&lt; 0,08</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400" b="0">
                          <a:solidFill>
                            <a:srgbClr val="17324D"/>
                          </a:solidFill>
                          <a:latin typeface="Arial"/>
                        </a:rPr>
                        <a:t>Aceptación pasiva con revisión mensual</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10" name="TextBox 9"/>
          <p:cNvSpPr txBox="1"/>
          <p:nvPr/>
        </p:nvSpPr>
        <p:spPr>
          <a:xfrm>
            <a:off x="548640" y="3794760"/>
            <a:ext cx="7680960" cy="1097280"/>
          </a:xfrm>
          <a:prstGeom prst="rect">
            <a:avLst/>
          </a:prstGeom>
          <a:noFill/>
        </p:spPr>
        <p:txBody>
          <a:bodyPr wrap="square" lIns="0" rIns="0" tIns="0" bIns="0" anchor="t">
            <a:spAutoFit/>
          </a:bodyPr>
          <a:lstStyle/>
          <a:p>
            <a:pPr algn="l">
              <a:spcAft>
                <a:spcPts val="600"/>
              </a:spcAft>
            </a:pPr>
            <a:r>
              <a:rPr sz="1400" b="1" i="0">
                <a:solidFill>
                  <a:srgbClr val="17324D"/>
                </a:solidFill>
                <a:latin typeface="Arial"/>
              </a:rPr>
              <a:t>Valores de probabilidad: </a:t>
            </a:r>
            <a:r>
              <a:rPr sz="1400" b="0" i="0">
                <a:solidFill>
                  <a:srgbClr val="17324D"/>
                </a:solidFill>
                <a:latin typeface="Arial"/>
              </a:rPr>
              <a:t>0,05 · 0,20 · 0,40 · 0,60 · 0,85</a:t>
            </a:r>
          </a:p>
          <a:p>
            <a:pPr algn="l">
              <a:spcAft>
                <a:spcPts val="600"/>
              </a:spcAft>
            </a:pPr>
            <a:r>
              <a:rPr sz="1400" b="1" i="0">
                <a:solidFill>
                  <a:srgbClr val="17324D"/>
                </a:solidFill>
                <a:latin typeface="Arial"/>
              </a:rPr>
              <a:t>Valores de impacto: </a:t>
            </a:r>
            <a:r>
              <a:rPr sz="1400" b="0" i="0">
                <a:solidFill>
                  <a:srgbClr val="17324D"/>
                </a:solidFill>
                <a:latin typeface="Arial"/>
              </a:rPr>
              <a:t>0,05 · 0,10 · 0,20 · 0,40 · 0,80</a:t>
            </a:r>
          </a:p>
          <a:p>
            <a:pPr algn="l">
              <a:spcAft>
                <a:spcPts val="600"/>
              </a:spcAft>
            </a:pPr>
            <a:r>
              <a:rPr sz="1400" b="1" i="0">
                <a:solidFill>
                  <a:srgbClr val="17324D"/>
                </a:solidFill>
                <a:latin typeface="Arial"/>
              </a:rPr>
              <a:t>Regla del hito: </a:t>
            </a:r>
            <a:r>
              <a:rPr sz="1400" b="0" i="0">
                <a:solidFill>
                  <a:srgbClr val="17324D"/>
                </a:solidFill>
                <a:latin typeface="Arial"/>
              </a:rPr>
              <a:t>un evento que atrasa un hito contractual sin holgura tiene impacto muy alto.</a:t>
            </a:r>
          </a:p>
        </p:txBody>
      </p:sp>
      <p:sp>
        <p:nvSpPr>
          <p:cNvPr id="11" name="TextBox 10"/>
          <p:cNvSpPr txBox="1"/>
          <p:nvPr/>
        </p:nvSpPr>
        <p:spPr>
          <a:xfrm>
            <a:off x="8595360" y="1371600"/>
            <a:ext cx="3047695" cy="320040"/>
          </a:xfrm>
          <a:prstGeom prst="rect">
            <a:avLst/>
          </a:prstGeom>
          <a:noFill/>
        </p:spPr>
        <p:txBody>
          <a:bodyPr wrap="square" lIns="0" rIns="0" tIns="0" bIns="0" anchor="t">
            <a:spAutoFit/>
          </a:bodyPr>
          <a:lstStyle/>
          <a:p>
            <a:pPr algn="l"/>
            <a:r>
              <a:rPr sz="1600" b="1" i="0">
                <a:solidFill>
                  <a:srgbClr val="277FA8"/>
                </a:solidFill>
                <a:latin typeface="Arial"/>
              </a:rPr>
              <a:t>Registro: 37 riesgos</a:t>
            </a:r>
          </a:p>
        </p:txBody>
      </p:sp>
      <p:graphicFrame>
        <p:nvGraphicFramePr>
          <p:cNvPr id="12" name="Table 11"/>
          <p:cNvGraphicFramePr>
            <a:graphicFrameLocks noGrp="1"/>
          </p:cNvGraphicFramePr>
          <p:nvPr/>
        </p:nvGraphicFramePr>
        <p:xfrm>
          <a:off x="8595360" y="1783080"/>
          <a:ext cx="3044952" cy="1993392"/>
        </p:xfrm>
        <a:graphic>
          <a:graphicData uri="http://schemas.openxmlformats.org/drawingml/2006/table">
            <a:tbl>
              <a:tblPr firstRow="0" bandRow="0">
                <a:tableStyleId>{5940675A-B579-460E-94D1-54222C63F5DA}</a:tableStyleId>
              </a:tblPr>
              <a:tblGrid>
                <a:gridCol w="2103120"/>
                <a:gridCol w="941832"/>
              </a:tblGrid>
              <a:tr h="347472">
                <a:tc>
                  <a:txBody>
                    <a:bodyPr wrap="square"/>
                    <a:lstStyle/>
                    <a:p>
                      <a:pPr algn="l"/>
                      <a:r>
                        <a:rPr sz="1200" b="1">
                          <a:solidFill>
                            <a:srgbClr val="FFFFFF"/>
                          </a:solidFill>
                          <a:latin typeface="Arial"/>
                        </a:rPr>
                        <a:t>Rama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Riesgos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29184">
                <a:tc>
                  <a:txBody>
                    <a:bodyPr wrap="square"/>
                    <a:lstStyle/>
                    <a:p>
                      <a:pPr algn="l"/>
                      <a:r>
                        <a:rPr sz="1300" b="0">
                          <a:solidFill>
                            <a:srgbClr val="17324D"/>
                          </a:solidFill>
                          <a:latin typeface="Arial"/>
                        </a:rPr>
                        <a:t>De proyecto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16</a:t>
                      </a:r>
                    </a:p>
                  </a:txBody>
                  <a:tcPr marL="73152" marR="73152" marT="27432" marB="27432" anchor="ctr">
                    <a:solidFill>
                      <a:srgbClr val="FFFFFF"/>
                    </a:solidFill>
                    <a:lnL w="0">
                      <a:noFill/>
                    </a:lnL>
                    <a:lnR w="0">
                      <a:noFill/>
                    </a:lnR>
                    <a:lnT w="0">
                      <a:noFill/>
                    </a:lnT>
                    <a:lnB w="9525">
                      <a:solidFill>
                        <a:srgbClr val="C9D2DB"/>
                      </a:solidFill>
                    </a:lnB>
                  </a:tcPr>
                </a:tc>
              </a:tr>
              <a:tr h="329184">
                <a:tc>
                  <a:txBody>
                    <a:bodyPr wrap="square"/>
                    <a:lstStyle/>
                    <a:p>
                      <a:pPr algn="l"/>
                      <a:r>
                        <a:rPr sz="1300" b="0">
                          <a:solidFill>
                            <a:srgbClr val="17324D"/>
                          </a:solidFill>
                          <a:latin typeface="Arial"/>
                        </a:rPr>
                        <a:t>Técnica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8</a:t>
                      </a:r>
                    </a:p>
                  </a:txBody>
                  <a:tcPr marL="73152" marR="73152" marT="27432" marB="27432" anchor="ctr">
                    <a:solidFill>
                      <a:srgbClr val="FFFFFF"/>
                    </a:solidFill>
                    <a:lnL w="0">
                      <a:noFill/>
                    </a:lnL>
                    <a:lnR w="0">
                      <a:noFill/>
                    </a:lnR>
                    <a:lnT w="0">
                      <a:noFill/>
                    </a:lnT>
                    <a:lnB w="9525">
                      <a:solidFill>
                        <a:srgbClr val="C9D2DB"/>
                      </a:solidFill>
                    </a:lnB>
                  </a:tcPr>
                </a:tc>
              </a:tr>
              <a:tr h="329184">
                <a:tc>
                  <a:txBody>
                    <a:bodyPr wrap="square"/>
                    <a:lstStyle/>
                    <a:p>
                      <a:pPr algn="l"/>
                      <a:r>
                        <a:rPr sz="1300" b="0">
                          <a:solidFill>
                            <a:srgbClr val="17324D"/>
                          </a:solidFill>
                          <a:latin typeface="Arial"/>
                        </a:rPr>
                        <a:t>Organizacional</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5</a:t>
                      </a:r>
                    </a:p>
                  </a:txBody>
                  <a:tcPr marL="73152" marR="73152" marT="27432" marB="27432" anchor="ctr">
                    <a:solidFill>
                      <a:srgbClr val="FFFFFF"/>
                    </a:solidFill>
                    <a:lnL w="0">
                      <a:noFill/>
                    </a:lnL>
                    <a:lnR w="0">
                      <a:noFill/>
                    </a:lnR>
                    <a:lnT w="0">
                      <a:noFill/>
                    </a:lnT>
                    <a:lnB w="9525">
                      <a:solidFill>
                        <a:srgbClr val="C9D2DB"/>
                      </a:solidFill>
                    </a:lnB>
                  </a:tcPr>
                </a:tc>
              </a:tr>
              <a:tr h="329184">
                <a:tc>
                  <a:txBody>
                    <a:bodyPr wrap="square"/>
                    <a:lstStyle/>
                    <a:p>
                      <a:pPr algn="l"/>
                      <a:r>
                        <a:rPr sz="1300" b="0">
                          <a:solidFill>
                            <a:srgbClr val="17324D"/>
                          </a:solidFill>
                          <a:latin typeface="Arial"/>
                        </a:rPr>
                        <a:t>De operación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5</a:t>
                      </a:r>
                    </a:p>
                  </a:txBody>
                  <a:tcPr marL="73152" marR="73152" marT="27432" marB="27432" anchor="ctr">
                    <a:solidFill>
                      <a:srgbClr val="FFFFFF"/>
                    </a:solidFill>
                    <a:lnL w="0">
                      <a:noFill/>
                    </a:lnL>
                    <a:lnR w="0">
                      <a:noFill/>
                    </a:lnR>
                    <a:lnT w="0">
                      <a:noFill/>
                    </a:lnT>
                    <a:lnB w="9525">
                      <a:solidFill>
                        <a:srgbClr val="C9D2DB"/>
                      </a:solidFill>
                    </a:lnB>
                  </a:tcPr>
                </a:tc>
              </a:tr>
              <a:tr h="329184">
                <a:tc>
                  <a:txBody>
                    <a:bodyPr wrap="square"/>
                    <a:lstStyle/>
                    <a:p>
                      <a:pPr algn="l"/>
                      <a:r>
                        <a:rPr sz="1300" b="0">
                          <a:solidFill>
                            <a:srgbClr val="17324D"/>
                          </a:solidFill>
                          <a:latin typeface="Arial"/>
                        </a:rPr>
                        <a:t>De seguridad</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300" b="0">
                          <a:solidFill>
                            <a:srgbClr val="17324D"/>
                          </a:solidFill>
                          <a:latin typeface="Arial"/>
                        </a:rPr>
                        <a:t>3</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graphicFrame>
        <p:nvGraphicFramePr>
          <p:cNvPr id="13" name="Table 12"/>
          <p:cNvGraphicFramePr>
            <a:graphicFrameLocks noGrp="1"/>
          </p:cNvGraphicFramePr>
          <p:nvPr/>
        </p:nvGraphicFramePr>
        <p:xfrm>
          <a:off x="8595360" y="3886200"/>
          <a:ext cx="3044952" cy="1335024"/>
        </p:xfrm>
        <a:graphic>
          <a:graphicData uri="http://schemas.openxmlformats.org/drawingml/2006/table">
            <a:tbl>
              <a:tblPr firstRow="0" bandRow="0">
                <a:tableStyleId>{5940675A-B579-460E-94D1-54222C63F5DA}</a:tableStyleId>
              </a:tblPr>
              <a:tblGrid>
                <a:gridCol w="2103120"/>
                <a:gridCol w="941832"/>
              </a:tblGrid>
              <a:tr h="347472">
                <a:tc>
                  <a:txBody>
                    <a:bodyPr wrap="square"/>
                    <a:lstStyle/>
                    <a:p>
                      <a:pPr algn="l"/>
                      <a:r>
                        <a:rPr sz="1200" b="1">
                          <a:solidFill>
                            <a:srgbClr val="FFFFFF"/>
                          </a:solidFill>
                          <a:latin typeface="Arial"/>
                        </a:rPr>
                        <a:t>Mirada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Riesgos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29184">
                <a:tc>
                  <a:txBody>
                    <a:bodyPr wrap="square"/>
                    <a:lstStyle/>
                    <a:p>
                      <a:pPr algn="l"/>
                      <a:r>
                        <a:rPr sz="1300" b="0">
                          <a:solidFill>
                            <a:srgbClr val="17324D"/>
                          </a:solidFill>
                          <a:latin typeface="Arial"/>
                        </a:rPr>
                        <a:t>Solución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14</a:t>
                      </a:r>
                    </a:p>
                  </a:txBody>
                  <a:tcPr marL="73152" marR="73152" marT="27432" marB="27432" anchor="ctr">
                    <a:solidFill>
                      <a:srgbClr val="FFFFFF"/>
                    </a:solidFill>
                    <a:lnL w="0">
                      <a:noFill/>
                    </a:lnL>
                    <a:lnR w="0">
                      <a:noFill/>
                    </a:lnR>
                    <a:lnT w="0">
                      <a:noFill/>
                    </a:lnT>
                    <a:lnB w="9525">
                      <a:solidFill>
                        <a:srgbClr val="C9D2DB"/>
                      </a:solidFill>
                    </a:lnB>
                  </a:tcPr>
                </a:tc>
              </a:tr>
              <a:tr h="329184">
                <a:tc>
                  <a:txBody>
                    <a:bodyPr wrap="square"/>
                    <a:lstStyle/>
                    <a:p>
                      <a:pPr algn="l"/>
                      <a:r>
                        <a:rPr sz="1300" b="0">
                          <a:solidFill>
                            <a:srgbClr val="17324D"/>
                          </a:solidFill>
                          <a:latin typeface="Arial"/>
                        </a:rPr>
                        <a:t>Desarrollo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13</a:t>
                      </a:r>
                    </a:p>
                  </a:txBody>
                  <a:tcPr marL="73152" marR="73152" marT="27432" marB="27432" anchor="ctr">
                    <a:solidFill>
                      <a:srgbClr val="FFFFFF"/>
                    </a:solidFill>
                    <a:lnL w="0">
                      <a:noFill/>
                    </a:lnL>
                    <a:lnR w="0">
                      <a:noFill/>
                    </a:lnR>
                    <a:lnT w="0">
                      <a:noFill/>
                    </a:lnT>
                    <a:lnB w="9525">
                      <a:solidFill>
                        <a:srgbClr val="C9D2DB"/>
                      </a:solidFill>
                    </a:lnB>
                  </a:tcPr>
                </a:tc>
              </a:tr>
              <a:tr h="329184">
                <a:tc>
                  <a:txBody>
                    <a:bodyPr wrap="square"/>
                    <a:lstStyle/>
                    <a:p>
                      <a:pPr algn="l"/>
                      <a:r>
                        <a:rPr sz="1300" b="0">
                          <a:solidFill>
                            <a:srgbClr val="17324D"/>
                          </a:solidFill>
                          <a:latin typeface="Arial"/>
                        </a:rPr>
                        <a:t>Implantación</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300" b="0">
                          <a:solidFill>
                            <a:srgbClr val="17324D"/>
                          </a:solidFill>
                          <a:latin typeface="Arial"/>
                        </a:rPr>
                        <a:t>14</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14" name="TextBox 13"/>
          <p:cNvSpPr txBox="1"/>
          <p:nvPr/>
        </p:nvSpPr>
        <p:spPr>
          <a:xfrm>
            <a:off x="8595360" y="5349240"/>
            <a:ext cx="3047695" cy="548640"/>
          </a:xfrm>
          <a:prstGeom prst="rect">
            <a:avLst/>
          </a:prstGeom>
          <a:noFill/>
        </p:spPr>
        <p:txBody>
          <a:bodyPr wrap="square" lIns="0" rIns="0" tIns="0" bIns="0" anchor="t">
            <a:spAutoFit/>
          </a:bodyPr>
          <a:lstStyle/>
          <a:p>
            <a:pPr algn="l"/>
            <a:r>
              <a:rPr sz="1100" b="0" i="1">
                <a:solidFill>
                  <a:srgbClr val="6B7A89"/>
                </a:solidFill>
                <a:latin typeface="Arial"/>
              </a:rPr>
              <a:t>Un riesgo puede tocar más de una mirada.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Matriz de probabilidad e impacto</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apartado 8.2, Figura 8.2.</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23</a:t>
            </a:r>
          </a:p>
        </p:txBody>
      </p:sp>
      <p:sp>
        <p:nvSpPr>
          <p:cNvPr id="9" name="TextBox 8"/>
          <p:cNvSpPr txBox="1"/>
          <p:nvPr/>
        </p:nvSpPr>
        <p:spPr>
          <a:xfrm>
            <a:off x="1051560" y="1371600"/>
            <a:ext cx="1234440" cy="841248"/>
          </a:xfrm>
          <a:prstGeom prst="rect">
            <a:avLst/>
          </a:prstGeom>
          <a:noFill/>
        </p:spPr>
        <p:txBody>
          <a:bodyPr wrap="square" lIns="0" rIns="0" tIns="0" bIns="0" anchor="ctr">
            <a:spAutoFit/>
          </a:bodyPr>
          <a:lstStyle/>
          <a:p>
            <a:pPr algn="r"/>
            <a:r>
              <a:rPr sz="1200" b="1" i="0">
                <a:solidFill>
                  <a:srgbClr val="17324D"/>
                </a:solidFill>
                <a:latin typeface="Arial"/>
              </a:rPr>
              <a:t>Muy alta</a:t>
            </a:r>
          </a:p>
          <a:p>
            <a:pPr algn="r"/>
            <a:r>
              <a:rPr sz="1100" b="0" i="0">
                <a:solidFill>
                  <a:srgbClr val="6B7A89"/>
                </a:solidFill>
                <a:latin typeface="Arial"/>
              </a:rPr>
              <a:t>0,85</a:t>
            </a:r>
          </a:p>
        </p:txBody>
      </p:sp>
      <p:sp>
        <p:nvSpPr>
          <p:cNvPr id="10" name="Rectangle 9"/>
          <p:cNvSpPr/>
          <p:nvPr/>
        </p:nvSpPr>
        <p:spPr>
          <a:xfrm>
            <a:off x="2331720" y="1371600"/>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0" y="1371600"/>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83479" y="1371600"/>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199" y="1371600"/>
            <a:ext cx="1234439" cy="841248"/>
          </a:xfrm>
          <a:prstGeom prst="rect">
            <a:avLst/>
          </a:prstGeom>
          <a:noFill/>
        </p:spPr>
        <p:txBody>
          <a:bodyPr wrap="square" lIns="0" rIns="0" tIns="0" bIns="0" anchor="ctr">
            <a:spAutoFit/>
          </a:bodyPr>
          <a:lstStyle/>
          <a:p>
            <a:pPr algn="ctr"/>
            <a:r>
              <a:rPr sz="1100" b="1" i="0">
                <a:solidFill>
                  <a:srgbClr val="17324D"/>
                </a:solidFill>
                <a:latin typeface="Arial"/>
              </a:rPr>
              <a:t>R-05 R-28</a:t>
            </a:r>
          </a:p>
        </p:txBody>
      </p:sp>
      <p:sp>
        <p:nvSpPr>
          <p:cNvPr id="14" name="Rectangle 13"/>
          <p:cNvSpPr/>
          <p:nvPr/>
        </p:nvSpPr>
        <p:spPr>
          <a:xfrm>
            <a:off x="6309359" y="1371600"/>
            <a:ext cx="1325880" cy="841248"/>
          </a:xfrm>
          <a:prstGeom prst="rect">
            <a:avLst/>
          </a:prstGeom>
          <a:solidFill>
            <a:srgbClr val="E3A85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35240" y="1371600"/>
            <a:ext cx="1325880" cy="841248"/>
          </a:xfrm>
          <a:prstGeom prst="rect">
            <a:avLst/>
          </a:prstGeom>
          <a:solidFill>
            <a:srgbClr val="B84A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12848"/>
            <a:ext cx="1234440" cy="841248"/>
          </a:xfrm>
          <a:prstGeom prst="rect">
            <a:avLst/>
          </a:prstGeom>
          <a:noFill/>
        </p:spPr>
        <p:txBody>
          <a:bodyPr wrap="square" lIns="0" rIns="0" tIns="0" bIns="0" anchor="ctr">
            <a:spAutoFit/>
          </a:bodyPr>
          <a:lstStyle/>
          <a:p>
            <a:pPr algn="r"/>
            <a:r>
              <a:rPr sz="1200" b="1" i="0">
                <a:solidFill>
                  <a:srgbClr val="17324D"/>
                </a:solidFill>
                <a:latin typeface="Arial"/>
              </a:rPr>
              <a:t>Alta</a:t>
            </a:r>
          </a:p>
          <a:p>
            <a:pPr algn="r"/>
            <a:r>
              <a:rPr sz="1100" b="0" i="0">
                <a:solidFill>
                  <a:srgbClr val="6B7A89"/>
                </a:solidFill>
                <a:latin typeface="Arial"/>
              </a:rPr>
              <a:t>0,60</a:t>
            </a:r>
          </a:p>
        </p:txBody>
      </p:sp>
      <p:sp>
        <p:nvSpPr>
          <p:cNvPr id="17" name="Rectangle 16"/>
          <p:cNvSpPr/>
          <p:nvPr/>
        </p:nvSpPr>
        <p:spPr>
          <a:xfrm>
            <a:off x="2331720" y="2212848"/>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0" y="2212848"/>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83479" y="2212848"/>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199" y="2212848"/>
            <a:ext cx="1234439" cy="841248"/>
          </a:xfrm>
          <a:prstGeom prst="rect">
            <a:avLst/>
          </a:prstGeom>
          <a:noFill/>
        </p:spPr>
        <p:txBody>
          <a:bodyPr wrap="square" lIns="0" rIns="0" tIns="0" bIns="0" anchor="ctr">
            <a:spAutoFit/>
          </a:bodyPr>
          <a:lstStyle/>
          <a:p>
            <a:pPr algn="ctr"/>
            <a:r>
              <a:rPr sz="1100" b="1" i="0">
                <a:solidFill>
                  <a:srgbClr val="17324D"/>
                </a:solidFill>
                <a:latin typeface="Arial"/>
              </a:rPr>
              <a:t>R-04 R-21 R-22</a:t>
            </a:r>
          </a:p>
        </p:txBody>
      </p:sp>
      <p:sp>
        <p:nvSpPr>
          <p:cNvPr id="21" name="Rectangle 20"/>
          <p:cNvSpPr/>
          <p:nvPr/>
        </p:nvSpPr>
        <p:spPr>
          <a:xfrm>
            <a:off x="6309359" y="2212848"/>
            <a:ext cx="1325880" cy="841248"/>
          </a:xfrm>
          <a:prstGeom prst="rect">
            <a:avLst/>
          </a:prstGeom>
          <a:solidFill>
            <a:srgbClr val="E3A85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79" y="2212848"/>
            <a:ext cx="1234439" cy="841248"/>
          </a:xfrm>
          <a:prstGeom prst="rect">
            <a:avLst/>
          </a:prstGeom>
          <a:noFill/>
        </p:spPr>
        <p:txBody>
          <a:bodyPr wrap="square" lIns="0" rIns="0" tIns="0" bIns="0" anchor="ctr">
            <a:spAutoFit/>
          </a:bodyPr>
          <a:lstStyle/>
          <a:p>
            <a:pPr algn="ctr"/>
            <a:r>
              <a:rPr sz="1100" b="1" i="0">
                <a:solidFill>
                  <a:srgbClr val="17324D"/>
                </a:solidFill>
                <a:latin typeface="Arial"/>
              </a:rPr>
              <a:t>R-18 R-20 R-24</a:t>
            </a:r>
          </a:p>
          <a:p>
            <a:pPr algn="ctr"/>
            <a:r>
              <a:rPr sz="1100" b="1" i="0">
                <a:solidFill>
                  <a:srgbClr val="17324D"/>
                </a:solidFill>
                <a:latin typeface="Arial"/>
              </a:rPr>
              <a:t>R-34</a:t>
            </a:r>
          </a:p>
        </p:txBody>
      </p:sp>
      <p:sp>
        <p:nvSpPr>
          <p:cNvPr id="23" name="Rectangle 22"/>
          <p:cNvSpPr/>
          <p:nvPr/>
        </p:nvSpPr>
        <p:spPr>
          <a:xfrm>
            <a:off x="7635240" y="2212848"/>
            <a:ext cx="1325880" cy="841248"/>
          </a:xfrm>
          <a:prstGeom prst="rect">
            <a:avLst/>
          </a:prstGeom>
          <a:solidFill>
            <a:srgbClr val="B84A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2212848"/>
            <a:ext cx="1234439" cy="841248"/>
          </a:xfrm>
          <a:prstGeom prst="rect">
            <a:avLst/>
          </a:prstGeom>
          <a:noFill/>
        </p:spPr>
        <p:txBody>
          <a:bodyPr wrap="square" lIns="0" rIns="0" tIns="0" bIns="0" anchor="ctr">
            <a:spAutoFit/>
          </a:bodyPr>
          <a:lstStyle/>
          <a:p>
            <a:pPr algn="ctr"/>
            <a:r>
              <a:rPr sz="1100" b="1" i="0">
                <a:solidFill>
                  <a:srgbClr val="FFFFFF"/>
                </a:solidFill>
                <a:latin typeface="Arial"/>
              </a:rPr>
              <a:t>R-02 R-12 R-13</a:t>
            </a:r>
          </a:p>
        </p:txBody>
      </p:sp>
      <p:sp>
        <p:nvSpPr>
          <p:cNvPr id="25" name="TextBox 24"/>
          <p:cNvSpPr txBox="1"/>
          <p:nvPr/>
        </p:nvSpPr>
        <p:spPr>
          <a:xfrm>
            <a:off x="1051560" y="3054096"/>
            <a:ext cx="1234440" cy="841248"/>
          </a:xfrm>
          <a:prstGeom prst="rect">
            <a:avLst/>
          </a:prstGeom>
          <a:noFill/>
        </p:spPr>
        <p:txBody>
          <a:bodyPr wrap="square" lIns="0" rIns="0" tIns="0" bIns="0" anchor="ctr">
            <a:spAutoFit/>
          </a:bodyPr>
          <a:lstStyle/>
          <a:p>
            <a:pPr algn="r"/>
            <a:r>
              <a:rPr sz="1200" b="1" i="0">
                <a:solidFill>
                  <a:srgbClr val="17324D"/>
                </a:solidFill>
                <a:latin typeface="Arial"/>
              </a:rPr>
              <a:t>Media</a:t>
            </a:r>
          </a:p>
          <a:p>
            <a:pPr algn="r"/>
            <a:r>
              <a:rPr sz="1100" b="0" i="0">
                <a:solidFill>
                  <a:srgbClr val="6B7A89"/>
                </a:solidFill>
                <a:latin typeface="Arial"/>
              </a:rPr>
              <a:t>0,40</a:t>
            </a:r>
          </a:p>
        </p:txBody>
      </p:sp>
      <p:sp>
        <p:nvSpPr>
          <p:cNvPr id="26" name="Rectangle 25"/>
          <p:cNvSpPr/>
          <p:nvPr/>
        </p:nvSpPr>
        <p:spPr>
          <a:xfrm>
            <a:off x="2331720" y="3054096"/>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0" y="3054096"/>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83479" y="3054096"/>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199" y="3054096"/>
            <a:ext cx="1234439" cy="841248"/>
          </a:xfrm>
          <a:prstGeom prst="rect">
            <a:avLst/>
          </a:prstGeom>
          <a:noFill/>
        </p:spPr>
        <p:txBody>
          <a:bodyPr wrap="square" lIns="0" rIns="0" tIns="0" bIns="0" anchor="ctr">
            <a:spAutoFit/>
          </a:bodyPr>
          <a:lstStyle/>
          <a:p>
            <a:pPr algn="ctr"/>
            <a:r>
              <a:rPr sz="1100" b="1" i="0">
                <a:solidFill>
                  <a:srgbClr val="17324D"/>
                </a:solidFill>
                <a:latin typeface="Arial"/>
              </a:rPr>
              <a:t>R-06 R-07 R-14</a:t>
            </a:r>
          </a:p>
          <a:p>
            <a:pPr algn="ctr"/>
            <a:r>
              <a:rPr sz="1100" b="1" i="0">
                <a:solidFill>
                  <a:srgbClr val="17324D"/>
                </a:solidFill>
                <a:latin typeface="Arial"/>
              </a:rPr>
              <a:t>R-19 R-32 R-36</a:t>
            </a:r>
          </a:p>
        </p:txBody>
      </p:sp>
      <p:sp>
        <p:nvSpPr>
          <p:cNvPr id="30" name="Rectangle 29"/>
          <p:cNvSpPr/>
          <p:nvPr/>
        </p:nvSpPr>
        <p:spPr>
          <a:xfrm>
            <a:off x="6309359" y="3054096"/>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79" y="3054096"/>
            <a:ext cx="1234439" cy="841248"/>
          </a:xfrm>
          <a:prstGeom prst="rect">
            <a:avLst/>
          </a:prstGeom>
          <a:noFill/>
        </p:spPr>
        <p:txBody>
          <a:bodyPr wrap="square" lIns="0" rIns="0" tIns="0" bIns="0" anchor="ctr">
            <a:spAutoFit/>
          </a:bodyPr>
          <a:lstStyle/>
          <a:p>
            <a:pPr algn="ctr"/>
            <a:r>
              <a:rPr sz="1100" b="1" i="0">
                <a:solidFill>
                  <a:srgbClr val="17324D"/>
                </a:solidFill>
                <a:latin typeface="Arial"/>
              </a:rPr>
              <a:t>R-09 R-15 R-17</a:t>
            </a:r>
          </a:p>
          <a:p>
            <a:pPr algn="ctr"/>
            <a:r>
              <a:rPr sz="1100" b="1" i="0">
                <a:solidFill>
                  <a:srgbClr val="17324D"/>
                </a:solidFill>
                <a:latin typeface="Arial"/>
              </a:rPr>
              <a:t>R-27</a:t>
            </a:r>
          </a:p>
        </p:txBody>
      </p:sp>
      <p:sp>
        <p:nvSpPr>
          <p:cNvPr id="32" name="Rectangle 31"/>
          <p:cNvSpPr/>
          <p:nvPr/>
        </p:nvSpPr>
        <p:spPr>
          <a:xfrm>
            <a:off x="7635240" y="3054096"/>
            <a:ext cx="1325880" cy="841248"/>
          </a:xfrm>
          <a:prstGeom prst="rect">
            <a:avLst/>
          </a:prstGeom>
          <a:solidFill>
            <a:srgbClr val="E3A85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0" y="3054096"/>
            <a:ext cx="1234439" cy="841248"/>
          </a:xfrm>
          <a:prstGeom prst="rect">
            <a:avLst/>
          </a:prstGeom>
          <a:noFill/>
        </p:spPr>
        <p:txBody>
          <a:bodyPr wrap="square" lIns="0" rIns="0" tIns="0" bIns="0" anchor="ctr">
            <a:spAutoFit/>
          </a:bodyPr>
          <a:lstStyle/>
          <a:p>
            <a:pPr algn="ctr"/>
            <a:r>
              <a:rPr sz="1100" b="1" i="0">
                <a:solidFill>
                  <a:srgbClr val="17324D"/>
                </a:solidFill>
                <a:latin typeface="Arial"/>
              </a:rPr>
              <a:t>R-01 R-11 R-16</a:t>
            </a:r>
          </a:p>
          <a:p>
            <a:pPr algn="ctr"/>
            <a:r>
              <a:rPr sz="1100" b="1" i="0">
                <a:solidFill>
                  <a:srgbClr val="17324D"/>
                </a:solidFill>
                <a:latin typeface="Arial"/>
              </a:rPr>
              <a:t>R-23 R-25 R-33</a:t>
            </a:r>
          </a:p>
          <a:p>
            <a:pPr algn="ctr"/>
            <a:r>
              <a:rPr sz="1100" b="1" i="0">
                <a:solidFill>
                  <a:srgbClr val="17324D"/>
                </a:solidFill>
                <a:latin typeface="Arial"/>
              </a:rPr>
              <a:t>R-37</a:t>
            </a:r>
          </a:p>
        </p:txBody>
      </p:sp>
      <p:sp>
        <p:nvSpPr>
          <p:cNvPr id="34" name="TextBox 33"/>
          <p:cNvSpPr txBox="1"/>
          <p:nvPr/>
        </p:nvSpPr>
        <p:spPr>
          <a:xfrm>
            <a:off x="1051560" y="3895344"/>
            <a:ext cx="1234440" cy="841248"/>
          </a:xfrm>
          <a:prstGeom prst="rect">
            <a:avLst/>
          </a:prstGeom>
          <a:noFill/>
        </p:spPr>
        <p:txBody>
          <a:bodyPr wrap="square" lIns="0" rIns="0" tIns="0" bIns="0" anchor="ctr">
            <a:spAutoFit/>
          </a:bodyPr>
          <a:lstStyle/>
          <a:p>
            <a:pPr algn="r"/>
            <a:r>
              <a:rPr sz="1200" b="1" i="0">
                <a:solidFill>
                  <a:srgbClr val="17324D"/>
                </a:solidFill>
                <a:latin typeface="Arial"/>
              </a:rPr>
              <a:t>Baja</a:t>
            </a:r>
          </a:p>
          <a:p>
            <a:pPr algn="r"/>
            <a:r>
              <a:rPr sz="1100" b="0" i="0">
                <a:solidFill>
                  <a:srgbClr val="6B7A89"/>
                </a:solidFill>
                <a:latin typeface="Arial"/>
              </a:rPr>
              <a:t>0,20</a:t>
            </a:r>
          </a:p>
        </p:txBody>
      </p:sp>
      <p:sp>
        <p:nvSpPr>
          <p:cNvPr id="35" name="Rectangle 34"/>
          <p:cNvSpPr/>
          <p:nvPr/>
        </p:nvSpPr>
        <p:spPr>
          <a:xfrm>
            <a:off x="2331720" y="3895344"/>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0" y="3895344"/>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83479" y="3895344"/>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199" y="3895344"/>
            <a:ext cx="1234439" cy="841248"/>
          </a:xfrm>
          <a:prstGeom prst="rect">
            <a:avLst/>
          </a:prstGeom>
          <a:noFill/>
        </p:spPr>
        <p:txBody>
          <a:bodyPr wrap="square" lIns="0" rIns="0" tIns="0" bIns="0" anchor="ctr">
            <a:spAutoFit/>
          </a:bodyPr>
          <a:lstStyle/>
          <a:p>
            <a:pPr algn="ctr"/>
            <a:r>
              <a:rPr sz="1100" b="1" i="0">
                <a:solidFill>
                  <a:srgbClr val="17324D"/>
                </a:solidFill>
                <a:latin typeface="Arial"/>
              </a:rPr>
              <a:t>R-29 R-38</a:t>
            </a:r>
          </a:p>
        </p:txBody>
      </p:sp>
      <p:sp>
        <p:nvSpPr>
          <p:cNvPr id="39" name="Rectangle 38"/>
          <p:cNvSpPr/>
          <p:nvPr/>
        </p:nvSpPr>
        <p:spPr>
          <a:xfrm>
            <a:off x="6309359" y="3895344"/>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79" y="3895344"/>
            <a:ext cx="1234439" cy="841248"/>
          </a:xfrm>
          <a:prstGeom prst="rect">
            <a:avLst/>
          </a:prstGeom>
          <a:noFill/>
        </p:spPr>
        <p:txBody>
          <a:bodyPr wrap="square" lIns="0" rIns="0" tIns="0" bIns="0" anchor="ctr">
            <a:spAutoFit/>
          </a:bodyPr>
          <a:lstStyle/>
          <a:p>
            <a:pPr algn="ctr"/>
            <a:r>
              <a:rPr sz="1100" b="1" i="0">
                <a:solidFill>
                  <a:srgbClr val="17324D"/>
                </a:solidFill>
                <a:latin typeface="Arial"/>
              </a:rPr>
              <a:t>R-08 R-30</a:t>
            </a:r>
          </a:p>
        </p:txBody>
      </p:sp>
      <p:sp>
        <p:nvSpPr>
          <p:cNvPr id="41" name="Rectangle 40"/>
          <p:cNvSpPr/>
          <p:nvPr/>
        </p:nvSpPr>
        <p:spPr>
          <a:xfrm>
            <a:off x="7635240" y="3895344"/>
            <a:ext cx="1325880" cy="841248"/>
          </a:xfrm>
          <a:prstGeom prst="rect">
            <a:avLst/>
          </a:prstGeom>
          <a:solidFill>
            <a:srgbClr val="F3E3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0" y="3895344"/>
            <a:ext cx="1234439" cy="841248"/>
          </a:xfrm>
          <a:prstGeom prst="rect">
            <a:avLst/>
          </a:prstGeom>
          <a:noFill/>
        </p:spPr>
        <p:txBody>
          <a:bodyPr wrap="square" lIns="0" rIns="0" tIns="0" bIns="0" anchor="ctr">
            <a:spAutoFit/>
          </a:bodyPr>
          <a:lstStyle/>
          <a:p>
            <a:pPr algn="ctr"/>
            <a:r>
              <a:rPr sz="1100" b="1" i="0">
                <a:solidFill>
                  <a:srgbClr val="17324D"/>
                </a:solidFill>
                <a:latin typeface="Arial"/>
              </a:rPr>
              <a:t>R-03 R-10 R-31</a:t>
            </a:r>
          </a:p>
          <a:p>
            <a:pPr algn="ctr"/>
            <a:r>
              <a:rPr sz="1100" b="1" i="0">
                <a:solidFill>
                  <a:srgbClr val="17324D"/>
                </a:solidFill>
                <a:latin typeface="Arial"/>
              </a:rPr>
              <a:t>R-35</a:t>
            </a:r>
          </a:p>
        </p:txBody>
      </p:sp>
      <p:sp>
        <p:nvSpPr>
          <p:cNvPr id="43" name="TextBox 42"/>
          <p:cNvSpPr txBox="1"/>
          <p:nvPr/>
        </p:nvSpPr>
        <p:spPr>
          <a:xfrm>
            <a:off x="1051560" y="4736592"/>
            <a:ext cx="1234440" cy="841248"/>
          </a:xfrm>
          <a:prstGeom prst="rect">
            <a:avLst/>
          </a:prstGeom>
          <a:noFill/>
        </p:spPr>
        <p:txBody>
          <a:bodyPr wrap="square" lIns="0" rIns="0" tIns="0" bIns="0" anchor="ctr">
            <a:spAutoFit/>
          </a:bodyPr>
          <a:lstStyle/>
          <a:p>
            <a:pPr algn="r"/>
            <a:r>
              <a:rPr sz="1200" b="1" i="0">
                <a:solidFill>
                  <a:srgbClr val="17324D"/>
                </a:solidFill>
                <a:latin typeface="Arial"/>
              </a:rPr>
              <a:t>Muy baja</a:t>
            </a:r>
          </a:p>
          <a:p>
            <a:pPr algn="r"/>
            <a:r>
              <a:rPr sz="1100" b="0" i="0">
                <a:solidFill>
                  <a:srgbClr val="6B7A89"/>
                </a:solidFill>
                <a:latin typeface="Arial"/>
              </a:rPr>
              <a:t>0,05</a:t>
            </a:r>
          </a:p>
        </p:txBody>
      </p:sp>
      <p:sp>
        <p:nvSpPr>
          <p:cNvPr id="44" name="Rectangle 43"/>
          <p:cNvSpPr/>
          <p:nvPr/>
        </p:nvSpPr>
        <p:spPr>
          <a:xfrm>
            <a:off x="2331720" y="4736592"/>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57600" y="4736592"/>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83479" y="4736592"/>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59" y="4736592"/>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35240" y="4736592"/>
            <a:ext cx="1325880" cy="841248"/>
          </a:xfrm>
          <a:prstGeom prst="rect">
            <a:avLst/>
          </a:prstGeom>
          <a:solidFill>
            <a:srgbClr val="DCEE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31720" y="5623560"/>
            <a:ext cx="1325880" cy="411480"/>
          </a:xfrm>
          <a:prstGeom prst="rect">
            <a:avLst/>
          </a:prstGeom>
          <a:noFill/>
        </p:spPr>
        <p:txBody>
          <a:bodyPr wrap="square" lIns="0" rIns="0" tIns="0" bIns="0" anchor="t">
            <a:spAutoFit/>
          </a:bodyPr>
          <a:lstStyle/>
          <a:p>
            <a:pPr algn="ctr"/>
            <a:r>
              <a:rPr sz="1200" b="1" i="0">
                <a:solidFill>
                  <a:srgbClr val="17324D"/>
                </a:solidFill>
                <a:latin typeface="Arial"/>
              </a:rPr>
              <a:t>Muy bajo</a:t>
            </a:r>
          </a:p>
          <a:p>
            <a:pPr algn="ctr"/>
            <a:r>
              <a:rPr sz="1100" b="0" i="0">
                <a:solidFill>
                  <a:srgbClr val="6B7A89"/>
                </a:solidFill>
                <a:latin typeface="Arial"/>
              </a:rPr>
              <a:t>0,05</a:t>
            </a:r>
          </a:p>
        </p:txBody>
      </p:sp>
      <p:sp>
        <p:nvSpPr>
          <p:cNvPr id="50" name="TextBox 49"/>
          <p:cNvSpPr txBox="1"/>
          <p:nvPr/>
        </p:nvSpPr>
        <p:spPr>
          <a:xfrm>
            <a:off x="3657600" y="5623560"/>
            <a:ext cx="1325880" cy="411480"/>
          </a:xfrm>
          <a:prstGeom prst="rect">
            <a:avLst/>
          </a:prstGeom>
          <a:noFill/>
        </p:spPr>
        <p:txBody>
          <a:bodyPr wrap="square" lIns="0" rIns="0" tIns="0" bIns="0" anchor="t">
            <a:spAutoFit/>
          </a:bodyPr>
          <a:lstStyle/>
          <a:p>
            <a:pPr algn="ctr"/>
            <a:r>
              <a:rPr sz="1200" b="1" i="0">
                <a:solidFill>
                  <a:srgbClr val="17324D"/>
                </a:solidFill>
                <a:latin typeface="Arial"/>
              </a:rPr>
              <a:t>Bajo</a:t>
            </a:r>
          </a:p>
          <a:p>
            <a:pPr algn="ctr"/>
            <a:r>
              <a:rPr sz="1100" b="0" i="0">
                <a:solidFill>
                  <a:srgbClr val="6B7A89"/>
                </a:solidFill>
                <a:latin typeface="Arial"/>
              </a:rPr>
              <a:t>0,10</a:t>
            </a:r>
          </a:p>
        </p:txBody>
      </p:sp>
      <p:sp>
        <p:nvSpPr>
          <p:cNvPr id="51" name="TextBox 50"/>
          <p:cNvSpPr txBox="1"/>
          <p:nvPr/>
        </p:nvSpPr>
        <p:spPr>
          <a:xfrm>
            <a:off x="4983479" y="5623560"/>
            <a:ext cx="1325880" cy="411480"/>
          </a:xfrm>
          <a:prstGeom prst="rect">
            <a:avLst/>
          </a:prstGeom>
          <a:noFill/>
        </p:spPr>
        <p:txBody>
          <a:bodyPr wrap="square" lIns="0" rIns="0" tIns="0" bIns="0" anchor="t">
            <a:spAutoFit/>
          </a:bodyPr>
          <a:lstStyle/>
          <a:p>
            <a:pPr algn="ctr"/>
            <a:r>
              <a:rPr sz="1200" b="1" i="0">
                <a:solidFill>
                  <a:srgbClr val="17324D"/>
                </a:solidFill>
                <a:latin typeface="Arial"/>
              </a:rPr>
              <a:t>Medio</a:t>
            </a:r>
          </a:p>
          <a:p>
            <a:pPr algn="ctr"/>
            <a:r>
              <a:rPr sz="1100" b="0" i="0">
                <a:solidFill>
                  <a:srgbClr val="6B7A89"/>
                </a:solidFill>
                <a:latin typeface="Arial"/>
              </a:rPr>
              <a:t>0,20</a:t>
            </a:r>
          </a:p>
        </p:txBody>
      </p:sp>
      <p:sp>
        <p:nvSpPr>
          <p:cNvPr id="52" name="TextBox 51"/>
          <p:cNvSpPr txBox="1"/>
          <p:nvPr/>
        </p:nvSpPr>
        <p:spPr>
          <a:xfrm>
            <a:off x="6309359" y="5623560"/>
            <a:ext cx="1325880" cy="411480"/>
          </a:xfrm>
          <a:prstGeom prst="rect">
            <a:avLst/>
          </a:prstGeom>
          <a:noFill/>
        </p:spPr>
        <p:txBody>
          <a:bodyPr wrap="square" lIns="0" rIns="0" tIns="0" bIns="0" anchor="t">
            <a:spAutoFit/>
          </a:bodyPr>
          <a:lstStyle/>
          <a:p>
            <a:pPr algn="ctr"/>
            <a:r>
              <a:rPr sz="1200" b="1" i="0">
                <a:solidFill>
                  <a:srgbClr val="17324D"/>
                </a:solidFill>
                <a:latin typeface="Arial"/>
              </a:rPr>
              <a:t>Alto</a:t>
            </a:r>
          </a:p>
          <a:p>
            <a:pPr algn="ctr"/>
            <a:r>
              <a:rPr sz="1100" b="0" i="0">
                <a:solidFill>
                  <a:srgbClr val="6B7A89"/>
                </a:solidFill>
                <a:latin typeface="Arial"/>
              </a:rPr>
              <a:t>0,40</a:t>
            </a:r>
          </a:p>
        </p:txBody>
      </p:sp>
      <p:sp>
        <p:nvSpPr>
          <p:cNvPr id="53" name="TextBox 52"/>
          <p:cNvSpPr txBox="1"/>
          <p:nvPr/>
        </p:nvSpPr>
        <p:spPr>
          <a:xfrm>
            <a:off x="7635240" y="5623560"/>
            <a:ext cx="1325880" cy="411480"/>
          </a:xfrm>
          <a:prstGeom prst="rect">
            <a:avLst/>
          </a:prstGeom>
          <a:noFill/>
        </p:spPr>
        <p:txBody>
          <a:bodyPr wrap="square" lIns="0" rIns="0" tIns="0" bIns="0" anchor="t">
            <a:spAutoFit/>
          </a:bodyPr>
          <a:lstStyle/>
          <a:p>
            <a:pPr algn="ctr"/>
            <a:r>
              <a:rPr sz="1200" b="1" i="0">
                <a:solidFill>
                  <a:srgbClr val="17324D"/>
                </a:solidFill>
                <a:latin typeface="Arial"/>
              </a:rPr>
              <a:t>Muy alto</a:t>
            </a:r>
          </a:p>
          <a:p>
            <a:pPr algn="ctr"/>
            <a:r>
              <a:rPr sz="1100" b="0" i="0">
                <a:solidFill>
                  <a:srgbClr val="6B7A89"/>
                </a:solidFill>
                <a:latin typeface="Arial"/>
              </a:rPr>
              <a:t>0,80</a:t>
            </a:r>
          </a:p>
        </p:txBody>
      </p:sp>
      <p:sp>
        <p:nvSpPr>
          <p:cNvPr id="54" name="TextBox 53"/>
          <p:cNvSpPr txBox="1"/>
          <p:nvPr/>
        </p:nvSpPr>
        <p:spPr>
          <a:xfrm>
            <a:off x="2331720" y="6080760"/>
            <a:ext cx="6629400" cy="274320"/>
          </a:xfrm>
          <a:prstGeom prst="rect">
            <a:avLst/>
          </a:prstGeom>
          <a:noFill/>
        </p:spPr>
        <p:txBody>
          <a:bodyPr wrap="square" lIns="0" rIns="0" tIns="0" bIns="0" anchor="t">
            <a:spAutoFit/>
          </a:bodyPr>
          <a:lstStyle/>
          <a:p>
            <a:pPr algn="ctr"/>
            <a:r>
              <a:rPr sz="1300" b="1" i="0">
                <a:solidFill>
                  <a:srgbClr val="17324D"/>
                </a:solidFill>
                <a:latin typeface="Arial"/>
              </a:rPr>
              <a:t>Impacto (I)</a:t>
            </a:r>
          </a:p>
        </p:txBody>
      </p:sp>
      <p:sp>
        <p:nvSpPr>
          <p:cNvPr id="55" name="TextBox 54"/>
          <p:cNvSpPr txBox="1"/>
          <p:nvPr/>
        </p:nvSpPr>
        <p:spPr>
          <a:xfrm rot="16200000">
            <a:off x="-274320" y="3337560"/>
            <a:ext cx="2103120" cy="274320"/>
          </a:xfrm>
          <a:prstGeom prst="rect">
            <a:avLst/>
          </a:prstGeom>
          <a:noFill/>
        </p:spPr>
        <p:txBody>
          <a:bodyPr wrap="square" lIns="0" rIns="0" tIns="0" bIns="0" anchor="t">
            <a:spAutoFit/>
          </a:bodyPr>
          <a:lstStyle/>
          <a:p>
            <a:pPr algn="ctr"/>
            <a:r>
              <a:rPr sz="1300" b="1" i="0">
                <a:solidFill>
                  <a:srgbClr val="17324D"/>
                </a:solidFill>
                <a:latin typeface="Arial"/>
              </a:rPr>
              <a:t>Probabilidad (P)</a:t>
            </a:r>
          </a:p>
        </p:txBody>
      </p:sp>
      <p:graphicFrame>
        <p:nvGraphicFramePr>
          <p:cNvPr id="56" name="Table 55"/>
          <p:cNvGraphicFramePr>
            <a:graphicFrameLocks noGrp="1"/>
          </p:cNvGraphicFramePr>
          <p:nvPr/>
        </p:nvGraphicFramePr>
        <p:xfrm>
          <a:off x="9372600" y="1371600"/>
          <a:ext cx="2267712" cy="2194560"/>
        </p:xfrm>
        <a:graphic>
          <a:graphicData uri="http://schemas.openxmlformats.org/drawingml/2006/table">
            <a:tbl>
              <a:tblPr firstRow="0" bandRow="0">
                <a:tableStyleId>{5940675A-B579-460E-94D1-54222C63F5DA}</a:tableStyleId>
              </a:tblPr>
              <a:tblGrid>
                <a:gridCol w="1325880"/>
                <a:gridCol w="941832"/>
              </a:tblGrid>
              <a:tr h="365760">
                <a:tc>
                  <a:txBody>
                    <a:bodyPr wrap="square"/>
                    <a:lstStyle/>
                    <a:p>
                      <a:pPr algn="l"/>
                      <a:r>
                        <a:rPr sz="1200" b="1">
                          <a:solidFill>
                            <a:srgbClr val="FFFFFF"/>
                          </a:solidFill>
                          <a:latin typeface="Arial"/>
                        </a:rPr>
                        <a:t>Zona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Riesgos</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65760">
                <a:tc>
                  <a:txBody>
                    <a:bodyPr wrap="square"/>
                    <a:lstStyle/>
                    <a:p>
                      <a:pPr algn="l"/>
                      <a:r>
                        <a:rPr sz="1300" b="0">
                          <a:solidFill>
                            <a:srgbClr val="FFFFFF"/>
                          </a:solidFill>
                          <a:latin typeface="Arial"/>
                        </a:rPr>
                        <a:t>Crítica</a:t>
                      </a:r>
                    </a:p>
                  </a:txBody>
                  <a:tcPr marL="73152" marR="73152" marT="27432" marB="27432" anchor="ctr">
                    <a:solidFill>
                      <a:srgbClr val="B84A45"/>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3</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0">
                          <a:solidFill>
                            <a:srgbClr val="17324D"/>
                          </a:solidFill>
                          <a:latin typeface="Arial"/>
                        </a:rPr>
                        <a:t>Alta</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11</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0">
                          <a:solidFill>
                            <a:srgbClr val="17324D"/>
                          </a:solidFill>
                          <a:latin typeface="Arial"/>
                        </a:rPr>
                        <a:t>Media</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21</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0">
                          <a:solidFill>
                            <a:srgbClr val="17324D"/>
                          </a:solidFill>
                          <a:latin typeface="Arial"/>
                        </a:rPr>
                        <a:t>Baja</a:t>
                      </a:r>
                    </a:p>
                  </a:txBody>
                  <a:tcPr marL="73152" marR="73152" marT="27432" marB="27432" anchor="ctr">
                    <a:solidFill>
                      <a:srgbClr val="DCEEE5"/>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2</a:t>
                      </a:r>
                    </a:p>
                  </a:txBody>
                  <a:tcPr marL="73152" marR="73152" marT="27432" marB="27432" anchor="ctr">
                    <a:solidFill>
                      <a:srgbClr val="FFFFFF"/>
                    </a:solidFill>
                    <a:lnL w="0">
                      <a:noFill/>
                    </a:lnL>
                    <a:lnR w="0">
                      <a:noFill/>
                    </a:lnR>
                    <a:lnT w="0">
                      <a:noFill/>
                    </a:lnT>
                    <a:lnB w="9525">
                      <a:solidFill>
                        <a:srgbClr val="C9D2DB"/>
                      </a:solidFill>
                    </a:lnB>
                  </a:tcPr>
                </a:tc>
              </a:tr>
              <a:tr h="365760">
                <a:tc>
                  <a:txBody>
                    <a:bodyPr wrap="square"/>
                    <a:lstStyle/>
                    <a:p>
                      <a:pPr algn="l"/>
                      <a:r>
                        <a:rPr sz="1300" b="1">
                          <a:solidFill>
                            <a:srgbClr val="17324D"/>
                          </a:solidFill>
                          <a:latin typeface="Arial"/>
                        </a:rPr>
                        <a:t>Total</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300" b="1">
                          <a:solidFill>
                            <a:srgbClr val="17324D"/>
                          </a:solidFill>
                          <a:latin typeface="Arial"/>
                        </a:rPr>
                        <a:t>37</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Riesgos críticos y altos: calificación y respuesta</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Tablas 8.5, 8.9 y 8.10; Formulario T-16.</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24</a:t>
            </a:r>
          </a:p>
        </p:txBody>
      </p:sp>
      <p:graphicFrame>
        <p:nvGraphicFramePr>
          <p:cNvPr id="9" name="Table 8"/>
          <p:cNvGraphicFramePr>
            <a:graphicFrameLocks noGrp="1"/>
          </p:cNvGraphicFramePr>
          <p:nvPr/>
        </p:nvGraphicFramePr>
        <p:xfrm>
          <a:off x="548640" y="1280160"/>
          <a:ext cx="11091672" cy="4553712"/>
        </p:xfrm>
        <a:graphic>
          <a:graphicData uri="http://schemas.openxmlformats.org/drawingml/2006/table">
            <a:tbl>
              <a:tblPr firstRow="0" bandRow="0">
                <a:tableStyleId>{5940675A-B579-460E-94D1-54222C63F5DA}</a:tableStyleId>
              </a:tblPr>
              <a:tblGrid>
                <a:gridCol w="685800"/>
                <a:gridCol w="4572000"/>
                <a:gridCol w="548640"/>
                <a:gridCol w="548640"/>
                <a:gridCol w="1005840"/>
                <a:gridCol w="1051560"/>
                <a:gridCol w="868680"/>
                <a:gridCol w="1810512"/>
              </a:tblGrid>
              <a:tr h="329184">
                <a:tc>
                  <a:txBody>
                    <a:bodyPr wrap="square"/>
                    <a:lstStyle/>
                    <a:p>
                      <a:pPr algn="l"/>
                      <a:r>
                        <a:rPr sz="1100" b="1">
                          <a:solidFill>
                            <a:srgbClr val="FFFFFF"/>
                          </a:solidFill>
                          <a:latin typeface="Arial"/>
                        </a:rPr>
                        <a:t>ID</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100" b="1">
                          <a:solidFill>
                            <a:srgbClr val="FFFFFF"/>
                          </a:solidFill>
                          <a:latin typeface="Arial"/>
                        </a:rPr>
                        <a:t>Riesgo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100" b="1">
                          <a:solidFill>
                            <a:srgbClr val="FFFFFF"/>
                          </a:solidFill>
                          <a:latin typeface="Arial"/>
                        </a:rPr>
                        <a:t>P</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100" b="1">
                          <a:solidFill>
                            <a:srgbClr val="FFFFFF"/>
                          </a:solidFill>
                          <a:latin typeface="Arial"/>
                        </a:rPr>
                        <a:t>I</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100" b="1">
                          <a:solidFill>
                            <a:srgbClr val="FFFFFF"/>
                          </a:solidFill>
                          <a:latin typeface="Arial"/>
                        </a:rPr>
                        <a:t>Exposición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100" b="1">
                          <a:solidFill>
                            <a:srgbClr val="FFFFFF"/>
                          </a:solidFill>
                          <a:latin typeface="Arial"/>
                        </a:rPr>
                        <a:t>Estrategia</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ctr"/>
                      <a:r>
                        <a:rPr sz="1100" b="1">
                          <a:solidFill>
                            <a:srgbClr val="FFFFFF"/>
                          </a:solidFill>
                          <a:latin typeface="Arial"/>
                        </a:rPr>
                        <a:t>Residual</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100" b="1">
                          <a:solidFill>
                            <a:srgbClr val="FFFFFF"/>
                          </a:solidFill>
                          <a:latin typeface="Arial"/>
                        </a:rPr>
                        <a:t>Responsable</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01752">
                <a:tc>
                  <a:txBody>
                    <a:bodyPr wrap="square"/>
                    <a:lstStyle/>
                    <a:p>
                      <a:pPr algn="l"/>
                      <a:r>
                        <a:rPr sz="1100" b="1">
                          <a:solidFill>
                            <a:srgbClr val="196197"/>
                          </a:solidFill>
                          <a:latin typeface="Arial"/>
                        </a:rPr>
                        <a:t>R-02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Evento anual con servicio a medio desplegar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FFFFFF"/>
                          </a:solidFill>
                          <a:latin typeface="Arial"/>
                        </a:rPr>
                        <a:t>0,48</a:t>
                      </a:r>
                    </a:p>
                  </a:txBody>
                  <a:tcPr marL="73152" marR="73152" marT="27432" marB="27432" anchor="ctr">
                    <a:solidFill>
                      <a:srgbClr val="B84A45"/>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R-12</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Marcha blanca dentro de los congelamientos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FFFFFF"/>
                          </a:solidFill>
                          <a:latin typeface="Arial"/>
                        </a:rPr>
                        <a:t>0,48</a:t>
                      </a:r>
                    </a:p>
                  </a:txBody>
                  <a:tcPr marL="73152" marR="73152" marT="27432" marB="27432" anchor="ctr">
                    <a:solidFill>
                      <a:srgbClr val="B84A45"/>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Evitar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Cartera sin migrar al retiro de la plataforma de 2011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FFFFFF"/>
                          </a:solidFill>
                          <a:latin typeface="Arial"/>
                        </a:rPr>
                        <a:t>0,48</a:t>
                      </a:r>
                    </a:p>
                  </a:txBody>
                  <a:tcPr marL="73152" marR="73152" marT="27432" marB="27432" anchor="ctr">
                    <a:solidFill>
                      <a:srgbClr val="B84A45"/>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Evitar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Líder de Datos</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R-01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Divergencia de saldos en la migración de cartera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Líder de Datos</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R-11</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Validaciones tardías del cliente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R-16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Modalidad fiscal de contingencia sin aprobar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Escalar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R-23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Salida de un rol clave del equipo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R-25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Falla posterior al retiro, en congelamiento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Evitar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Líder de Datos</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R-33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Sobreasignación del equipo en los meses 13 a 15</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R-37</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Decisiones del cliente demoradas antes de la línea base</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0,80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0,32</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Evitar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Jefe de Proyecto</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R-18</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Carga inicial de existencias con errores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0,24</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Líder de Datos</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R-20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Hardware y enlaces de tienda no listos para su ola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0,24</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Transferir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Líder de Implantación</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R-24</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Primer peak con defectos latentes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0,24</a:t>
                      </a:r>
                    </a:p>
                  </a:txBody>
                  <a:tcPr marL="73152" marR="73152" marT="27432" marB="27432" anchor="ctr">
                    <a:solidFill>
                      <a:srgbClr val="E3A857"/>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C9D2DB"/>
                      </a:solidFill>
                    </a:lnB>
                  </a:tcPr>
                </a:tc>
                <a:tc>
                  <a:txBody>
                    <a:bodyPr wrap="square"/>
                    <a:lstStyle/>
                    <a:p>
                      <a:pPr algn="l"/>
                      <a:r>
                        <a:rPr sz="1100" b="0">
                          <a:solidFill>
                            <a:srgbClr val="17324D"/>
                          </a:solidFill>
                          <a:latin typeface="Arial"/>
                        </a:rPr>
                        <a:t>Líder de Calidad</a:t>
                      </a:r>
                    </a:p>
                  </a:txBody>
                  <a:tcPr marL="73152" marR="73152" marT="27432" marB="27432" anchor="ctr">
                    <a:solidFill>
                      <a:srgbClr val="FFFFFF"/>
                    </a:solidFill>
                    <a:lnL w="0">
                      <a:noFill/>
                    </a:lnL>
                    <a:lnR w="0">
                      <a:noFill/>
                    </a:lnR>
                    <a:lnT w="0">
                      <a:noFill/>
                    </a:lnT>
                    <a:lnB w="9525">
                      <a:solidFill>
                        <a:srgbClr val="C9D2DB"/>
                      </a:solidFill>
                    </a:lnB>
                  </a:tcPr>
                </a:tc>
              </a:tr>
              <a:tr h="301752">
                <a:tc>
                  <a:txBody>
                    <a:bodyPr wrap="square"/>
                    <a:lstStyle/>
                    <a:p>
                      <a:pPr algn="l"/>
                      <a:r>
                        <a:rPr sz="1100" b="1">
                          <a:solidFill>
                            <a:srgbClr val="196197"/>
                          </a:solidFill>
                          <a:latin typeface="Arial"/>
                        </a:rPr>
                        <a:t>R-34</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100" b="0">
                          <a:solidFill>
                            <a:srgbClr val="17324D"/>
                          </a:solidFill>
                          <a:latin typeface="Arial"/>
                        </a:rPr>
                        <a:t>Meta de discrepancia de precio con etiquetas en papel</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ctr"/>
                      <a:r>
                        <a:rPr sz="1100" b="0">
                          <a:solidFill>
                            <a:srgbClr val="17324D"/>
                          </a:solidFill>
                          <a:latin typeface="Arial"/>
                        </a:rPr>
                        <a:t>0,60</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ctr"/>
                      <a:r>
                        <a:rPr sz="1100" b="0">
                          <a:solidFill>
                            <a:srgbClr val="17324D"/>
                          </a:solidFill>
                          <a:latin typeface="Arial"/>
                        </a:rPr>
                        <a:t>0,40</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ctr"/>
                      <a:r>
                        <a:rPr sz="1100" b="0">
                          <a:solidFill>
                            <a:srgbClr val="17324D"/>
                          </a:solidFill>
                          <a:latin typeface="Arial"/>
                        </a:rPr>
                        <a:t>0,24</a:t>
                      </a:r>
                    </a:p>
                  </a:txBody>
                  <a:tcPr marL="73152" marR="73152" marT="27432" marB="27432" anchor="ctr">
                    <a:solidFill>
                      <a:srgbClr val="E3A857"/>
                    </a:solidFill>
                    <a:lnL w="0">
                      <a:noFill/>
                    </a:lnL>
                    <a:lnR w="0">
                      <a:noFill/>
                    </a:lnR>
                    <a:lnT w="0">
                      <a:noFill/>
                    </a:lnT>
                    <a:lnB w="9525">
                      <a:solidFill>
                        <a:srgbClr val="196197"/>
                      </a:solidFill>
                    </a:lnB>
                  </a:tcPr>
                </a:tc>
                <a:tc>
                  <a:txBody>
                    <a:bodyPr wrap="square"/>
                    <a:lstStyle/>
                    <a:p>
                      <a:pPr algn="ctr"/>
                      <a:r>
                        <a:rPr sz="1100" b="0">
                          <a:solidFill>
                            <a:srgbClr val="17324D"/>
                          </a:solidFill>
                          <a:latin typeface="Arial"/>
                        </a:rPr>
                        <a:t>Mitigar</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ctr"/>
                      <a:r>
                        <a:rPr sz="1100" b="0">
                          <a:solidFill>
                            <a:srgbClr val="17324D"/>
                          </a:solidFill>
                          <a:latin typeface="Arial"/>
                        </a:rPr>
                        <a:t>0,16</a:t>
                      </a:r>
                    </a:p>
                  </a:txBody>
                  <a:tcPr marL="73152" marR="73152" marT="27432" marB="27432" anchor="ctr">
                    <a:solidFill>
                      <a:srgbClr val="F3E3A8"/>
                    </a:solidFill>
                    <a:lnL w="0">
                      <a:noFill/>
                    </a:lnL>
                    <a:lnR w="0">
                      <a:noFill/>
                    </a:lnR>
                    <a:lnT w="0">
                      <a:noFill/>
                    </a:lnT>
                    <a:lnB w="9525">
                      <a:solidFill>
                        <a:srgbClr val="196197"/>
                      </a:solidFill>
                    </a:lnB>
                  </a:tcPr>
                </a:tc>
                <a:tc>
                  <a:txBody>
                    <a:bodyPr wrap="square"/>
                    <a:lstStyle/>
                    <a:p>
                      <a:pPr algn="l"/>
                      <a:r>
                        <a:rPr sz="1100" b="0">
                          <a:solidFill>
                            <a:srgbClr val="17324D"/>
                          </a:solidFill>
                          <a:latin typeface="Arial"/>
                        </a:rPr>
                        <a:t>Líder de Desarrollo</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Riesgo de la solución: R-01</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apartados 8.2 y 8.3, Tablas 8.9 y 8.10.</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25</a:t>
            </a:r>
          </a:p>
        </p:txBody>
      </p:sp>
      <p:sp>
        <p:nvSpPr>
          <p:cNvPr id="9" name="TextBox 8"/>
          <p:cNvSpPr txBox="1"/>
          <p:nvPr/>
        </p:nvSpPr>
        <p:spPr>
          <a:xfrm>
            <a:off x="548640" y="1280160"/>
            <a:ext cx="11094415" cy="320040"/>
          </a:xfrm>
          <a:prstGeom prst="rect">
            <a:avLst/>
          </a:prstGeom>
          <a:noFill/>
        </p:spPr>
        <p:txBody>
          <a:bodyPr wrap="square" lIns="0" rIns="0" tIns="0" bIns="0" anchor="t">
            <a:spAutoFit/>
          </a:bodyPr>
          <a:lstStyle/>
          <a:p>
            <a:pPr algn="l"/>
            <a:r>
              <a:rPr sz="1600" b="1" i="0">
                <a:solidFill>
                  <a:srgbClr val="277FA8"/>
                </a:solidFill>
                <a:latin typeface="Arial"/>
              </a:rPr>
              <a:t>Divergencia de saldos en la migración de cartera</a:t>
            </a:r>
          </a:p>
        </p:txBody>
      </p:sp>
      <p:graphicFrame>
        <p:nvGraphicFramePr>
          <p:cNvPr id="10" name="Table 9"/>
          <p:cNvGraphicFramePr>
            <a:graphicFrameLocks noGrp="1"/>
          </p:cNvGraphicFramePr>
          <p:nvPr/>
        </p:nvGraphicFramePr>
        <p:xfrm>
          <a:off x="548640" y="1691640"/>
          <a:ext cx="11094415" cy="4206240"/>
        </p:xfrm>
        <a:graphic>
          <a:graphicData uri="http://schemas.openxmlformats.org/drawingml/2006/table">
            <a:tbl>
              <a:tblPr firstRow="0" bandRow="0">
                <a:tableStyleId>{5940675A-B579-460E-94D1-54222C63F5DA}</a:tableStyleId>
              </a:tblPr>
              <a:tblGrid>
                <a:gridCol w="2377440"/>
                <a:gridCol w="8716975"/>
              </a:tblGrid>
              <a:tr h="365760">
                <a:tc>
                  <a:txBody>
                    <a:bodyPr wrap="square"/>
                    <a:lstStyle/>
                    <a:p>
                      <a:pPr algn="l"/>
                      <a:r>
                        <a:rPr sz="1300" b="1">
                          <a:solidFill>
                            <a:srgbClr val="FFFFFF"/>
                          </a:solidFill>
                          <a:latin typeface="Arial"/>
                        </a:rPr>
                        <a:t>Elemento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Descripción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548640">
                <a:tc>
                  <a:txBody>
                    <a:bodyPr wrap="square"/>
                    <a:lstStyle/>
                    <a:p>
                      <a:pPr algn="l"/>
                      <a:r>
                        <a:rPr sz="1400" b="1">
                          <a:solidFill>
                            <a:srgbClr val="17324D"/>
                          </a:solidFill>
                          <a:latin typeface="Arial"/>
                        </a:rPr>
                        <a:t>Causa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La cartera viva, con cuotas, repactaciones y cobranzas, migra por tramos; el tramo difícil entra en la Etapa 2 con una sola marcha blanca de dos meses.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Efecto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Una divergencia de saldos incumple la restricción 8 del Caso y expone a la filial emisora ante la CMF.</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Calificación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P 0,40 · I 0,80 en servicio · exposición 0,32 · zona alta</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Respuesta (mitigar)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Corte por tramo con conciliación diaria y criterio de detención acordado con la filial.</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Disparador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Divergencia sin conciliar dos días seguidos en un tramo.</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Contingencia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Repetir el corte del tramo con seis personas.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Residual y responsable</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400" b="0">
                          <a:solidFill>
                            <a:srgbClr val="17324D"/>
                          </a:solidFill>
                          <a:latin typeface="Arial"/>
                        </a:rPr>
                        <a:t>Exposición 0,16 (zona media) · Líder de Datos · cuentas 1.7.1, 1.7.6, 1.7.12 y 1.5.40</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Riesgo del desarrollo: R-33</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apartados 8.2 y 8.3, Tablas 8.9 y 8.10; Formulario T-15.</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26</a:t>
            </a:r>
          </a:p>
        </p:txBody>
      </p:sp>
      <p:sp>
        <p:nvSpPr>
          <p:cNvPr id="9" name="TextBox 8"/>
          <p:cNvSpPr txBox="1"/>
          <p:nvPr/>
        </p:nvSpPr>
        <p:spPr>
          <a:xfrm>
            <a:off x="548640" y="1280160"/>
            <a:ext cx="11094415" cy="320040"/>
          </a:xfrm>
          <a:prstGeom prst="rect">
            <a:avLst/>
          </a:prstGeom>
          <a:noFill/>
        </p:spPr>
        <p:txBody>
          <a:bodyPr wrap="square" lIns="0" rIns="0" tIns="0" bIns="0" anchor="t">
            <a:spAutoFit/>
          </a:bodyPr>
          <a:lstStyle/>
          <a:p>
            <a:pPr algn="l"/>
            <a:r>
              <a:rPr sz="1600" b="1" i="0">
                <a:solidFill>
                  <a:srgbClr val="277FA8"/>
                </a:solidFill>
                <a:latin typeface="Arial"/>
              </a:rPr>
              <a:t>Sobreasignación del equipo en los meses 13 a 15</a:t>
            </a:r>
          </a:p>
        </p:txBody>
      </p:sp>
      <p:graphicFrame>
        <p:nvGraphicFramePr>
          <p:cNvPr id="10" name="Table 9"/>
          <p:cNvGraphicFramePr>
            <a:graphicFrameLocks noGrp="1"/>
          </p:cNvGraphicFramePr>
          <p:nvPr/>
        </p:nvGraphicFramePr>
        <p:xfrm>
          <a:off x="548640" y="1691640"/>
          <a:ext cx="11094415" cy="4206240"/>
        </p:xfrm>
        <a:graphic>
          <a:graphicData uri="http://schemas.openxmlformats.org/drawingml/2006/table">
            <a:tbl>
              <a:tblPr firstRow="0" bandRow="0">
                <a:tableStyleId>{5940675A-B579-460E-94D1-54222C63F5DA}</a:tableStyleId>
              </a:tblPr>
              <a:tblGrid>
                <a:gridCol w="2377440"/>
                <a:gridCol w="8716975"/>
              </a:tblGrid>
              <a:tr h="365760">
                <a:tc>
                  <a:txBody>
                    <a:bodyPr wrap="square"/>
                    <a:lstStyle/>
                    <a:p>
                      <a:pPr algn="l"/>
                      <a:r>
                        <a:rPr sz="1300" b="1">
                          <a:solidFill>
                            <a:srgbClr val="FFFFFF"/>
                          </a:solidFill>
                          <a:latin typeface="Arial"/>
                        </a:rPr>
                        <a:t>Elemento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Descripción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548640">
                <a:tc>
                  <a:txBody>
                    <a:bodyPr wrap="square"/>
                    <a:lstStyle/>
                    <a:p>
                      <a:pPr algn="l"/>
                      <a:r>
                        <a:rPr sz="1400" b="1">
                          <a:solidFill>
                            <a:srgbClr val="17324D"/>
                          </a:solidFill>
                          <a:latin typeface="Arial"/>
                        </a:rPr>
                        <a:t>Causa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Entre los meses 13 y 15 el mismo equipo sostiene la marcha blanca de la Etapa 1 y construye la Etapa 2; la nivelación del T-15 cubre ese período solo en parte.</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Efecto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Se atrasa una de las dos ramas críticas, con hitos en los meses 16 y 21.</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Calificación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P 0,40 · I 0,80 por la regla del hito · exposición 0,32 · zona alta</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Respuesta (mitigar)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Nivelar los recursos de los meses 13 a 15 y reforzar el equipo.</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Disparador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Carga sobre 100 % de un rol clave en los meses 13 a 15.</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Contingencia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Reasignar cinco personas entre las dos ramas.</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Residual y responsable</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400" b="0">
                          <a:solidFill>
                            <a:srgbClr val="17324D"/>
                          </a:solidFill>
                          <a:latin typeface="Arial"/>
                        </a:rPr>
                        <a:t>Exposición 0,16 (zona media) · Jefe de Proyecto · cuenta 1.11.3</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Riesgo de la implantación: R-12</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apartados 8.2 y 8.3.</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27</a:t>
            </a:r>
          </a:p>
        </p:txBody>
      </p:sp>
      <p:sp>
        <p:nvSpPr>
          <p:cNvPr id="9" name="TextBox 8"/>
          <p:cNvSpPr txBox="1"/>
          <p:nvPr/>
        </p:nvSpPr>
        <p:spPr>
          <a:xfrm>
            <a:off x="548640" y="1280160"/>
            <a:ext cx="11094415" cy="320040"/>
          </a:xfrm>
          <a:prstGeom prst="rect">
            <a:avLst/>
          </a:prstGeom>
          <a:noFill/>
        </p:spPr>
        <p:txBody>
          <a:bodyPr wrap="square" lIns="0" rIns="0" tIns="0" bIns="0" anchor="t">
            <a:spAutoFit/>
          </a:bodyPr>
          <a:lstStyle/>
          <a:p>
            <a:pPr algn="l"/>
            <a:r>
              <a:rPr sz="1600" b="1" i="0">
                <a:solidFill>
                  <a:srgbClr val="277FA8"/>
                </a:solidFill>
                <a:latin typeface="Arial"/>
              </a:rPr>
              <a:t>Marcha blanca dentro de los congelamientos</a:t>
            </a:r>
          </a:p>
        </p:txBody>
      </p:sp>
      <p:graphicFrame>
        <p:nvGraphicFramePr>
          <p:cNvPr id="10" name="Table 9"/>
          <p:cNvGraphicFramePr>
            <a:graphicFrameLocks noGrp="1"/>
          </p:cNvGraphicFramePr>
          <p:nvPr/>
        </p:nvGraphicFramePr>
        <p:xfrm>
          <a:off x="548640" y="1691640"/>
          <a:ext cx="11094415" cy="4206240"/>
        </p:xfrm>
        <a:graphic>
          <a:graphicData uri="http://schemas.openxmlformats.org/drawingml/2006/table">
            <a:tbl>
              <a:tblPr firstRow="0" bandRow="0">
                <a:tableStyleId>{5940675A-B579-460E-94D1-54222C63F5DA}</a:tableStyleId>
              </a:tblPr>
              <a:tblGrid>
                <a:gridCol w="2377440"/>
                <a:gridCol w="8716975"/>
              </a:tblGrid>
              <a:tr h="365760">
                <a:tc>
                  <a:txBody>
                    <a:bodyPr wrap="square"/>
                    <a:lstStyle/>
                    <a:p>
                      <a:pPr algn="l"/>
                      <a:r>
                        <a:rPr sz="1300" b="1">
                          <a:solidFill>
                            <a:srgbClr val="FFFFFF"/>
                          </a:solidFill>
                          <a:latin typeface="Arial"/>
                        </a:rPr>
                        <a:t>Elemento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l"/>
                      <a:r>
                        <a:rPr sz="1300" b="1">
                          <a:solidFill>
                            <a:srgbClr val="FFFFFF"/>
                          </a:solidFill>
                          <a:latin typeface="Arial"/>
                        </a:rPr>
                        <a:t>Descripción</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548640">
                <a:tc>
                  <a:txBody>
                    <a:bodyPr wrap="square"/>
                    <a:lstStyle/>
                    <a:p>
                      <a:pPr algn="l"/>
                      <a:r>
                        <a:rPr sz="1400" b="1">
                          <a:solidFill>
                            <a:srgbClr val="17324D"/>
                          </a:solidFill>
                          <a:latin typeface="Arial"/>
                        </a:rPr>
                        <a:t>Causa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La marcha blanca de la Etapa 1 (meses 13 a 15) cae casi entera en los congelamientos: hasta el 6 de enero y desde fines de enero hasta la primera semana de marzo.</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Efecto</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No pueden corregirse defectos y se arrastra el paso a producción del mes 16, previsto para abril de 2028.</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Calificación</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P 0,60 · I 0,80 · exposición 0,48 · zona crítica</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Respuesta (evitar)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Certificar en Preproducción en el mes 12, desplegar entre el 7 y el 24 de enero de 2028 y corregir en la ventana libre de marzo.</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Disparador</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Defectos de severidad alta abiertos al 20 de enero o despliegue sin terminar al 24 de enero.</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Contingencia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l"/>
                      <a:r>
                        <a:rPr sz="1400" b="0">
                          <a:solidFill>
                            <a:srgbClr val="17324D"/>
                          </a:solidFill>
                          <a:latin typeface="Arial"/>
                        </a:rPr>
                        <a:t>Correcciones de emergencia autorizadas por el Comité Ejecutivo: ocho personas por cuatro semanas (1.280 HH).</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400" b="1">
                          <a:solidFill>
                            <a:srgbClr val="17324D"/>
                          </a:solidFill>
                          <a:latin typeface="Arial"/>
                        </a:rPr>
                        <a:t>Residual y responsable</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l"/>
                      <a:r>
                        <a:rPr sz="1400" b="0">
                          <a:solidFill>
                            <a:srgbClr val="17324D"/>
                          </a:solidFill>
                          <a:latin typeface="Arial"/>
                        </a:rPr>
                        <a:t>Exposición 0,16 (zona media) · Jefe de Proyecto · cuentas 1.12.1 y 1.1.5</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5486400" cy="274320"/>
          </a:xfrm>
          <a:prstGeom prst="rect">
            <a:avLst/>
          </a:prstGeom>
          <a:noFill/>
        </p:spPr>
        <p:txBody>
          <a:bodyPr wrap="square" lIns="0" rIns="0" tIns="0" bIns="0" anchor="t">
            <a:spAutoFit/>
          </a:bodyPr>
          <a:lstStyle/>
          <a:p>
            <a:pPr algn="l"/>
            <a:r>
              <a:rPr sz="1100" b="0" i="0">
                <a:solidFill>
                  <a:srgbClr val="17324D"/>
                </a:solidFill>
                <a:latin typeface="Arial"/>
              </a:rPr>
              <a:t>Only Simple Solutions</a:t>
            </a:r>
          </a:p>
        </p:txBody>
      </p:sp>
      <p:sp>
        <p:nvSpPr>
          <p:cNvPr id="3" name="TextBox 2"/>
          <p:cNvSpPr txBox="1"/>
          <p:nvPr/>
        </p:nvSpPr>
        <p:spPr>
          <a:xfrm>
            <a:off x="6156655" y="256032"/>
            <a:ext cx="5486400" cy="274320"/>
          </a:xfrm>
          <a:prstGeom prst="rect">
            <a:avLst/>
          </a:prstGeom>
          <a:noFill/>
        </p:spPr>
        <p:txBody>
          <a:bodyPr wrap="square" lIns="0" rIns="0" tIns="0" bIns="0" anchor="t">
            <a:spAutoFit/>
          </a:bodyPr>
          <a:lstStyle/>
          <a:p>
            <a:pPr algn="r"/>
            <a:r>
              <a:rPr sz="1100" b="0" i="0">
                <a:solidFill>
                  <a:srgbClr val="17324D"/>
                </a:solidFill>
                <a:latin typeface="Arial"/>
              </a:rPr>
              <a:t>Licitación TFEP-01/2026</a:t>
            </a:r>
          </a:p>
        </p:txBody>
      </p:sp>
      <p:cxnSp>
        <p:nvCxnSpPr>
          <p:cNvPr id="4" name="Connector 3"/>
          <p:cNvCxnSpPr/>
          <p:nvPr/>
        </p:nvCxnSpPr>
        <p:spPr>
          <a:xfrm>
            <a:off x="548640" y="548640"/>
            <a:ext cx="11094415" cy="0"/>
          </a:xfrm>
          <a:prstGeom prst="line">
            <a:avLst/>
          </a:prstGeom>
          <a:ln w="6350">
            <a:solidFill>
              <a:srgbClr val="17324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713232"/>
            <a:ext cx="11094415" cy="548640"/>
          </a:xfrm>
          <a:prstGeom prst="rect">
            <a:avLst/>
          </a:prstGeom>
          <a:noFill/>
        </p:spPr>
        <p:txBody>
          <a:bodyPr wrap="square" lIns="0" rIns="0" tIns="0" bIns="0" anchor="t">
            <a:spAutoFit/>
          </a:bodyPr>
          <a:lstStyle/>
          <a:p>
            <a:pPr algn="l"/>
            <a:r>
              <a:rPr sz="2600" b="1" i="0">
                <a:solidFill>
                  <a:srgbClr val="196197"/>
                </a:solidFill>
                <a:latin typeface="Arial"/>
              </a:rPr>
              <a:t>Análisis cuantitativo y reserva de contingencia</a:t>
            </a:r>
          </a:p>
        </p:txBody>
      </p:sp>
      <p:sp>
        <p:nvSpPr>
          <p:cNvPr id="6" name="TextBox 5"/>
          <p:cNvSpPr txBox="1"/>
          <p:nvPr/>
        </p:nvSpPr>
        <p:spPr>
          <a:xfrm>
            <a:off x="548640" y="6144768"/>
            <a:ext cx="11094415" cy="228600"/>
          </a:xfrm>
          <a:prstGeom prst="rect">
            <a:avLst/>
          </a:prstGeom>
          <a:noFill/>
        </p:spPr>
        <p:txBody>
          <a:bodyPr wrap="square" lIns="0" rIns="0" tIns="0" bIns="0" anchor="t">
            <a:spAutoFit/>
          </a:bodyPr>
          <a:lstStyle/>
          <a:p>
            <a:pPr algn="l"/>
            <a:r>
              <a:rPr sz="1000" b="0" i="1">
                <a:solidFill>
                  <a:srgbClr val="6B7A89"/>
                </a:solidFill>
                <a:latin typeface="Arial"/>
              </a:rPr>
              <a:t>Fuente: Subdocumento 8, apartado 8.2, Tabla 8.8, y apartado 8.3.</a:t>
            </a:r>
          </a:p>
        </p:txBody>
      </p:sp>
      <p:pic>
        <p:nvPicPr>
          <p:cNvPr id="7" name="Picture 6" descr="logo.png"/>
          <p:cNvPicPr>
            <a:picLocks noChangeAspect="1"/>
          </p:cNvPicPr>
          <p:nvPr/>
        </p:nvPicPr>
        <p:blipFill>
          <a:blip r:embed="rId2"/>
          <a:stretch>
            <a:fillRect/>
          </a:stretch>
        </p:blipFill>
        <p:spPr>
          <a:xfrm>
            <a:off x="548640" y="6400800"/>
            <a:ext cx="274320" cy="274320"/>
          </a:xfrm>
          <a:prstGeom prst="rect">
            <a:avLst/>
          </a:prstGeom>
        </p:spPr>
      </p:pic>
      <p:sp>
        <p:nvSpPr>
          <p:cNvPr id="8" name="TextBox 7"/>
          <p:cNvSpPr txBox="1"/>
          <p:nvPr/>
        </p:nvSpPr>
        <p:spPr>
          <a:xfrm>
            <a:off x="10728655" y="6428232"/>
            <a:ext cx="914400" cy="274320"/>
          </a:xfrm>
          <a:prstGeom prst="rect">
            <a:avLst/>
          </a:prstGeom>
          <a:noFill/>
        </p:spPr>
        <p:txBody>
          <a:bodyPr wrap="square" lIns="0" rIns="0" tIns="0" bIns="0" anchor="t">
            <a:spAutoFit/>
          </a:bodyPr>
          <a:lstStyle/>
          <a:p>
            <a:pPr algn="r"/>
            <a:r>
              <a:rPr sz="1100" b="0" i="0">
                <a:solidFill>
                  <a:srgbClr val="17324D"/>
                </a:solidFill>
                <a:latin typeface="Arial"/>
              </a:rPr>
              <a:t>28</a:t>
            </a:r>
          </a:p>
        </p:txBody>
      </p:sp>
      <p:sp>
        <p:nvSpPr>
          <p:cNvPr id="9" name="TextBox 8"/>
          <p:cNvSpPr txBox="1"/>
          <p:nvPr/>
        </p:nvSpPr>
        <p:spPr>
          <a:xfrm>
            <a:off x="548640" y="1371600"/>
            <a:ext cx="11094415" cy="320040"/>
          </a:xfrm>
          <a:prstGeom prst="rect">
            <a:avLst/>
          </a:prstGeom>
          <a:noFill/>
        </p:spPr>
        <p:txBody>
          <a:bodyPr wrap="square" lIns="0" rIns="0" tIns="0" bIns="0" anchor="t">
            <a:spAutoFit/>
          </a:bodyPr>
          <a:lstStyle/>
          <a:p>
            <a:pPr algn="l"/>
            <a:r>
              <a:rPr sz="1600" b="1" i="0">
                <a:solidFill>
                  <a:srgbClr val="277FA8"/>
                </a:solidFill>
                <a:latin typeface="Arial"/>
              </a:rPr>
              <a:t>Atraso acumulado por hito, en semanas (Monte Carlo)</a:t>
            </a:r>
          </a:p>
        </p:txBody>
      </p:sp>
      <p:graphicFrame>
        <p:nvGraphicFramePr>
          <p:cNvPr id="10" name="Table 9"/>
          <p:cNvGraphicFramePr>
            <a:graphicFrameLocks noGrp="1"/>
          </p:cNvGraphicFramePr>
          <p:nvPr/>
        </p:nvGraphicFramePr>
        <p:xfrm>
          <a:off x="548640" y="1783080"/>
          <a:ext cx="7955280" cy="2670048"/>
        </p:xfrm>
        <a:graphic>
          <a:graphicData uri="http://schemas.openxmlformats.org/drawingml/2006/table">
            <a:tbl>
              <a:tblPr firstRow="0" bandRow="0">
                <a:tableStyleId>{5940675A-B579-460E-94D1-54222C63F5DA}</a:tableStyleId>
              </a:tblPr>
              <a:tblGrid>
                <a:gridCol w="3840480"/>
                <a:gridCol w="1371600"/>
                <a:gridCol w="1371600"/>
                <a:gridCol w="1371600"/>
              </a:tblGrid>
              <a:tr h="365760">
                <a:tc>
                  <a:txBody>
                    <a:bodyPr wrap="square"/>
                    <a:lstStyle/>
                    <a:p>
                      <a:pPr algn="l"/>
                      <a:r>
                        <a:rPr sz="1200" b="1">
                          <a:solidFill>
                            <a:srgbClr val="FFFFFF"/>
                          </a:solidFill>
                          <a:latin typeface="Arial"/>
                        </a:rPr>
                        <a:t>Hito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P50</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P80</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P90</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384048">
                <a:tc>
                  <a:txBody>
                    <a:bodyPr wrap="square"/>
                    <a:lstStyle/>
                    <a:p>
                      <a:pPr algn="l"/>
                      <a:r>
                        <a:rPr sz="1300" b="0">
                          <a:solidFill>
                            <a:srgbClr val="17324D"/>
                          </a:solidFill>
                          <a:latin typeface="Arial"/>
                        </a:rPr>
                        <a:t>Mes 16 · producción Etapa 1 · sin respuestas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13,6</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17,3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19,3</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300" b="1">
                          <a:solidFill>
                            <a:srgbClr val="17324D"/>
                          </a:solidFill>
                          <a:latin typeface="Arial"/>
                        </a:rPr>
                        <a:t>Mes 16 · producción Etapa 1 · con respuestas</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8,3</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r"/>
                      <a:r>
                        <a:rPr sz="1300" b="1">
                          <a:solidFill>
                            <a:srgbClr val="17324D"/>
                          </a:solidFill>
                          <a:latin typeface="Arial"/>
                        </a:rPr>
                        <a:t>12,2</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14,3</a:t>
                      </a:r>
                    </a:p>
                  </a:txBody>
                  <a:tcPr marL="73152" marR="73152" marT="27432" marB="27432" anchor="ctr">
                    <a:solidFill>
                      <a:srgbClr val="F2F5F8"/>
                    </a:solidFill>
                    <a:lnL w="0">
                      <a:noFill/>
                    </a:lnL>
                    <a:lnR w="0">
                      <a:noFill/>
                    </a:lnR>
                    <a:lnT w="0">
                      <a:noFill/>
                    </a:lnT>
                    <a:lnB w="9525">
                      <a:solidFill>
                        <a:srgbClr val="C9D2DB"/>
                      </a:solidFill>
                    </a:lnB>
                  </a:tcPr>
                </a:tc>
              </a:tr>
              <a:tr h="384048">
                <a:tc>
                  <a:txBody>
                    <a:bodyPr wrap="square"/>
                    <a:lstStyle/>
                    <a:p>
                      <a:pPr algn="l"/>
                      <a:r>
                        <a:rPr sz="1300" b="0">
                          <a:solidFill>
                            <a:srgbClr val="17324D"/>
                          </a:solidFill>
                          <a:latin typeface="Arial"/>
                        </a:rPr>
                        <a:t>Mes 21 · producción Etapa 2 · sin respuestas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0,0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3,0</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3,4</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300" b="1">
                          <a:solidFill>
                            <a:srgbClr val="17324D"/>
                          </a:solidFill>
                          <a:latin typeface="Arial"/>
                        </a:rPr>
                        <a:t>Mes 21 · producción Etapa 2 · con respuestas</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0,0</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r"/>
                      <a:r>
                        <a:rPr sz="1300" b="1">
                          <a:solidFill>
                            <a:srgbClr val="17324D"/>
                          </a:solidFill>
                          <a:latin typeface="Arial"/>
                        </a:rPr>
                        <a:t>1,7</a:t>
                      </a:r>
                    </a:p>
                  </a:txBody>
                  <a:tcPr marL="73152" marR="73152" marT="27432" marB="27432" anchor="ctr">
                    <a:solidFill>
                      <a:srgbClr val="F2F5F8"/>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3,0</a:t>
                      </a:r>
                    </a:p>
                  </a:txBody>
                  <a:tcPr marL="73152" marR="73152" marT="27432" marB="27432" anchor="ctr">
                    <a:solidFill>
                      <a:srgbClr val="F2F5F8"/>
                    </a:solidFill>
                    <a:lnL w="0">
                      <a:noFill/>
                    </a:lnL>
                    <a:lnR w="0">
                      <a:noFill/>
                    </a:lnR>
                    <a:lnT w="0">
                      <a:noFill/>
                    </a:lnT>
                    <a:lnB w="9525">
                      <a:solidFill>
                        <a:srgbClr val="C9D2DB"/>
                      </a:solidFill>
                    </a:lnB>
                  </a:tcPr>
                </a:tc>
              </a:tr>
              <a:tr h="384048">
                <a:tc>
                  <a:txBody>
                    <a:bodyPr wrap="square"/>
                    <a:lstStyle/>
                    <a:p>
                      <a:pPr algn="l"/>
                      <a:r>
                        <a:rPr sz="1300" b="0">
                          <a:solidFill>
                            <a:srgbClr val="17324D"/>
                          </a:solidFill>
                          <a:latin typeface="Arial"/>
                        </a:rPr>
                        <a:t>Mes 22 · retiro plataforma 2011 · sin respuestas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7,8</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11,3</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13,0</a:t>
                      </a:r>
                    </a:p>
                  </a:txBody>
                  <a:tcPr marL="73152" marR="73152" marT="27432" marB="27432" anchor="ctr">
                    <a:solidFill>
                      <a:srgbClr val="FFFFFF"/>
                    </a:solidFill>
                    <a:lnL w="0">
                      <a:noFill/>
                    </a:lnL>
                    <a:lnR w="0">
                      <a:noFill/>
                    </a:lnR>
                    <a:lnT w="0">
                      <a:noFill/>
                    </a:lnT>
                    <a:lnB w="9525">
                      <a:solidFill>
                        <a:srgbClr val="C9D2DB"/>
                      </a:solidFill>
                    </a:lnB>
                  </a:tcPr>
                </a:tc>
              </a:tr>
              <a:tr h="384048">
                <a:tc>
                  <a:txBody>
                    <a:bodyPr wrap="square"/>
                    <a:lstStyle/>
                    <a:p>
                      <a:pPr algn="l"/>
                      <a:r>
                        <a:rPr sz="1300" b="1">
                          <a:solidFill>
                            <a:srgbClr val="17324D"/>
                          </a:solidFill>
                          <a:latin typeface="Arial"/>
                        </a:rPr>
                        <a:t>Mes 22 · retiro plataforma 2011 · con respuestas</a:t>
                      </a:r>
                    </a:p>
                  </a:txBody>
                  <a:tcPr marL="73152" marR="73152" marT="27432" marB="27432" anchor="ctr">
                    <a:solidFill>
                      <a:srgbClr val="F2F5F8"/>
                    </a:solidFill>
                    <a:lnL w="0">
                      <a:noFill/>
                    </a:lnL>
                    <a:lnR w="0">
                      <a:noFill/>
                    </a:lnR>
                    <a:lnT w="0">
                      <a:noFill/>
                    </a:lnT>
                    <a:lnB w="9525">
                      <a:solidFill>
                        <a:srgbClr val="196197"/>
                      </a:solidFill>
                    </a:lnB>
                  </a:tcPr>
                </a:tc>
                <a:tc>
                  <a:txBody>
                    <a:bodyPr wrap="square"/>
                    <a:lstStyle/>
                    <a:p>
                      <a:pPr algn="r"/>
                      <a:r>
                        <a:rPr sz="1300" b="0">
                          <a:solidFill>
                            <a:srgbClr val="17324D"/>
                          </a:solidFill>
                          <a:latin typeface="Arial"/>
                        </a:rPr>
                        <a:t>4,8</a:t>
                      </a:r>
                    </a:p>
                  </a:txBody>
                  <a:tcPr marL="73152" marR="73152" marT="27432" marB="27432" anchor="ctr">
                    <a:solidFill>
                      <a:srgbClr val="F2F5F8"/>
                    </a:solidFill>
                    <a:lnL w="0">
                      <a:noFill/>
                    </a:lnL>
                    <a:lnR w="0">
                      <a:noFill/>
                    </a:lnR>
                    <a:lnT w="0">
                      <a:noFill/>
                    </a:lnT>
                    <a:lnB w="9525">
                      <a:solidFill>
                        <a:srgbClr val="196197"/>
                      </a:solidFill>
                    </a:lnB>
                  </a:tcPr>
                </a:tc>
                <a:tc>
                  <a:txBody>
                    <a:bodyPr wrap="square"/>
                    <a:lstStyle/>
                    <a:p>
                      <a:pPr algn="r"/>
                      <a:r>
                        <a:rPr sz="1300" b="1">
                          <a:solidFill>
                            <a:srgbClr val="17324D"/>
                          </a:solidFill>
                          <a:latin typeface="Arial"/>
                        </a:rPr>
                        <a:t>8,5</a:t>
                      </a:r>
                    </a:p>
                  </a:txBody>
                  <a:tcPr marL="73152" marR="73152" marT="27432" marB="27432" anchor="ctr">
                    <a:solidFill>
                      <a:srgbClr val="F2F5F8"/>
                    </a:solidFill>
                    <a:lnL w="0">
                      <a:noFill/>
                    </a:lnL>
                    <a:lnR w="0">
                      <a:noFill/>
                    </a:lnR>
                    <a:lnT w="0">
                      <a:noFill/>
                    </a:lnT>
                    <a:lnB w="9525">
                      <a:solidFill>
                        <a:srgbClr val="196197"/>
                      </a:solidFill>
                    </a:lnB>
                  </a:tcPr>
                </a:tc>
                <a:tc>
                  <a:txBody>
                    <a:bodyPr wrap="square"/>
                    <a:lstStyle/>
                    <a:p>
                      <a:pPr algn="r"/>
                      <a:r>
                        <a:rPr sz="1300" b="0">
                          <a:solidFill>
                            <a:srgbClr val="17324D"/>
                          </a:solidFill>
                          <a:latin typeface="Arial"/>
                        </a:rPr>
                        <a:t>10,6</a:t>
                      </a:r>
                    </a:p>
                  </a:txBody>
                  <a:tcPr marL="73152" marR="73152" marT="27432" marB="27432" anchor="ctr">
                    <a:solidFill>
                      <a:srgbClr val="F2F5F8"/>
                    </a:solidFill>
                    <a:lnL w="0">
                      <a:noFill/>
                    </a:lnL>
                    <a:lnR w="0">
                      <a:noFill/>
                    </a:lnR>
                    <a:lnT w="0">
                      <a:noFill/>
                    </a:lnT>
                    <a:lnB w="9525">
                      <a:solidFill>
                        <a:srgbClr val="196197"/>
                      </a:solidFill>
                    </a:lnB>
                  </a:tcPr>
                </a:tc>
              </a:tr>
            </a:tbl>
          </a:graphicData>
        </a:graphic>
      </p:graphicFrame>
      <p:sp>
        <p:nvSpPr>
          <p:cNvPr id="11" name="TextBox 10"/>
          <p:cNvSpPr txBox="1"/>
          <p:nvPr/>
        </p:nvSpPr>
        <p:spPr>
          <a:xfrm>
            <a:off x="8915400" y="1371600"/>
            <a:ext cx="2727655" cy="320040"/>
          </a:xfrm>
          <a:prstGeom prst="rect">
            <a:avLst/>
          </a:prstGeom>
          <a:noFill/>
        </p:spPr>
        <p:txBody>
          <a:bodyPr wrap="square" lIns="0" rIns="0" tIns="0" bIns="0" anchor="t">
            <a:spAutoFit/>
          </a:bodyPr>
          <a:lstStyle/>
          <a:p>
            <a:pPr algn="l"/>
            <a:r>
              <a:rPr sz="1600" b="1" i="0">
                <a:solidFill>
                  <a:srgbClr val="277FA8"/>
                </a:solidFill>
                <a:latin typeface="Arial"/>
              </a:rPr>
              <a:t>Reservas</a:t>
            </a:r>
          </a:p>
        </p:txBody>
      </p:sp>
      <p:graphicFrame>
        <p:nvGraphicFramePr>
          <p:cNvPr id="12" name="Table 11"/>
          <p:cNvGraphicFramePr>
            <a:graphicFrameLocks noGrp="1"/>
          </p:cNvGraphicFramePr>
          <p:nvPr/>
        </p:nvGraphicFramePr>
        <p:xfrm>
          <a:off x="8915400" y="1783080"/>
          <a:ext cx="2724912" cy="2011680"/>
        </p:xfrm>
        <a:graphic>
          <a:graphicData uri="http://schemas.openxmlformats.org/drawingml/2006/table">
            <a:tbl>
              <a:tblPr firstRow="0" bandRow="0">
                <a:tableStyleId>{5940675A-B579-460E-94D1-54222C63F5DA}</a:tableStyleId>
              </a:tblPr>
              <a:tblGrid>
                <a:gridCol w="1737360"/>
                <a:gridCol w="987552"/>
              </a:tblGrid>
              <a:tr h="365760">
                <a:tc>
                  <a:txBody>
                    <a:bodyPr wrap="square"/>
                    <a:lstStyle/>
                    <a:p>
                      <a:pPr algn="l"/>
                      <a:r>
                        <a:rPr sz="1200" b="1">
                          <a:solidFill>
                            <a:srgbClr val="FFFFFF"/>
                          </a:solidFill>
                          <a:latin typeface="Arial"/>
                        </a:rPr>
                        <a:t>Concepto</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c>
                  <a:txBody>
                    <a:bodyPr wrap="square"/>
                    <a:lstStyle/>
                    <a:p>
                      <a:pPr algn="r"/>
                      <a:r>
                        <a:rPr sz="1200" b="1">
                          <a:solidFill>
                            <a:srgbClr val="FFFFFF"/>
                          </a:solidFill>
                          <a:latin typeface="Arial"/>
                        </a:rPr>
                        <a:t>HH</a:t>
                      </a:r>
                    </a:p>
                  </a:txBody>
                  <a:tcPr marL="73152" marR="73152" marT="27432" marB="27432" anchor="ctr">
                    <a:solidFill>
                      <a:srgbClr val="196197"/>
                    </a:solidFill>
                    <a:lnL w="0">
                      <a:noFill/>
                    </a:lnL>
                    <a:lnR w="0">
                      <a:noFill/>
                    </a:lnR>
                    <a:lnT w="9525">
                      <a:solidFill>
                        <a:srgbClr val="196197"/>
                      </a:solidFill>
                    </a:lnT>
                    <a:lnB w="9525">
                      <a:solidFill>
                        <a:srgbClr val="C9D2DB"/>
                      </a:solidFill>
                    </a:lnB>
                  </a:tcPr>
                </a:tc>
              </a:tr>
              <a:tr h="548640">
                <a:tc>
                  <a:txBody>
                    <a:bodyPr wrap="square"/>
                    <a:lstStyle/>
                    <a:p>
                      <a:pPr algn="l"/>
                      <a:r>
                        <a:rPr sz="1300" b="0">
                          <a:solidFill>
                            <a:srgbClr val="17324D"/>
                          </a:solidFill>
                          <a:latin typeface="Arial"/>
                        </a:rPr>
                        <a:t>Base planificada</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40.946</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0">
                          <a:solidFill>
                            <a:srgbClr val="17324D"/>
                          </a:solidFill>
                          <a:latin typeface="Arial"/>
                        </a:rPr>
                        <a:t>Valor esperado sin respuestas</a:t>
                      </a:r>
                    </a:p>
                  </a:txBody>
                  <a:tcPr marL="73152" marR="73152" marT="27432" marB="27432" anchor="ctr">
                    <a:solidFill>
                      <a:srgbClr val="FFFFFF"/>
                    </a:solidFill>
                    <a:lnL w="0">
                      <a:noFill/>
                    </a:lnL>
                    <a:lnR w="0">
                      <a:noFill/>
                    </a:lnR>
                    <a:lnT w="0">
                      <a:noFill/>
                    </a:lnT>
                    <a:lnB w="9525">
                      <a:solidFill>
                        <a:srgbClr val="C9D2DB"/>
                      </a:solidFill>
                    </a:lnB>
                  </a:tcPr>
                </a:tc>
                <a:tc>
                  <a:txBody>
                    <a:bodyPr wrap="square"/>
                    <a:lstStyle/>
                    <a:p>
                      <a:pPr algn="r"/>
                      <a:r>
                        <a:rPr sz="1300" b="0">
                          <a:solidFill>
                            <a:srgbClr val="17324D"/>
                          </a:solidFill>
                          <a:latin typeface="Arial"/>
                        </a:rPr>
                        <a:t>6.496</a:t>
                      </a:r>
                    </a:p>
                  </a:txBody>
                  <a:tcPr marL="73152" marR="73152" marT="27432" marB="27432" anchor="ctr">
                    <a:solidFill>
                      <a:srgbClr val="FFFFFF"/>
                    </a:solidFill>
                    <a:lnL w="0">
                      <a:noFill/>
                    </a:lnL>
                    <a:lnR w="0">
                      <a:noFill/>
                    </a:lnR>
                    <a:lnT w="0">
                      <a:noFill/>
                    </a:lnT>
                    <a:lnB w="9525">
                      <a:solidFill>
                        <a:srgbClr val="C9D2DB"/>
                      </a:solidFill>
                    </a:lnB>
                  </a:tcPr>
                </a:tc>
              </a:tr>
              <a:tr h="548640">
                <a:tc>
                  <a:txBody>
                    <a:bodyPr wrap="square"/>
                    <a:lstStyle/>
                    <a:p>
                      <a:pPr algn="l"/>
                      <a:r>
                        <a:rPr sz="1300" b="1">
                          <a:solidFill>
                            <a:srgbClr val="17324D"/>
                          </a:solidFill>
                          <a:latin typeface="Arial"/>
                        </a:rPr>
                        <a:t>Contingencia comprometida</a:t>
                      </a:r>
                    </a:p>
                  </a:txBody>
                  <a:tcPr marL="73152" marR="73152" marT="27432" marB="27432" anchor="ctr">
                    <a:solidFill>
                      <a:srgbClr val="FFFFFF"/>
                    </a:solidFill>
                    <a:lnL w="0">
                      <a:noFill/>
                    </a:lnL>
                    <a:lnR w="0">
                      <a:noFill/>
                    </a:lnR>
                    <a:lnT w="0">
                      <a:noFill/>
                    </a:lnT>
                    <a:lnB w="9525">
                      <a:solidFill>
                        <a:srgbClr val="196197"/>
                      </a:solidFill>
                    </a:lnB>
                  </a:tcPr>
                </a:tc>
                <a:tc>
                  <a:txBody>
                    <a:bodyPr wrap="square"/>
                    <a:lstStyle/>
                    <a:p>
                      <a:pPr algn="r"/>
                      <a:r>
                        <a:rPr sz="1300" b="1">
                          <a:solidFill>
                            <a:srgbClr val="17324D"/>
                          </a:solidFill>
                          <a:latin typeface="Arial"/>
                        </a:rPr>
                        <a:t>3.688</a:t>
                      </a:r>
                    </a:p>
                  </a:txBody>
                  <a:tcPr marL="73152" marR="73152" marT="27432" marB="27432" anchor="ctr">
                    <a:solidFill>
                      <a:srgbClr val="FFFFFF"/>
                    </a:solidFill>
                    <a:lnL w="0">
                      <a:noFill/>
                    </a:lnL>
                    <a:lnR w="0">
                      <a:noFill/>
                    </a:lnR>
                    <a:lnT w="0">
                      <a:noFill/>
                    </a:lnT>
                    <a:lnB w="9525">
                      <a:solidFill>
                        <a:srgbClr val="196197"/>
                      </a:solidFill>
                    </a:lnB>
                  </a:tcPr>
                </a:tc>
              </a:tr>
            </a:tbl>
          </a:graphicData>
        </a:graphic>
      </p:graphicFrame>
      <p:sp>
        <p:nvSpPr>
          <p:cNvPr id="13" name="TextBox 12"/>
          <p:cNvSpPr txBox="1"/>
          <p:nvPr/>
        </p:nvSpPr>
        <p:spPr>
          <a:xfrm>
            <a:off x="8915400" y="4160520"/>
            <a:ext cx="2727655" cy="1645920"/>
          </a:xfrm>
          <a:prstGeom prst="rect">
            <a:avLst/>
          </a:prstGeom>
          <a:noFill/>
        </p:spPr>
        <p:txBody>
          <a:bodyPr wrap="square" lIns="0" rIns="0" tIns="0" bIns="0" anchor="t">
            <a:spAutoFit/>
          </a:bodyPr>
          <a:lstStyle/>
          <a:p>
            <a:pPr algn="l"/>
            <a:r>
              <a:rPr sz="1200" b="0" i="0">
                <a:solidFill>
                  <a:srgbClr val="6B7A89"/>
                </a:solidFill>
                <a:latin typeface="Arial"/>
              </a:rPr>
              <a:t>La contingencia cubre el valor esperado residual de los 14 riesgos críticos y altos. Los riesgos no identificados se cubren con la reserva de gestión, que libera el Comité Ejecutivo.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61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lanco.png"/>
          <p:cNvPicPr>
            <a:picLocks noChangeAspect="1"/>
          </p:cNvPicPr>
          <p:nvPr/>
        </p:nvPicPr>
        <p:blipFill>
          <a:blip r:embed="rId2"/>
          <a:stretch>
            <a:fillRect/>
          </a:stretch>
        </p:blipFill>
        <p:spPr>
          <a:xfrm>
            <a:off x="4727448" y="2011680"/>
            <a:ext cx="2743200" cy="2743200"/>
          </a:xfrm>
          <a:prstGeom prst="rect">
            <a:avLst/>
          </a:prstGeom>
        </p:spPr>
      </p:pic>
      <p:sp>
        <p:nvSpPr>
          <p:cNvPr id="4" name="TextBox 3"/>
          <p:cNvSpPr txBox="1"/>
          <p:nvPr/>
        </p:nvSpPr>
        <p:spPr>
          <a:xfrm>
            <a:off x="0" y="4480560"/>
            <a:ext cx="12191695" cy="548640"/>
          </a:xfrm>
          <a:prstGeom prst="rect">
            <a:avLst/>
          </a:prstGeom>
          <a:noFill/>
        </p:spPr>
        <p:txBody>
          <a:bodyPr wrap="square" lIns="0" rIns="0" tIns="0" bIns="0" anchor="t">
            <a:spAutoFit/>
          </a:bodyPr>
          <a:lstStyle/>
          <a:p>
            <a:pPr algn="ctr"/>
            <a:r>
              <a:rPr sz="2800" b="1" i="0">
                <a:solidFill>
                  <a:srgbClr val="FFFFFF"/>
                </a:solidFill>
                <a:latin typeface="Arial"/>
              </a:rPr>
              <a:t>Preguntas</a:t>
            </a:r>
          </a:p>
        </p:txBody>
      </p:sp>
      <p:sp>
        <p:nvSpPr>
          <p:cNvPr id="5" name="TextBox 4"/>
          <p:cNvSpPr txBox="1"/>
          <p:nvPr/>
        </p:nvSpPr>
        <p:spPr>
          <a:xfrm>
            <a:off x="0" y="5029200"/>
            <a:ext cx="12191695" cy="365760"/>
          </a:xfrm>
          <a:prstGeom prst="rect">
            <a:avLst/>
          </a:prstGeom>
          <a:noFill/>
        </p:spPr>
        <p:txBody>
          <a:bodyPr wrap="square" lIns="0" rIns="0" tIns="0" bIns="0" anchor="t">
            <a:spAutoFit/>
          </a:bodyPr>
          <a:lstStyle/>
          <a:p>
            <a:pPr algn="ctr"/>
            <a:r>
              <a:rPr sz="1400" b="0" i="0">
                <a:solidFill>
                  <a:srgbClr val="FFFFFF"/>
                </a:solidFill>
                <a:latin typeface="Arial"/>
              </a:rPr>
              <a:t>Only Simple Solutions · Licitación TFEP-01/2026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